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119a685ae1f4d11" /><Relationship Type="http://schemas.openxmlformats.org/officeDocument/2006/relationships/extended-properties" Target="/docProps/app.xml" Id="R4d208195ab864491" /><Relationship Type="http://schemas.openxmlformats.org/officeDocument/2006/relationships/officeDocument" Target="/ppt/presentation.xml" Id="R04f4d577a0b44b12" /></Relationships>
</file>

<file path=ppt/presentation.xml><?xml version="1.0" encoding="utf-8"?>
<p:presentation xmlns:p="http://schemas.openxmlformats.org/presentationml/2006/main">
  <p:sldMasterIdLst>
    <p:sldMasterId xmlns:r="http://schemas.openxmlformats.org/officeDocument/2006/relationships" id="2147483648" r:id="R898c62ee03db4124"/>
  </p:sldMasterIdLst>
  <p:notesMasterIdLst>
    <p:notesMasterId xmlns:r="http://schemas.openxmlformats.org/officeDocument/2006/relationships" r:id="R06616bc414d54a67"/>
  </p:notesMasterIdLst>
  <p:sldIdLst>
    <p:sldId xmlns:r="http://schemas.openxmlformats.org/officeDocument/2006/relationships" id="256" r:id="R6ebc9f0dc46840b5"/>
    <p:sldId xmlns:r="http://schemas.openxmlformats.org/officeDocument/2006/relationships" id="257" r:id="R37a3b4fc1f8844e2"/>
    <p:sldId xmlns:r="http://schemas.openxmlformats.org/officeDocument/2006/relationships" id="258" r:id="R608905b2c0e84689"/>
    <p:sldId xmlns:r="http://schemas.openxmlformats.org/officeDocument/2006/relationships" id="259" r:id="Ra2d4bc554d784b17"/>
    <p:sldId xmlns:r="http://schemas.openxmlformats.org/officeDocument/2006/relationships" id="260" r:id="R109d1f49e51c41d6"/>
    <p:sldId xmlns:r="http://schemas.openxmlformats.org/officeDocument/2006/relationships" id="261" r:id="R3887c3459ccd4e5a"/>
    <p:sldId xmlns:r="http://schemas.openxmlformats.org/officeDocument/2006/relationships" id="262" r:id="R26fe58c75e8c40f2"/>
    <p:sldId xmlns:r="http://schemas.openxmlformats.org/officeDocument/2006/relationships" id="263" r:id="R179d771b1c1144a2"/>
    <p:sldId xmlns:r="http://schemas.openxmlformats.org/officeDocument/2006/relationships" id="264" r:id="Rb1955164bc2b4f19"/>
    <p:sldId xmlns:r="http://schemas.openxmlformats.org/officeDocument/2006/relationships" id="265" r:id="R7e56823ded354b08"/>
    <p:sldId xmlns:r="http://schemas.openxmlformats.org/officeDocument/2006/relationships" id="266" r:id="R9720e5e67f824987"/>
    <p:sldId xmlns:r="http://schemas.openxmlformats.org/officeDocument/2006/relationships" id="267" r:id="R6843e2fc2f0f4857"/>
    <p:sldId xmlns:r="http://schemas.openxmlformats.org/officeDocument/2006/relationships" id="268" r:id="R26a99b4277c54490"/>
    <p:sldId xmlns:r="http://schemas.openxmlformats.org/officeDocument/2006/relationships" id="269" r:id="R1c2c859eec874dee"/>
    <p:sldId xmlns:r="http://schemas.openxmlformats.org/officeDocument/2006/relationships" id="270" r:id="R808076c876f64fe4"/>
    <p:sldId xmlns:r="http://schemas.openxmlformats.org/officeDocument/2006/relationships" id="271" r:id="Re3d64427b14540e1"/>
    <p:sldId xmlns:r="http://schemas.openxmlformats.org/officeDocument/2006/relationships" id="272" r:id="R92d4e33511ab407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be380c02fdcb42f4" /><Relationship Type="http://schemas.openxmlformats.org/officeDocument/2006/relationships/slideMaster" Target="/ppt/slideMasters/slideMaster1.xml" Id="R898c62ee03db4124" /><Relationship Type="http://schemas.openxmlformats.org/officeDocument/2006/relationships/notesMaster" Target="/ppt/notesMasters/notesMaster1.xml" Id="R06616bc414d54a67" /><Relationship Type="http://schemas.openxmlformats.org/officeDocument/2006/relationships/presProps" Target="/ppt/presProps.xml" Id="R518858b79deb4e88" /><Relationship Type="http://schemas.openxmlformats.org/officeDocument/2006/relationships/viewProps" Target="/ppt/viewProps.xml" Id="R649a434ec1df4a67" /><Relationship Type="http://schemas.openxmlformats.org/officeDocument/2006/relationships/tableStyles" Target="/ppt/tableStyles.xml" Id="Rab4e5407b19f4901" /><Relationship Type="http://schemas.openxmlformats.org/officeDocument/2006/relationships/slide" Target="/ppt/slides/slide1.xml" Id="R6ebc9f0dc46840b5" /><Relationship Type="http://schemas.openxmlformats.org/officeDocument/2006/relationships/slide" Target="/ppt/slides/slide2.xml" Id="R37a3b4fc1f8844e2" /><Relationship Type="http://schemas.openxmlformats.org/officeDocument/2006/relationships/slide" Target="/ppt/slides/slide3.xml" Id="R608905b2c0e84689" /><Relationship Type="http://schemas.openxmlformats.org/officeDocument/2006/relationships/slide" Target="/ppt/slides/slide4.xml" Id="Ra2d4bc554d784b17" /><Relationship Type="http://schemas.openxmlformats.org/officeDocument/2006/relationships/slide" Target="/ppt/slides/slide5.xml" Id="R109d1f49e51c41d6" /><Relationship Type="http://schemas.openxmlformats.org/officeDocument/2006/relationships/slide" Target="/ppt/slides/slide6.xml" Id="R3887c3459ccd4e5a" /><Relationship Type="http://schemas.openxmlformats.org/officeDocument/2006/relationships/slide" Target="/ppt/slides/slide7.xml" Id="R26fe58c75e8c40f2" /><Relationship Type="http://schemas.openxmlformats.org/officeDocument/2006/relationships/slide" Target="/ppt/slides/slide8.xml" Id="R179d771b1c1144a2" /><Relationship Type="http://schemas.openxmlformats.org/officeDocument/2006/relationships/slide" Target="/ppt/slides/slide9.xml" Id="Rb1955164bc2b4f19" /><Relationship Type="http://schemas.openxmlformats.org/officeDocument/2006/relationships/slide" Target="/ppt/slides/slide10.xml" Id="R7e56823ded354b08" /><Relationship Type="http://schemas.openxmlformats.org/officeDocument/2006/relationships/slide" Target="/ppt/slides/slide11.xml" Id="R9720e5e67f824987" /><Relationship Type="http://schemas.openxmlformats.org/officeDocument/2006/relationships/slide" Target="/ppt/slides/slide12.xml" Id="R6843e2fc2f0f4857" /><Relationship Type="http://schemas.openxmlformats.org/officeDocument/2006/relationships/slide" Target="/ppt/slides/slide13.xml" Id="R26a99b4277c54490" /><Relationship Type="http://schemas.openxmlformats.org/officeDocument/2006/relationships/slide" Target="/ppt/slides/slide14.xml" Id="R1c2c859eec874dee" /><Relationship Type="http://schemas.openxmlformats.org/officeDocument/2006/relationships/slide" Target="/ppt/slides/slide15.xml" Id="R808076c876f64fe4" /><Relationship Type="http://schemas.openxmlformats.org/officeDocument/2006/relationships/slide" Target="/ppt/slides/slide16.xml" Id="Re3d64427b14540e1" /><Relationship Type="http://schemas.openxmlformats.org/officeDocument/2006/relationships/slide" Target="/ppt/slides/slide17.xml" Id="R92d4e33511ab40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3b1dc3600d9473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eec1a8b3304500" /><Relationship Type="http://schemas.openxmlformats.org/officeDocument/2006/relationships/notesMaster" Target="/ppt/notesMasters/notesMaster1.xml" Id="Ra709326155a24b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6aaaca27b6c94df8" /><Relationship Type="http://schemas.openxmlformats.org/officeDocument/2006/relationships/notesMaster" Target="/ppt/notesMasters/notesMaster1.xml" Id="Rc6f636d140e3423e" /></Relationships>
</file>

<file path=ppt/notesSlides/_rels/notesSlide3.xml.rels>&#65279;<?xml version="1.0" encoding="utf-8"?><Relationships xmlns="http://schemas.openxmlformats.org/package/2006/relationships"><Relationship Type="http://schemas.openxmlformats.org/officeDocument/2006/relationships/slide" Target="/ppt/slides/slide3.xml" Id="R7c9559422a2b4f73" /><Relationship Type="http://schemas.openxmlformats.org/officeDocument/2006/relationships/notesMaster" Target="/ppt/notesMasters/notesMaster1.xml" Id="Rba35e1e3827947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48a5bbb528634212" /><Relationship Type="http://schemas.openxmlformats.org/officeDocument/2006/relationships/notesMaster" Target="/ppt/notesMasters/notesMaster1.xml" Id="Rc08571e40a6245cd" /></Relationships>
</file>

<file path=ppt/notesSlides/_rels/notesSlide5.xml.rels>&#65279;<?xml version="1.0" encoding="utf-8"?><Relationships xmlns="http://schemas.openxmlformats.org/package/2006/relationships"><Relationship Type="http://schemas.openxmlformats.org/officeDocument/2006/relationships/slide" Target="/ppt/slides/slide5.xml" Id="R6412a8a2e27d4c14" /><Relationship Type="http://schemas.openxmlformats.org/officeDocument/2006/relationships/notesMaster" Target="/ppt/notesMasters/notesMaster1.xml" Id="R0c340e0a04bf4a3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db4d18a5d8c48a6" /><Relationship Type="http://schemas.openxmlformats.org/officeDocument/2006/relationships/notesMaster" Target="/ppt/notesMasters/notesMaster1.xml" Id="R48647f80d78a4c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ab6b36cbd1cf446f" /><Relationship Type="http://schemas.openxmlformats.org/officeDocument/2006/relationships/notesMaster" Target="/ppt/notesMasters/notesMaster1.xml" Id="R245d8020065f4b0b" /></Relationships>
</file>

<file path=ppt/notesSlides/_rels/notesSlide8.xml.rels>&#65279;<?xml version="1.0" encoding="utf-8"?><Relationships xmlns="http://schemas.openxmlformats.org/package/2006/relationships"><Relationship Type="http://schemas.openxmlformats.org/officeDocument/2006/relationships/slide" Target="/ppt/slides/slide8.xml" Id="R4a407912d62c41f3" /><Relationship Type="http://schemas.openxmlformats.org/officeDocument/2006/relationships/notesMaster" Target="/ppt/notesMasters/notesMaster1.xml" Id="R4235b6dc02424fd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a49e5029e754821" /><Relationship Type="http://schemas.openxmlformats.org/officeDocument/2006/relationships/notesMaster" Target="/ppt/notesMasters/notesMaster1.xml" Id="R5141e1df77e445d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bb1cd3d958e4b4d" /><Relationship Type="http://schemas.openxmlformats.org/officeDocument/2006/relationships/notesMaster" Target="/ppt/notesMasters/notesMaster1.xml" Id="Rb162c6baa4994b2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bbc551209294b64" /><Relationship Type="http://schemas.openxmlformats.org/officeDocument/2006/relationships/notesMaster" Target="/ppt/notesMasters/notesMaster1.xml" Id="Rb5119ba7e49c4eb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9ab42c9ba80462e" /><Relationship Type="http://schemas.openxmlformats.org/officeDocument/2006/relationships/notesMaster" Target="/ppt/notesMasters/notesMaster1.xml" Id="R63bf60bbc7c5424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8a8fc9210994a0a" /><Relationship Type="http://schemas.openxmlformats.org/officeDocument/2006/relationships/notesMaster" Target="/ppt/notesMasters/notesMaster1.xml" Id="R29760282e937476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28ece3e80004e5d" /><Relationship Type="http://schemas.openxmlformats.org/officeDocument/2006/relationships/notesMaster" Target="/ppt/notesMasters/notesMaster1.xml" Id="Re090e3109e7c448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740e8da1e764c6a" /><Relationship Type="http://schemas.openxmlformats.org/officeDocument/2006/relationships/notesMaster" Target="/ppt/notesMasters/notesMaster1.xml" Id="R64068acfce19433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4a553e236814599" /><Relationship Type="http://schemas.openxmlformats.org/officeDocument/2006/relationships/notesMaster" Target="/ppt/notesMasters/notesMaster1.xml" Id="Rb2f3ca0830e4419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819493fbd2c4b07" /><Relationship Type="http://schemas.openxmlformats.org/officeDocument/2006/relationships/notesMaster" Target="/ppt/notesMasters/notesMaster1.xml" Id="R6faa0d14e73c4a8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review presents the final evidence-closure state of the project. The central contribution is an auditable human-in-the-loop migration workflow: original MATLAB behaviour is separated from LLM generation, human repair, and numerical validation. CT07 demonstrates candidate lineage, Legacy Top-1 supplies a complete T01 three-language baseline, Adaptive/Top-3 extends the numerical comparison across T01–T09, and the DTA reader supplies bounded steel-related file-workflow applicability. Scientific claims remain narrower than numerical agreement.</a:t>
            </a:r>
          </a:p>
          <a:p xmlns:a="http://schemas.openxmlformats.org/drawingml/2006/main">
            <a:r>
              <a:t/>
            </a:r>
          </a:p>
          <a:p xmlns:a="http://schemas.openxmlformats.org/drawingml/2006/main">
            <a:r>
              <a:t>[Sources]</a:t>
            </a:r>
          </a:p>
          <a:p xmlns:a="http://schemas.openxmlformats.org/drawingml/2006/main">
            <a:r>
              <a:t>- Individual Project/README.md</a:t>
            </a:r>
          </a:p>
          <a:p xmlns:a="http://schemas.openxmlformats.org/drawingml/2006/main">
            <a:r>
              <a:t>- Individual Project/CT07-PeakFreq-Validation/README.md</a:t>
            </a:r>
          </a:p>
          <a:p xmlns:a="http://schemas.openxmlformats.org/drawingml/2006/main">
            <a:r>
              <a:t>- Individual Project/MistrasDTAJulia/README.md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motivation for this project comes from a common problem in scientific computing. A useful analysis workflow exists, but it is tied to a legacy MATLAB implementation. Moving it to Python or Julia could improve openness, reproducibility, and long-term maintainability. However, a translated script can run and produce plausible plots while still being scientifically wrong. Small differences in indexing, window framing, missing-data handling, or library semantics can change the selected events without generating an obvious error. Therefore, the real research problem is reliable migration. The new implementation must preserve the numerical behaviour of the original, document assumptions, and leave an auditable trail. This is especially important for structural-health monitoring, where a silent computational difference may later affect physical interpretation. This framing leads directly to the research questions on the next slide.该项目的动机源自科学计算中常见的问题。存在一个有用的分析工作流程，但它依赖于遗留的MATLAB实现。迁移到Python或Julia可以提升开放性、可重复性和长期维护性。然而，翻译剧本可以运行并产生合理的情节，同时在科学上仍然错误。索引、窗口框架、缺失数据处理或库语义上的细微差别，可以改变所选事件而不会产生明显错误。因此，真正的研究难题是可靠的迁移。新实现必须保留原始的数值行为，记录假设，并留下可审计的痕迹。这对于结构健康监测尤为重要，因为无声的计算差异可能影响物理解读。这种框架直接引出下一张幻灯片中的研究问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have organised the project around four questions. First, can current language models create usable Python and Julia versions of the legacy MATLAB workflow? Second, can those versions be validated at numerical level rather than judged only by visual similarity? Third, when translation fails, can we identify whether the cause is the model, the target language, the data schema, or a hidden MATLAB behaviour? Finally, after exact equivalence is established, can the open implementation support a controlled extension without losing the validated baseline? These questions separate code-generation performance from scientific reliability. They also make the evaluation criteria explicit: readability alone is insufficient, while reproducibility and numerical agreement are essential. This explains why the project moved from broad CT07 translation experiments to a much more focused event-level validation case.我围绕四个问题组织了这个项目。首先，现有的语言模型能否创建可用的Python和Julia版本的遗留MATLAB工作流程？其次，这些版本能否在数字层面进行验证，而不仅仅是通过视觉相似度来判断？第三，当翻译失败时，我们能否确定原因是模型、目标语言、数据模式，还是隐藏的MATLAB行为？最后，在确立精确等价性后，开放实现能否支持受控扩展而不丢失已验证的基线？这些问题将代码生成性能与科学可靠性区分开来。他们还明确了评估标准：仅凭可读性是不够的，而可重复性和数值一致性是必不可少的。这也解释了为什么该项目从广泛的CT07翻译实验转向更聚焦于事件级验证的案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methodology follows five stages. I first deconstruct the MATLAB workflow and identify its data flow and assumptions. I then use structured prompts to produce Python and Julia implementations and retain the prompts, responses, and debugging history. The critical third stage is verification: the new languages are compared against exported MATLAB results at event-row level. Only after that gate is passed do I introduce an extension, in this case an adaptive threshold and exploratory Top-3 frequency ranking. The final stage evaluates what the extension changes and, equally importantly, what it does not prove. This sequence creates a traceable chain from legacy behaviour to each later result. It prevents a common error: mixing translation differences with algorithm changes and then being unable to explain the result.该方法论分为五个阶段。我首先拆解MATLAB的工作流，识别其数据流和假设。然后我用结构化提示词生成Python和Julia的实现，并保留提示、响应和调试历史。关键的第三阶段是验证：将新语言与导出的MATLAB结果在事件行层面进行比较。只有在通过该门槛后，我才会引入扩展，在这里是自适应阈值和探索性的前三频率排名。最后阶段评估扩展改变了什么，以及同样重要的是，它不能证明什么。该序列创建了从遗留行为到每个后续结果的可追溯链。它避免了常见错误：将翻译差异与算法变化混淆，导致无法解释结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CT07 now has three distinct evidence layers: original generation, fixture-normalized probe, and candidate-derived validation runner. The plots on this and the next two slides belong to the final runner layer. Eight candidate-derived runners reproduce the MATLAB oracle, but that does not mean the unmodified model responses executed successfully or required only minimal repair. SMOP remains a separate deterministic baseline.</a:t>
            </a:r>
          </a:p>
          <a:p xmlns:a="http://schemas.openxmlformats.org/drawingml/2006/main">
            <a:r>
              <a:t/>
            </a:r>
          </a:p>
          <a:p xmlns:a="http://schemas.openxmlformats.org/drawingml/2006/main">
            <a:r>
              <a:t>[Sources]</a:t>
            </a:r>
          </a:p>
          <a:p xmlns:a="http://schemas.openxmlformats.org/drawingml/2006/main">
            <a:r>
              <a:t>- Individual Project/CT07-PeakFreq-Validation/results/ct07/llm-validation/comparison_summary.json</a:t>
            </a:r>
          </a:p>
          <a:p xmlns:a="http://schemas.openxmlformats.org/drawingml/2006/main">
            <a:r>
              <a:t>- Individual Project/CT07-PeakFreq-Validation/results/ct07/llm-validation/experiment_record.md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five Python figures are outputs of a candidate-derived validation runner, not an unmodified raw LLM response. The validated runner produces 1,807 mechanical records, 5,850 AE records, and five decodable PNGs matching the MATLAB oracle within the fixed tolerance. The generation, normalization, and final runner remain separately hashed.</a:t>
            </a:r>
          </a:p>
          <a:p xmlns:a="http://schemas.openxmlformats.org/drawingml/2006/main">
            <a:r>
              <a:t/>
            </a:r>
          </a:p>
          <a:p xmlns:a="http://schemas.openxmlformats.org/drawingml/2006/main">
            <a:r>
              <a:t>[Sources]</a:t>
            </a:r>
          </a:p>
          <a:p xmlns:a="http://schemas.openxmlformats.org/drawingml/2006/main">
            <a:r>
              <a:t>- Individual Project/CT07-PeakFreq-Validation/results/ct07/llm-validation/comparison_summary.json</a:t>
            </a:r>
          </a:p>
          <a:p xmlns:a="http://schemas.openxmlformats.org/drawingml/2006/main">
            <a:r>
              <a:t>- Individual Project/CT07-PeakFreq-Validation/results/ct07/llm-validation/experiment_record.md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Julia figures likewise come from a candidate-derived validation runner. They demonstrate the final runner's output, not direct success of the original generation. The inherited T09 label in one RMS plot is recorded as a MATLAB-source issue; it is not treated as a numerical mismatch.</a:t>
            </a:r>
          </a:p>
          <a:p xmlns:a="http://schemas.openxmlformats.org/drawingml/2006/main">
            <a:r>
              <a:t/>
            </a:r>
          </a:p>
          <a:p xmlns:a="http://schemas.openxmlformats.org/drawingml/2006/main">
            <a:r>
              <a:t>[Sources]</a:t>
            </a:r>
          </a:p>
          <a:p xmlns:a="http://schemas.openxmlformats.org/drawingml/2006/main">
            <a:r>
              <a:t>- Individual Project/CT07-PeakFreq-Validation/results/ct07/llm-validation/comparison_summary.json</a:t>
            </a:r>
          </a:p>
          <a:p xmlns:a="http://schemas.openxmlformats.org/drawingml/2006/main">
            <a:r>
              <a:t>- Individual Project/CT07-PeakFreq-Validation/results/ct07/llm-validation/experiment_record.md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most important CT07 lesson was that the workbook is not one rectangular scientific table. The mechanical variables occupy one domain and the acoustic-emission variables occupy another, with different valid row ranges. A global missing-value operation can therefore remove legitimate data or create false alignment. Several generated scripts also interpreted header rows, units, and numeric columns differently. This explains why a plot can look reasonable even when the data selection is wrong. The practical response was to inspect the schema explicitly and use validated CSV intermediates where necessary. This is not merely an engineering detail: in scientific migration, the data contract is part of the algorithm. It also provides a concrete example of an LLM failure that is plausible rather than syntactically obvious. To obtain a stronger numerical test, I therefore selected a workflow with simpler inputs and exact event-level outputs. CT07最重要的课程是，练习册不是一张矩形的科学表格。机械变量占据一个域，声发射变量占据另一个域，有效行范围不同。因此，全局缺失值操作可能会删除合法数据或造成错误对齐。多个生成脚本还对头行、单位和数字列进行了不同的解释。这也解释了为什么即使数据选择错误，图看起来依然合理。实际做法是明确检查模式，并在必要时使用经过验证的CSV中间体。这不仅仅是工程细节：在科学迁移中，数据合同是算法的一部分。它还提供了一个合理的大型语言模型失败实例，而非语法上显而易见的。为了获得更强的数值检验，我选择了输入更简单、事件级输出更精确的工作流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CT07 and Peak_Freq remain separate workflows. A nine-by-nine data-driven mapping exercise was completed, but the identity assignment was not globally optimal and every candidate group remained unresolved. Therefore, the project reports no validated specimen mapping and no load, stress, yield, post-peak, or crack-stage interpretation for waveform events.</a:t>
            </a:r>
          </a:p>
          <a:p xmlns:a="http://schemas.openxmlformats.org/drawingml/2006/main">
            <a:r>
              <a:t/>
            </a:r>
          </a:p>
          <a:p xmlns:a="http://schemas.openxmlformats.org/drawingml/2006/main">
            <a:r>
              <a:t>[Sources]</a:t>
            </a:r>
          </a:p>
          <a:p xmlns:a="http://schemas.openxmlformats.org/drawingml/2006/main">
            <a:r>
              <a:t>- Individual Project/CT07-PeakFreq-Validation/results/scientific/alignment_summary.json</a:t>
            </a:r>
          </a:p>
          <a:p xmlns:a="http://schemas.openxmlformats.org/drawingml/2006/main">
            <a:r>
              <a:t>- Individual Project/CT07-PeakFreq-Validation/results/scientific/Scientific Interpretation 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legacy algorithm uses a one-megahertz sampling rate, two-hundred-sample windows, a fixed RMS threshold of zero-point-one, and the strongest valid FFT peak. These parameters were straightforward to identify. The difficult part was reproducing MATLAB's framing semantics. The original combination of moving RMS and buffer operations starts with a zero-padded frame whose indices correspond to zero followed by samples one through one-hundred-and-ninety-nine. The final padded column is then discarded. A conventional Python or Julia window loop begins at a different position, producing a persistent event-index offset even when the frequencies look similar. Once both implementations reproduced the MATLAB framing exactly, the row structure aligned. This shows why library-level semantics must be tested rather than inferred from documentation alone. It was the decisive root-cause correction behind the validation result.遗留算法采用一兆赫采样率、两百个采样窗口、固定的有效值阈值零点一，以及最强的有效FFT峰值。这些参数很容易识别。难点在于重现MATLAB的框架语义。最初移动RMS和缓冲操作的组合从一个零填充帧开始，其索引对应于零，随后是样本1到199。最后一列填充的列则被丢弃。传统的Python或Julia窗口循环从不同位置开始，即使频率相似，也会产生持续的事件索引偏移。一旦两个实现完全重现了MATLAB的帧，行结构就对齐了。这说明了为什么库级语义必须被测试，而非仅凭文档推断。这是验证结果背后的决定性根本原因纠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restricted to the Legacy Top-1 validation scope: the complete T01 dataset. MATLAB, Python, and Julia each produce 3,098 rows; event indices, times, and frequencies match, and the maximum peak-magnitude error is approximately 5.68 × 10⁻¹³. This result must not be generalized as a Legacy three-language validation of T02–T09.</a:t>
            </a:r>
          </a:p>
          <a:p xmlns:a="http://schemas.openxmlformats.org/drawingml/2006/main">
            <a:r>
              <a:t/>
            </a:r>
          </a:p>
          <a:p xmlns:a="http://schemas.openxmlformats.org/drawingml/2006/main">
            <a:r>
              <a:t>[Sources]</a:t>
            </a:r>
          </a:p>
          <a:p xmlns:a="http://schemas.openxmlformats.org/drawingml/2006/main">
            <a:r>
              <a:t>- Individual Project/CT07-PeakFreq-Validation/results/peak-frequency/legacy-t01-three-language/legacy-regression-current/comparison_summary.json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Adaptive threshold changes event selection while retaining the validated framing and FFT baseline. Top-3 is retained after the pre-specified follow-on decision rule, but only as a secondary descriptive spectral extension. It is not evidence of damage classification, crack type, or improved detection accuracy.</a:t>
            </a:r>
          </a:p>
          <a:p xmlns:a="http://schemas.openxmlformats.org/drawingml/2006/main">
            <a:r>
              <a:t/>
            </a:r>
          </a:p>
          <a:p xmlns:a="http://schemas.openxmlformats.org/drawingml/2006/main">
            <a:r>
              <a:t>[Sources]</a:t>
            </a:r>
          </a:p>
          <a:p xmlns:a="http://schemas.openxmlformats.org/drawingml/2006/main">
            <a:r>
              <a:t>- Individual Project/CT07-PeakFreq-Validation/results/peak-frequency/adaptive-three-language/experiment_record.md</a:t>
            </a:r>
          </a:p>
          <a:p xmlns:a="http://schemas.openxmlformats.org/drawingml/2006/main">
            <a:r>
              <a:t>- Individual Project/CT07-PeakFreq-Validation/results/scientific/top3_value_summary.json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Legacy and Adaptive use different framing counts and must be reported separately. The MATLAB Legacy context contains 11,366,550 logical frames across T01–T09. The three-language Adaptive/Top-3 validation contains 9,472,125 complete windows across the same 377 MAT files. The 11.37 million Legacy denominator is not used to calculate the Adaptive selection rate.</a:t>
            </a:r>
          </a:p>
          <a:p xmlns:a="http://schemas.openxmlformats.org/drawingml/2006/main">
            <a:r>
              <a:t/>
            </a:r>
          </a:p>
          <a:p xmlns:a="http://schemas.openxmlformats.org/drawingml/2006/main">
            <a:r>
              <a:t>[Sources]</a:t>
            </a:r>
          </a:p>
          <a:p xmlns:a="http://schemas.openxmlformats.org/drawingml/2006/main">
            <a:r>
              <a:t>- Individual Project/CT07-PeakFreq-Validation/results/peak-frequency/adaptive-three-language/comparison_summary.json</a:t>
            </a:r>
          </a:p>
          <a:p xmlns:a="http://schemas.openxmlformats.org/drawingml/2006/main">
            <a:r>
              <a:t>- Individual Project/CT07-PeakFreq-Validation/results/peak-frequency/legacy-matlab-t01-t09/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Across T01–T09, Legacy selected 16,240 windows and Adaptive selected 522,216 events. The ratio 32.16× is a selected-count ratio, not an accuracy or common-denominator rate improvement. Adaptive produces 1,566,634 Top-3 rows; the fourteen-row shortfall from three rows per event is explained by two single-peak events and ten double-peak events.</a:t>
            </a:r>
          </a:p>
          <a:p xmlns:a="http://schemas.openxmlformats.org/drawingml/2006/main">
            <a:r>
              <a:t/>
            </a:r>
          </a:p>
          <a:p xmlns:a="http://schemas.openxmlformats.org/drawingml/2006/main">
            <a:r>
              <a:t>[Sources]</a:t>
            </a:r>
          </a:p>
          <a:p xmlns:a="http://schemas.openxmlformats.org/drawingml/2006/main">
            <a:r>
              <a:t>- Individual Project/CT07-PeakFreq-Validation/results/peak-frequency/adaptive-three-language/comparison_summary.json</a:t>
            </a:r>
          </a:p>
          <a:p xmlns:a="http://schemas.openxmlformats.org/drawingml/2006/main">
            <a:r>
              <a:t>- Individual Project/CT07-PeakFreq-Validation/results/scientific/top3_value_summary.json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deterministic class-hidden morphology screen was completed for 413 fixed samples. Event class was hidden from the deterministic rubric, but this was not an expert manual blind review and the labels are not damage ground truth. All nine waveform-to-CT mappings remain unresolved, so no mechanical stages are assigned. Top-3 remains secondary descriptive spectral information.</a:t>
            </a:r>
          </a:p>
          <a:p xmlns:a="http://schemas.openxmlformats.org/drawingml/2006/main">
            <a:r>
              <a:t/>
            </a:r>
          </a:p>
          <a:p xmlns:a="http://schemas.openxmlformats.org/drawingml/2006/main">
            <a:r>
              <a:t>[Sources]</a:t>
            </a:r>
          </a:p>
          <a:p xmlns:a="http://schemas.openxmlformats.org/drawingml/2006/main">
            <a:r>
              <a:t>- Individual Project/CT07-PeakFreq-Validation/results/scientific/Scientific Interpretation Report.md</a:t>
            </a:r>
          </a:p>
          <a:p xmlns:a="http://schemas.openxmlformats.org/drawingml/2006/main">
            <a:r>
              <a:t>- Individual Project/CT07-PeakFreq-Validation/results/scientific/alignment_summary.json</a:t>
            </a:r>
          </a:p>
          <a:p xmlns:a="http://schemas.openxmlformats.org/drawingml/2006/main">
            <a:r>
              <a:t>- Individual Project/CT07-PeakFreq-Validation/results/scientific/top3_value_summary.json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DTA case is the bounded steel-related applicability demonstration. The final Julia reader parses eight hits and eight waveforms from the public AEWin/Mistras fixture, passes 56 of 56 Julia tests, and matches the exported Python oracle with symmetric missing and extra counts of zero. The Python fixture is the sole numerical oracle. This does not validate rail-steel crack detection or complete DTA/WFS compatibility.</a:t>
            </a:r>
          </a:p>
          <a:p xmlns:a="http://schemas.openxmlformats.org/drawingml/2006/main">
            <a:r>
              <a:t/>
            </a:r>
          </a:p>
          <a:p xmlns:a="http://schemas.openxmlformats.org/drawingml/2006/main">
            <a:r>
              <a:t>[Sources]</a:t>
            </a:r>
          </a:p>
          <a:p xmlns:a="http://schemas.openxmlformats.org/drawingml/2006/main">
            <a:r>
              <a:t>- Individual Project/MistrasDTAJulia/results/comparison_summary.toml</a:t>
            </a:r>
          </a:p>
          <a:p xmlns:a="http://schemas.openxmlformats.org/drawingml/2006/main">
            <a:r>
              <a:t>- Individual Project/MistrasDTAJulia/results/final_validation.md</a:t>
            </a:r>
          </a:p>
          <a:p xmlns:a="http://schemas.openxmlformats.org/drawingml/2006/main">
            <a:r>
              <a:t>- Individual Project/MistrasDTAJulia/MANIFEST.sha256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project-level documentation cleanup and formal validation rehearsal are now complete. Canonical references and stale claim wording have been closed, formal verification passes, and the evidence hashes are frozen. The remaining core task is thesis integration: write the methods, results, limitations, and defensible conclusion. WFS and R260 remain optional appendix material. No new event detector, classifier, or time-mapping claim is required before drafting.</a:t>
            </a:r>
          </a:p>
          <a:p xmlns:a="http://schemas.openxmlformats.org/drawingml/2006/main">
            <a:r>
              <a:t/>
            </a:r>
          </a:p>
          <a:p xmlns:a="http://schemas.openxmlformats.org/drawingml/2006/main">
            <a:r>
              <a:t>[Sources]</a:t>
            </a:r>
          </a:p>
          <a:p xmlns:a="http://schemas.openxmlformats.org/drawingml/2006/main">
            <a:r>
              <a:t>- Individual Project/README.md</a:t>
            </a:r>
          </a:p>
          <a:p xmlns:a="http://schemas.openxmlformats.org/drawingml/2006/main">
            <a:r>
              <a:t>- Individual Project/CT07-PeakFreq-Validation/README.md</a:t>
            </a:r>
          </a:p>
          <a:p xmlns:a="http://schemas.openxmlformats.org/drawingml/2006/main">
            <a:r>
              <a:t>- Individual Project/CT07-PeakFreq-Validation/manifests/manifest_metadata.json</a:t>
            </a:r>
          </a:p>
          <a:p xmlns:a="http://schemas.openxmlformats.org/drawingml/2006/main">
            <a:r>
              <a:t>- Individual Project/MistrasDTAJulia/MANIFEST.sha256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cf042deffd14b6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e9292de569e4e28" /><Relationship Type="http://schemas.openxmlformats.org/officeDocument/2006/relationships/slideLayout" Target="/ppt/slideLayouts/slideLayout1.xml" Id="R9007b38b678f46e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007b38b678f46e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8b09257b7ad47ab" /><Relationship Type="http://schemas.openxmlformats.org/officeDocument/2006/relationships/notesSlide" Target="/ppt/notesSlides/notesSlide1.xml" Id="R2519be714930478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39f07cd05a34541" /><Relationship Type="http://schemas.openxmlformats.org/officeDocument/2006/relationships/notesSlide" Target="/ppt/notesSlides/notesSlide2.xml" Id="R9ed008e2ac504c1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1139c61e1b6466c" /><Relationship Type="http://schemas.openxmlformats.org/officeDocument/2006/relationships/notesSlide" Target="/ppt/notesSlides/notesSlide3.xml" Id="Rb8c5fa0fdb6042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df2930494cb4f05" /><Relationship Type="http://schemas.openxmlformats.org/officeDocument/2006/relationships/notesSlide" Target="/ppt/notesSlides/notesSlide4.xml" Id="R12aeaf7a60924f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f5f6a6df86d4682" /><Relationship Type="http://schemas.openxmlformats.org/officeDocument/2006/relationships/image" Target="/ppt/media/image.png" Id="R04e2f41d7eb14189" /><Relationship Type="http://schemas.openxmlformats.org/officeDocument/2006/relationships/notesSlide" Target="/ppt/notesSlides/notesSlide5.xml" Id="R49c43710a2e9498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5682e9518884c6f" /><Relationship Type="http://schemas.openxmlformats.org/officeDocument/2006/relationships/image" Target="/ppt/media/image2.png" Id="Re86c80abb1f14670" /><Relationship Type="http://schemas.openxmlformats.org/officeDocument/2006/relationships/image" Target="/ppt/media/image3.png" Id="R82b9b654887144da" /><Relationship Type="http://schemas.openxmlformats.org/officeDocument/2006/relationships/image" Target="/ppt/media/image4.png" Id="R57bb9af25ba14091" /><Relationship Type="http://schemas.openxmlformats.org/officeDocument/2006/relationships/image" Target="/ppt/media/image5.png" Id="Red71667c616e4886" /><Relationship Type="http://schemas.openxmlformats.org/officeDocument/2006/relationships/image" Target="/ppt/media/image6.png" Id="R0bf0091c7e4f402c" /><Relationship Type="http://schemas.openxmlformats.org/officeDocument/2006/relationships/image" Target="/ppt/media/image7.png" Id="R7e9c95e0e710454b" /><Relationship Type="http://schemas.openxmlformats.org/officeDocument/2006/relationships/notesSlide" Target="/ppt/notesSlides/notesSlide6.xml" Id="R999615357b09470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e870fc2df3647db" /><Relationship Type="http://schemas.openxmlformats.org/officeDocument/2006/relationships/image" Target="/ppt/media/image8.png" Id="Reb081d022748469c" /><Relationship Type="http://schemas.openxmlformats.org/officeDocument/2006/relationships/image" Target="/ppt/media/image9.png" Id="R25169f28853f460d" /><Relationship Type="http://schemas.openxmlformats.org/officeDocument/2006/relationships/image" Target="/ppt/media/image10.png" Id="R84ca7a55c54243a7" /><Relationship Type="http://schemas.openxmlformats.org/officeDocument/2006/relationships/image" Target="/ppt/media/image11.png" Id="R1ce3e8be572e4223" /><Relationship Type="http://schemas.openxmlformats.org/officeDocument/2006/relationships/image" Target="/ppt/media/image12.png" Id="Rc63fca78429a40c8" /><Relationship Type="http://schemas.openxmlformats.org/officeDocument/2006/relationships/image" Target="/ppt/media/image13.png" Id="R42e5a04bf8054a78" /><Relationship Type="http://schemas.openxmlformats.org/officeDocument/2006/relationships/notesSlide" Target="/ppt/notesSlides/notesSlide7.xml" Id="Rf0f1661737a9490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7d778b3cae04876" /><Relationship Type="http://schemas.openxmlformats.org/officeDocument/2006/relationships/image" Target="/ppt/media/image14.png" Id="R21ed3c6844bc46cd" /><Relationship Type="http://schemas.openxmlformats.org/officeDocument/2006/relationships/notesSlide" Target="/ppt/notesSlides/notesSlide8.xml" Id="R05692162afb14cb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84c2c16c3d7425e" /><Relationship Type="http://schemas.openxmlformats.org/officeDocument/2006/relationships/notesSlide" Target="/ppt/notesSlides/notesSlide9.xml" Id="R6abbfcdd79e74eb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65edc9298cb43b2" /><Relationship Type="http://schemas.openxmlformats.org/officeDocument/2006/relationships/notesSlide" Target="/ppt/notesSlides/notesSlide10.xml" Id="Rbd00d39a0a0e4ab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2a8a486759d448f" /><Relationship Type="http://schemas.openxmlformats.org/officeDocument/2006/relationships/notesSlide" Target="/ppt/notesSlides/notesSlide11.xml" Id="Rf8bba066c27144c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4825b1e869d44ce" /><Relationship Type="http://schemas.openxmlformats.org/officeDocument/2006/relationships/notesSlide" Target="/ppt/notesSlides/notesSlide12.xml" Id="R1fa156fc5b48412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bcaebb648384ead" /><Relationship Type="http://schemas.openxmlformats.org/officeDocument/2006/relationships/image" Target="/ppt/media/image15.png" Id="R66ce99ab7d164ae5" /><Relationship Type="http://schemas.openxmlformats.org/officeDocument/2006/relationships/notesSlide" Target="/ppt/notesSlides/notesSlide13.xml" Id="R9477b4b438334d8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e7d83ed13a84f90" /><Relationship Type="http://schemas.openxmlformats.org/officeDocument/2006/relationships/chart" Target="/ppt/slides/charts/chart1.xml" Id="R32ec34fa07864fa2" /><Relationship Type="http://schemas.openxmlformats.org/officeDocument/2006/relationships/notesSlide" Target="/ppt/notesSlides/notesSlide14.xml" Id="Rc58e5304d2a34aa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e9d89839fb14ff7" /><Relationship Type="http://schemas.openxmlformats.org/officeDocument/2006/relationships/notesSlide" Target="/ppt/notesSlides/notesSlide15.xml" Id="Rb1e0db5f01b64cf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7a18115932b4d12" /><Relationship Type="http://schemas.openxmlformats.org/officeDocument/2006/relationships/notesSlide" Target="/ppt/notesSlides/notesSlide16.xml" Id="R309216ea5687494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1e55d14ee4c4edf" /><Relationship Type="http://schemas.openxmlformats.org/officeDocument/2006/relationships/notesSlide" Target="/ppt/notesSlides/notesSlide17.xml" Id="Rf7623eb9b4904854" /></Relationships>
</file>

<file path=ppt/slides/charts/chart1.xml><?xml version="1.0" encoding="utf-8"?>
<c:chartSpace xmlns:c="http://schemas.openxmlformats.org/drawingml/2006/chart">
  <c:lang val="en-US"/>
  <c:roundedCorners val="1"/>
  <c:style val="2"/>
  <c:chart>
    <c:autoTitleDeleted val="1"/>
    <c:plotArea>
      <c:barChart>
        <c:barDir val="col"/>
        <c:grouping val="clustered"/>
        <c:varyColors val="0"/>
        <c:ser>
          <c:idx val="0"/>
          <c:order val="0"/>
          <c:tx>
            <c:v>Adaptive / legacy</c:v>
          </c:tx>
          <c:spPr>
            <a:solidFill xmlns:a="http://schemas.openxmlformats.org/drawingml/2006/main">
              <a:srgbClr val="2457A6"/>
            </a:solidFill>
          </c:spPr>
          <c:dLbls>
            <c:spPr>
              <a:noFill xmlns:a="http://schemas.openxmlformats.org/drawingml/2006/main"/>
              <a:ln xmlns:a="http://schemas.openxmlformats.org/drawingml/2006/main">
                <a:noFill/>
              </a:ln>
            </c:spPr>
            <c:dLblPos val="outEnd"/>
            <c:showLegendKey val="0"/>
            <c:showVal val="1"/>
            <c:showCatName val="0"/>
            <c:showSerName val="0"/>
            <c:showPercent val="0"/>
            <c:showBubbleSize val="0"/>
            <c:showLeaderLines val="0"/>
          </c:dLbls>
          <c:cat>
            <c:strLit>
              <c:ptCount val="9"/>
              <c:pt idx="0">
                <c:v>T01</c:v>
              </c:pt>
              <c:pt idx="1">
                <c:v>T02</c:v>
              </c:pt>
              <c:pt idx="2">
                <c:v>T03</c:v>
              </c:pt>
              <c:pt idx="3">
                <c:v>T04</c:v>
              </c:pt>
              <c:pt idx="4">
                <c:v>T05</c:v>
              </c:pt>
              <c:pt idx="5">
                <c:v>T06</c:v>
              </c:pt>
              <c:pt idx="6">
                <c:v>T07</c:v>
              </c:pt>
              <c:pt idx="7">
                <c:v>T08</c:v>
              </c:pt>
              <c:pt idx="8">
                <c:v>T09</c:v>
              </c:pt>
            </c:strLit>
          </c:cat>
          <c:val>
            <c:numLit>
              <c:formatCode>General</c:formatCode>
              <c:ptCount val="9"/>
              <c:pt idx="0">
                <c:v>25.28</c:v>
              </c:pt>
              <c:pt idx="1">
                <c:v>23.89</c:v>
              </c:pt>
              <c:pt idx="2">
                <c:v>46.44</c:v>
              </c:pt>
              <c:pt idx="3">
                <c:v>38.8</c:v>
              </c:pt>
              <c:pt idx="4">
                <c:v>45.83</c:v>
              </c:pt>
              <c:pt idx="5">
                <c:v>38.54</c:v>
              </c:pt>
              <c:pt idx="6">
                <c:v>58.06</c:v>
              </c:pt>
              <c:pt idx="7">
                <c:v>96.53</c:v>
              </c:pt>
              <c:pt idx="8">
                <c:v>18.63</c:v>
              </c:pt>
            </c:numLit>
          </c:val>
        </c:ser>
        <c:dLbls>
          <c:dLblPos val="outEnd"/>
          <c:showLegendKey val="0"/>
          <c:showVal val="1"/>
          <c:showCatName val="0"/>
          <c:showSerName val="0"/>
          <c:showPercent val="0"/>
          <c:showBubbleSize val="0"/>
        </c:dLbls>
        <c:gapWidth val="55"/>
        <c:axId val="48650112"/>
        <c:axId val="48672768"/>
      </c:barChart>
      <c:catAx>
        <c:axId val="48650112"/>
        <c:scaling>
          <c:orientation val="minMax"/>
        </c:scaling>
        <c:delete val="0"/>
        <c:axPos val="b"/>
        <c:numFmt formatCode="General" sourceLinked="1"/>
        <c:majorTickMark val="none"/>
        <c:minorTickMark val="none"/>
        <c:tickLblPos val="nextTo"/>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00">
                <a:solidFill>
                  <a:srgbClr val="111111"/>
                </a:solidFill>
                <a:latin typeface="Helvetica Neue"/>
                <a:ea typeface="Helvetica Neue"/>
                <a:cs typeface="Helvetica Neue"/>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DEDED"/>
              </a:solidFill>
              <a:prstDash val="solid"/>
            </a:ln>
          </c:spPr>
        </c:majorGridlines>
        <c:numFmt formatCode="General" sourceLinked="1"/>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25">
                <a:solidFill>
                  <a:srgbClr val="111111"/>
                </a:solidFill>
                <a:latin typeface="Helvetica Neue"/>
                <a:ea typeface="Helvetica Neue"/>
                <a:cs typeface="Helvetica Neue"/>
              </a:defRPr>
            </a:pPr>
          </a:p>
        </c:txPr>
        <c:crossAx val="48650112"/>
        <c:crosses val="autoZero"/>
        <c:crossBetween val="between"/>
        <c:majorUnit val="20"/>
      </c:valAx>
      <c:spPr>
        <a:noFill xmlns:a="http://schemas.openxmlformats.org/drawingml/2006/main"/>
        <a:ln xmlns:a="http://schemas.openxmlformats.org/drawingml/2006/main" w="0">
          <a:solidFill>
            <a:srgbClr val="FAFAFA"/>
          </a:solidFill>
          <a:prstDash val="solid"/>
        </a:ln>
      </c:spPr>
    </c:plotArea>
    <c:plotVisOnly val="1"/>
  </c:chart>
  <c:spPr>
    <a:solidFill xmlns:a="http://schemas.openxmlformats.org/drawingml/2006/main">
      <a:srgbClr val="FAFAFA"/>
    </a:solidFill>
    <a:ln xmlns:a="http://schemas.openxmlformats.org/drawingml/2006/main" w="0">
      <a:solidFill>
        <a:srgbClr val="FAFAFA"/>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ver-kicker">
            <a:extLst xmlns:a="http://schemas.openxmlformats.org/drawingml/2006/main">
              <a:ext uri="{FF2B5EF4-FFF2-40B4-BE49-F238E27FC236}">
                <a16:creationId xmlns:a16="http://schemas.microsoft.com/office/drawing/2014/main" id="{FE0C5739-0B8C-4817-BCAD-9B04CC763B31}"/>
              </a:ext>
            </a:extLst>
          </p:cNvPr>
          <p:cNvSpPr>
            <a:spLocks xmlns:a="http://schemas.openxmlformats.org/drawingml/2006/main" noGrp="1"/>
          </p:cNvSpPr>
          <p:nvPr/>
        </p:nvSpPr>
        <p:spPr>
          <a:xfrm xmlns:a="http://schemas.openxmlformats.org/drawingml/2006/main">
            <a:off x="400050" y="400050"/>
            <a:ext cx="8382000" cy="342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2457A6"/>
                </a:solidFill>
                <a:latin typeface="Helvetica Neue"/>
                <a:ea typeface="Helvetica Neue"/>
                <a:cs typeface="Helvetica Neue"/>
              </a:defRPr>
            </a:pPr>
            <a:r>
              <a:t>MSc INDIVIDUAL RESEARCH PROJECT</a:t>
            </a:r>
          </a:p>
        </p:txBody>
      </p:sp>
      <p:sp>
        <p:nvSpPr>
          <p:cNvPr id="2" name="cover-title">
            <a:extLst xmlns:a="http://schemas.openxmlformats.org/drawingml/2006/main">
              <a:ext uri="{FF2B5EF4-FFF2-40B4-BE49-F238E27FC236}">
                <a16:creationId xmlns:a16="http://schemas.microsoft.com/office/drawing/2014/main" id="{7FAF0710-4706-42F7-AC2E-685C84868011}"/>
              </a:ext>
            </a:extLst>
          </p:cNvPr>
          <p:cNvSpPr>
            <a:spLocks xmlns:a="http://schemas.openxmlformats.org/drawingml/2006/main" noGrp="1"/>
          </p:cNvSpPr>
          <p:nvPr/>
        </p:nvSpPr>
        <p:spPr>
          <a:xfrm xmlns:a="http://schemas.openxmlformats.org/drawingml/2006/main">
            <a:off x="400050" y="1676400"/>
            <a:ext cx="10477500" cy="2190750"/>
          </a:xfrm>
          <a:prstGeom xmlns:a="http://schemas.openxmlformats.org/drawingml/2006/main" prst="rect">
            <a:avLst/>
          </a:prstGeom>
        </p:spPr>
        <p:txBody>
          <a:bodyPr xmlns:a="http://schemas.openxmlformats.org/drawingml/2006/main" wrap="square" lIns="0" tIns="0" rIns="0" bIns="0" anchor="b">
            <a:normAutofit fontScale="100000"/>
          </a:bodyPr>
          <a:lstStyle xmlns:a="http://schemas.openxmlformats.org/drawingml/2006/main"/>
          <a:p xmlns:a="http://schemas.openxmlformats.org/drawingml/2006/main">
            <a:pPr algn="l">
              <a:buNone/>
              <a:defRPr sz="4650" b="1">
                <a:solidFill>
                  <a:srgbClr val="111111"/>
                </a:solidFill>
                <a:latin typeface="Helvetica Neue"/>
                <a:ea typeface="Helvetica Neue"/>
                <a:cs typeface="Helvetica Neue"/>
              </a:defRPr>
            </a:pPr>
            <a:r>
              <a:t>Final Evidence-Closure Review</a:t>
            </a:r>
          </a:p>
        </p:txBody>
      </p:sp>
      <p:sp>
        <p:nvSpPr>
          <p:cNvPr id="3" name="cover-rule">
            <a:extLst xmlns:a="http://schemas.openxmlformats.org/drawingml/2006/main">
              <a:ext uri="{FF2B5EF4-FFF2-40B4-BE49-F238E27FC236}">
                <a16:creationId xmlns:a16="http://schemas.microsoft.com/office/drawing/2014/main" id="{A910CEB4-D727-43E4-802A-53EE6C5F5445}"/>
              </a:ext>
            </a:extLst>
          </p:cNvPr>
          <p:cNvSpPr>
            <a:spLocks xmlns:a="http://schemas.openxmlformats.org/drawingml/2006/main" noGrp="1"/>
          </p:cNvSpPr>
          <p:nvPr/>
        </p:nvSpPr>
        <p:spPr>
          <a:xfrm xmlns:a="http://schemas.openxmlformats.org/drawingml/2006/main">
            <a:off x="400050" y="4210050"/>
            <a:ext cx="68580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4" name="cover-subtitle">
            <a:extLst xmlns:a="http://schemas.openxmlformats.org/drawingml/2006/main">
              <a:ext uri="{FF2B5EF4-FFF2-40B4-BE49-F238E27FC236}">
                <a16:creationId xmlns:a16="http://schemas.microsoft.com/office/drawing/2014/main" id="{45F5C14C-5E26-4E0F-B487-00AEFD16B588}"/>
              </a:ext>
            </a:extLst>
          </p:cNvPr>
          <p:cNvSpPr>
            <a:spLocks xmlns:a="http://schemas.openxmlformats.org/drawingml/2006/main" noGrp="1"/>
          </p:cNvSpPr>
          <p:nvPr/>
        </p:nvSpPr>
        <p:spPr>
          <a:xfrm xmlns:a="http://schemas.openxmlformats.org/drawingml/2006/main">
            <a:off x="400050" y="4552950"/>
            <a:ext cx="742950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0">
                <a:solidFill>
                  <a:srgbClr val="5B6470"/>
                </a:solidFill>
                <a:latin typeface="Helvetica Neue"/>
                <a:ea typeface="Helvetica Neue"/>
                <a:cs typeface="Helvetica Neue"/>
              </a:defRPr>
            </a:pPr>
            <a:r>
              <a:t>Reliable migration of acoustic-emission analysis
from MATLAB to Python and Julia</a:t>
            </a:r>
          </a:p>
        </p:txBody>
      </p:sp>
      <p:sp>
        <p:nvSpPr>
          <p:cNvPr id="5" name="cover-author">
            <a:extLst xmlns:a="http://schemas.openxmlformats.org/drawingml/2006/main">
              <a:ext uri="{FF2B5EF4-FFF2-40B4-BE49-F238E27FC236}">
                <a16:creationId xmlns:a16="http://schemas.microsoft.com/office/drawing/2014/main" id="{30F84EBF-5D8C-404D-84D8-66841FB47641}"/>
              </a:ext>
            </a:extLst>
          </p:cNvPr>
          <p:cNvSpPr>
            <a:spLocks xmlns:a="http://schemas.openxmlformats.org/drawingml/2006/main" noGrp="1"/>
          </p:cNvSpPr>
          <p:nvPr/>
        </p:nvSpPr>
        <p:spPr>
          <a:xfrm xmlns:a="http://schemas.openxmlformats.org/drawingml/2006/main">
            <a:off x="400050" y="6000750"/>
            <a:ext cx="93345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B6470"/>
                </a:solidFill>
                <a:latin typeface="Helvetica Neue"/>
                <a:ea typeface="Helvetica Neue"/>
                <a:cs typeface="Helvetica Neue"/>
              </a:defRPr>
            </a:pPr>
            <a:r>
              <a:t>Haoyu Wang · Supervisor and Research Group Update · 29 July 2026</a:t>
            </a:r>
          </a:p>
        </p:txBody>
      </p:sp>
      <p:sp>
        <p:nvSpPr>
          <p:cNvPr id="6" name="cover-number">
            <a:extLst xmlns:a="http://schemas.openxmlformats.org/drawingml/2006/main">
              <a:ext uri="{FF2B5EF4-FFF2-40B4-BE49-F238E27FC236}">
                <a16:creationId xmlns:a16="http://schemas.microsoft.com/office/drawing/2014/main" id="{BFFC062F-A019-4575-84B4-3D2D2FD40CA4}"/>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1</a:t>
            </a:r>
          </a:p>
        </p:txBody>
      </p:sp>
    </p:spTree>
    <p:extLst>
      <p:ext uri="{BB962C8B-B14F-4D97-AF65-F5344CB8AC3E}">
        <p14:creationId xmlns:p14="http://schemas.microsoft.com/office/powerpoint/2010/main" val="36067678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itle-2">
            <a:extLst xmlns:a="http://schemas.openxmlformats.org/drawingml/2006/main">
              <a:ext uri="{FF2B5EF4-FFF2-40B4-BE49-F238E27FC236}">
                <a16:creationId xmlns:a16="http://schemas.microsoft.com/office/drawing/2014/main" id="{9B54B559-3F4E-440D-A089-72A6DD17CDBB}"/>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fontScale="92500"/>
          </a:bodyPr>
          <a:lstStyle xmlns:a="http://schemas.openxmlformats.org/drawingml/2006/main"/>
          <a:p xmlns:a="http://schemas.openxmlformats.org/drawingml/2006/main">
            <a:pPr algn="l">
              <a:buNone/>
              <a:defRPr sz="3525" b="1">
                <a:solidFill>
                  <a:srgbClr val="111111"/>
                </a:solidFill>
                <a:latin typeface="Helvetica Neue"/>
                <a:ea typeface="Helvetica Neue"/>
                <a:cs typeface="Helvetica Neue"/>
              </a:defRPr>
            </a:pPr>
            <a:r>
              <a:t>The challenge is reliable migration—not translation alone</a:t>
            </a:r>
          </a:p>
        </p:txBody>
      </p:sp>
      <p:sp>
        <p:nvSpPr>
          <p:cNvPr id="2" name="title-rule-2">
            <a:extLst xmlns:a="http://schemas.openxmlformats.org/drawingml/2006/main">
              <a:ext uri="{FF2B5EF4-FFF2-40B4-BE49-F238E27FC236}">
                <a16:creationId xmlns:a16="http://schemas.microsoft.com/office/drawing/2014/main" id="{F1D2E583-F814-4599-AFDA-C248B3252A4D}"/>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legacy-panel">
            <a:extLst xmlns:a="http://schemas.openxmlformats.org/drawingml/2006/main">
              <a:ext uri="{FF2B5EF4-FFF2-40B4-BE49-F238E27FC236}">
                <a16:creationId xmlns:a16="http://schemas.microsoft.com/office/drawing/2014/main" id="{9C6A2E0E-C07C-44CA-951D-673CAFBB1C84}"/>
              </a:ext>
            </a:extLst>
          </p:cNvPr>
          <p:cNvSpPr>
            <a:spLocks xmlns:a="http://schemas.openxmlformats.org/drawingml/2006/main" noGrp="1"/>
          </p:cNvSpPr>
          <p:nvPr/>
        </p:nvSpPr>
        <p:spPr>
          <a:xfrm xmlns:a="http://schemas.openxmlformats.org/drawingml/2006/main">
            <a:off x="400050" y="1771650"/>
            <a:ext cx="5334000" cy="34671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4" name="legacy-heading">
            <a:extLst xmlns:a="http://schemas.openxmlformats.org/drawingml/2006/main">
              <a:ext uri="{FF2B5EF4-FFF2-40B4-BE49-F238E27FC236}">
                <a16:creationId xmlns:a16="http://schemas.microsoft.com/office/drawing/2014/main" id="{E4149272-59E2-4BEA-A456-E1E8287F8205}"/>
              </a:ext>
            </a:extLst>
          </p:cNvPr>
          <p:cNvSpPr>
            <a:spLocks xmlns:a="http://schemas.openxmlformats.org/drawingml/2006/main" noGrp="1"/>
          </p:cNvSpPr>
          <p:nvPr/>
        </p:nvSpPr>
        <p:spPr>
          <a:xfrm xmlns:a="http://schemas.openxmlformats.org/drawingml/2006/main">
            <a:off x="685800" y="2057400"/>
            <a:ext cx="47625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111111"/>
                </a:solidFill>
                <a:latin typeface="Helvetica Neue"/>
                <a:ea typeface="Helvetica Neue"/>
                <a:cs typeface="Helvetica Neue"/>
              </a:defRPr>
            </a:pPr>
            <a:r>
              <a:t>Legacy constraint</a:t>
            </a:r>
          </a:p>
        </p:txBody>
      </p:sp>
      <p:sp>
        <p:nvSpPr>
          <p:cNvPr id="5" name="legacy-body">
            <a:extLst xmlns:a="http://schemas.openxmlformats.org/drawingml/2006/main">
              <a:ext uri="{FF2B5EF4-FFF2-40B4-BE49-F238E27FC236}">
                <a16:creationId xmlns:a16="http://schemas.microsoft.com/office/drawing/2014/main" id="{FE69ABC9-9413-4DA1-9AB0-69A1112515CE}"/>
              </a:ext>
            </a:extLst>
          </p:cNvPr>
          <p:cNvSpPr>
            <a:spLocks xmlns:a="http://schemas.openxmlformats.org/drawingml/2006/main" noGrp="1"/>
          </p:cNvSpPr>
          <p:nvPr/>
        </p:nvSpPr>
        <p:spPr>
          <a:xfrm xmlns:a="http://schemas.openxmlformats.org/drawingml/2006/main">
            <a:off x="685800" y="2705100"/>
            <a:ext cx="4667250" cy="20002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00" b="0">
                <a:solidFill>
                  <a:srgbClr val="111111"/>
                </a:solidFill>
                <a:latin typeface="Helvetica Neue"/>
                <a:ea typeface="Helvetica Neue"/>
                <a:cs typeface="Helvetica Neue"/>
              </a:defRPr>
            </a:pPr>
            <a:r>
              <a:t>• MATLAB-dependent in-house analysis
• Limited transparency and portability
• Scientific behaviour hidden in implementation details
• Translation errors may remain numerically plausible</a:t>
            </a:r>
          </a:p>
        </p:txBody>
      </p:sp>
      <p:sp>
        <p:nvSpPr>
          <p:cNvPr id="6" name="requirement-panel">
            <a:extLst xmlns:a="http://schemas.openxmlformats.org/drawingml/2006/main">
              <a:ext uri="{FF2B5EF4-FFF2-40B4-BE49-F238E27FC236}">
                <a16:creationId xmlns:a16="http://schemas.microsoft.com/office/drawing/2014/main" id="{4ADF1E2A-854D-499C-A369-9E94D8B5AE36}"/>
              </a:ext>
            </a:extLst>
          </p:cNvPr>
          <p:cNvSpPr>
            <a:spLocks xmlns:a="http://schemas.openxmlformats.org/drawingml/2006/main" noGrp="1"/>
          </p:cNvSpPr>
          <p:nvPr/>
        </p:nvSpPr>
        <p:spPr>
          <a:xfrm xmlns:a="http://schemas.openxmlformats.org/drawingml/2006/main">
            <a:off x="6076950" y="1771650"/>
            <a:ext cx="5715000" cy="3467100"/>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7" name="requirement-heading">
            <a:extLst xmlns:a="http://schemas.openxmlformats.org/drawingml/2006/main">
              <a:ext uri="{FF2B5EF4-FFF2-40B4-BE49-F238E27FC236}">
                <a16:creationId xmlns:a16="http://schemas.microsoft.com/office/drawing/2014/main" id="{342F97F2-16C4-4787-8DE6-EDDAD3397F3A}"/>
              </a:ext>
            </a:extLst>
          </p:cNvPr>
          <p:cNvSpPr>
            <a:spLocks xmlns:a="http://schemas.openxmlformats.org/drawingml/2006/main" noGrp="1"/>
          </p:cNvSpPr>
          <p:nvPr/>
        </p:nvSpPr>
        <p:spPr>
          <a:xfrm xmlns:a="http://schemas.openxmlformats.org/drawingml/2006/main">
            <a:off x="6362700" y="2057400"/>
            <a:ext cx="51435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2457A6"/>
                </a:solidFill>
                <a:latin typeface="Helvetica Neue"/>
                <a:ea typeface="Helvetica Neue"/>
                <a:cs typeface="Helvetica Neue"/>
              </a:defRPr>
            </a:pPr>
            <a:r>
              <a:t>Research requirement</a:t>
            </a:r>
          </a:p>
        </p:txBody>
      </p:sp>
      <p:sp>
        <p:nvSpPr>
          <p:cNvPr id="8" name="requirement-body">
            <a:extLst xmlns:a="http://schemas.openxmlformats.org/drawingml/2006/main">
              <a:ext uri="{FF2B5EF4-FFF2-40B4-BE49-F238E27FC236}">
                <a16:creationId xmlns:a16="http://schemas.microsoft.com/office/drawing/2014/main" id="{5263301B-7254-469A-A674-E6F5A56891DD}"/>
              </a:ext>
            </a:extLst>
          </p:cNvPr>
          <p:cNvSpPr>
            <a:spLocks xmlns:a="http://schemas.openxmlformats.org/drawingml/2006/main" noGrp="1"/>
          </p:cNvSpPr>
          <p:nvPr/>
        </p:nvSpPr>
        <p:spPr>
          <a:xfrm xmlns:a="http://schemas.openxmlformats.org/drawingml/2006/main">
            <a:off x="6362700" y="2705100"/>
            <a:ext cx="4953000" cy="1714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0">
                <a:solidFill>
                  <a:srgbClr val="111111"/>
                </a:solidFill>
                <a:latin typeface="Helvetica Neue"/>
                <a:ea typeface="Helvetica Neue"/>
                <a:cs typeface="Helvetica Neue"/>
              </a:defRPr>
            </a:pPr>
            <a:r>
              <a:t>An open implementation must preserve the original numerical behaviour, expose assumptions, support reproducible testing, and create a controlled basis for later algorithm development.</a:t>
            </a:r>
          </a:p>
        </p:txBody>
      </p:sp>
      <p:sp>
        <p:nvSpPr>
          <p:cNvPr id="9" name="background-takeaway">
            <a:extLst xmlns:a="http://schemas.openxmlformats.org/drawingml/2006/main">
              <a:ext uri="{FF2B5EF4-FFF2-40B4-BE49-F238E27FC236}">
                <a16:creationId xmlns:a16="http://schemas.microsoft.com/office/drawing/2014/main" id="{1EE7D092-FF49-4334-931E-BF06FDEFE766}"/>
              </a:ext>
            </a:extLst>
          </p:cNvPr>
          <p:cNvSpPr>
            <a:spLocks xmlns:a="http://schemas.openxmlformats.org/drawingml/2006/main" noGrp="1"/>
          </p:cNvSpPr>
          <p:nvPr/>
        </p:nvSpPr>
        <p:spPr>
          <a:xfrm xmlns:a="http://schemas.openxmlformats.org/drawingml/2006/main">
            <a:off x="685800" y="5543550"/>
            <a:ext cx="10287000" cy="457200"/>
          </a:xfrm>
          <a:prstGeom xmlns:a="http://schemas.openxmlformats.org/drawingml/2006/main" prst="rect">
            <a:avLst/>
          </a:prstGeom>
        </p:spPr>
        <p:txBody>
          <a:bodyPr xmlns:a="http://schemas.openxmlformats.org/drawingml/2006/main" wrap="square" lIns="0" tIns="0" rIns="0" bIns="0" anchor="t">
            <a:normAutofit fontScale="92500"/>
          </a:bodyPr>
          <a:lstStyle xmlns:a="http://schemas.openxmlformats.org/drawingml/2006/main"/>
          <a:p xmlns:a="http://schemas.openxmlformats.org/drawingml/2006/main">
            <a:pPr algn="l">
              <a:buNone/>
              <a:defRPr sz="2025" b="1">
                <a:solidFill>
                  <a:srgbClr val="111111"/>
                </a:solidFill>
                <a:latin typeface="Helvetica Neue"/>
                <a:ea typeface="Helvetica Neue"/>
                <a:cs typeface="Helvetica Neue"/>
              </a:defRPr>
            </a:pPr>
            <a:r>
              <a:t>Migration is a verification problem before it becomes a software-development problem.</a:t>
            </a:r>
          </a:p>
        </p:txBody>
      </p:sp>
      <p:sp>
        <p:nvSpPr>
          <p:cNvPr id="10" name="source-2">
            <a:extLst xmlns:a="http://schemas.openxmlformats.org/drawingml/2006/main">
              <a:ext uri="{FF2B5EF4-FFF2-40B4-BE49-F238E27FC236}">
                <a16:creationId xmlns:a16="http://schemas.microsoft.com/office/drawing/2014/main" id="{5CD115A9-F59D-4B32-A43E-7E26494B025A}"/>
              </a:ext>
            </a:extLst>
          </p:cNvPr>
          <p:cNvSpPr>
            <a:spLocks xmlns:a="http://schemas.openxmlformats.org/drawingml/2006/main" noGrp="1"/>
          </p:cNvSpPr>
          <p:nvPr/>
        </p:nvSpPr>
        <p:spPr>
          <a:xfrm xmlns:a="http://schemas.openxmlformats.org/drawingml/2006/main">
            <a:off x="400050" y="6419850"/>
            <a:ext cx="1028700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00" b="0">
                <a:solidFill>
                  <a:srgbClr val="5B6470"/>
                </a:solidFill>
                <a:latin typeface="Helvetica Neue"/>
                <a:ea typeface="Helvetica Neue"/>
                <a:cs typeface="Helvetica Neue"/>
              </a:defRPr>
            </a:pPr>
            <a:r>
              <a:t>Sources: formal aims and project brief</a:t>
            </a:r>
          </a:p>
        </p:txBody>
      </p:sp>
      <p:sp>
        <p:nvSpPr>
          <p:cNvPr id="11" name="slide-number-2">
            <a:extLst xmlns:a="http://schemas.openxmlformats.org/drawingml/2006/main">
              <a:ext uri="{FF2B5EF4-FFF2-40B4-BE49-F238E27FC236}">
                <a16:creationId xmlns:a16="http://schemas.microsoft.com/office/drawing/2014/main" id="{68E8F12A-6E3C-4F83-90F2-10C23B2403E4}"/>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2</a:t>
            </a:r>
          </a:p>
        </p:txBody>
      </p:sp>
    </p:spTree>
    <p:extLst>
      <p:ext uri="{BB962C8B-B14F-4D97-AF65-F5344CB8AC3E}">
        <p14:creationId xmlns:p14="http://schemas.microsoft.com/office/powerpoint/2010/main" val="121882337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itle-3">
            <a:extLst xmlns:a="http://schemas.openxmlformats.org/drawingml/2006/main">
              <a:ext uri="{FF2B5EF4-FFF2-40B4-BE49-F238E27FC236}">
                <a16:creationId xmlns:a16="http://schemas.microsoft.com/office/drawing/2014/main" id="{2349E21B-1424-465E-B6EA-25DB8660C9E2}"/>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a:bodyPr>
          <a:lstStyle xmlns:a="http://schemas.openxmlformats.org/drawingml/2006/main"/>
          <a:p xmlns:a="http://schemas.openxmlformats.org/drawingml/2006/main">
            <a:pPr algn="l">
              <a:buNone/>
              <a:defRPr sz="3600" b="1">
                <a:solidFill>
                  <a:srgbClr val="111111"/>
                </a:solidFill>
                <a:latin typeface="Helvetica Neue"/>
                <a:ea typeface="Helvetica Neue"/>
                <a:cs typeface="Helvetica Neue"/>
              </a:defRPr>
            </a:pPr>
            <a:r>
              <a:t>Four research questions define success</a:t>
            </a:r>
          </a:p>
        </p:txBody>
      </p:sp>
      <p:sp>
        <p:nvSpPr>
          <p:cNvPr id="2" name="title-rule-3">
            <a:extLst xmlns:a="http://schemas.openxmlformats.org/drawingml/2006/main">
              <a:ext uri="{FF2B5EF4-FFF2-40B4-BE49-F238E27FC236}">
                <a16:creationId xmlns:a16="http://schemas.microsoft.com/office/drawing/2014/main" id="{42505391-B13B-4647-8B90-E9CAB4250AF3}"/>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RQ1-panel">
            <a:extLst xmlns:a="http://schemas.openxmlformats.org/drawingml/2006/main">
              <a:ext uri="{FF2B5EF4-FFF2-40B4-BE49-F238E27FC236}">
                <a16:creationId xmlns:a16="http://schemas.microsoft.com/office/drawing/2014/main" id="{3F7DB846-C0AA-4418-A61D-3BB23D9005B1}"/>
              </a:ext>
            </a:extLst>
          </p:cNvPr>
          <p:cNvSpPr>
            <a:spLocks xmlns:a="http://schemas.openxmlformats.org/drawingml/2006/main" noGrp="1"/>
          </p:cNvSpPr>
          <p:nvPr/>
        </p:nvSpPr>
        <p:spPr>
          <a:xfrm xmlns:a="http://schemas.openxmlformats.org/drawingml/2006/main">
            <a:off x="400050" y="1771650"/>
            <a:ext cx="56007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4" name="RQ1-tag">
            <a:extLst xmlns:a="http://schemas.openxmlformats.org/drawingml/2006/main">
              <a:ext uri="{FF2B5EF4-FFF2-40B4-BE49-F238E27FC236}">
                <a16:creationId xmlns:a16="http://schemas.microsoft.com/office/drawing/2014/main" id="{385C67D3-2FF7-4316-9B09-ADB55265752C}"/>
              </a:ext>
            </a:extLst>
          </p:cNvPr>
          <p:cNvSpPr>
            <a:spLocks xmlns:a="http://schemas.openxmlformats.org/drawingml/2006/main" noGrp="1"/>
          </p:cNvSpPr>
          <p:nvPr/>
        </p:nvSpPr>
        <p:spPr>
          <a:xfrm xmlns:a="http://schemas.openxmlformats.org/drawingml/2006/main">
            <a:off x="647700" y="2000250"/>
            <a:ext cx="8382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00" b="1">
                <a:solidFill>
                  <a:srgbClr val="2457A6"/>
                </a:solidFill>
                <a:latin typeface="Helvetica Neue"/>
                <a:ea typeface="Helvetica Neue"/>
                <a:cs typeface="Helvetica Neue"/>
              </a:defRPr>
            </a:pPr>
            <a:r>
              <a:t>RQ1</a:t>
            </a:r>
          </a:p>
        </p:txBody>
      </p:sp>
      <p:sp>
        <p:nvSpPr>
          <p:cNvPr id="5" name="RQ1-body">
            <a:extLst xmlns:a="http://schemas.openxmlformats.org/drawingml/2006/main">
              <a:ext uri="{FF2B5EF4-FFF2-40B4-BE49-F238E27FC236}">
                <a16:creationId xmlns:a16="http://schemas.microsoft.com/office/drawing/2014/main" id="{657D3E05-99BA-4A80-9609-378815B4CFE8}"/>
              </a:ext>
            </a:extLst>
          </p:cNvPr>
          <p:cNvSpPr>
            <a:spLocks xmlns:a="http://schemas.openxmlformats.org/drawingml/2006/main" noGrp="1"/>
          </p:cNvSpPr>
          <p:nvPr/>
        </p:nvSpPr>
        <p:spPr>
          <a:xfrm xmlns:a="http://schemas.openxmlformats.org/drawingml/2006/main">
            <a:off x="647700" y="2495550"/>
            <a:ext cx="5048250" cy="762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1">
                <a:solidFill>
                  <a:srgbClr val="111111"/>
                </a:solidFill>
                <a:latin typeface="Helvetica Neue"/>
                <a:ea typeface="Helvetica Neue"/>
                <a:cs typeface="Helvetica Neue"/>
              </a:defRPr>
            </a:pPr>
            <a:r>
              <a:t>Can LLMs translate the legacy workflow into readable Python and Julia?</a:t>
            </a:r>
          </a:p>
        </p:txBody>
      </p:sp>
      <p:sp>
        <p:nvSpPr>
          <p:cNvPr id="6" name="RQ2-panel">
            <a:extLst xmlns:a="http://schemas.openxmlformats.org/drawingml/2006/main">
              <a:ext uri="{FF2B5EF4-FFF2-40B4-BE49-F238E27FC236}">
                <a16:creationId xmlns:a16="http://schemas.microsoft.com/office/drawing/2014/main" id="{B56D30AE-13A4-477B-83DE-5BC71D0C2E59}"/>
              </a:ext>
            </a:extLst>
          </p:cNvPr>
          <p:cNvSpPr>
            <a:spLocks xmlns:a="http://schemas.openxmlformats.org/drawingml/2006/main" noGrp="1"/>
          </p:cNvSpPr>
          <p:nvPr/>
        </p:nvSpPr>
        <p:spPr>
          <a:xfrm xmlns:a="http://schemas.openxmlformats.org/drawingml/2006/main">
            <a:off x="6191250" y="1771650"/>
            <a:ext cx="56007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7" name="RQ2-tag">
            <a:extLst xmlns:a="http://schemas.openxmlformats.org/drawingml/2006/main">
              <a:ext uri="{FF2B5EF4-FFF2-40B4-BE49-F238E27FC236}">
                <a16:creationId xmlns:a16="http://schemas.microsoft.com/office/drawing/2014/main" id="{390A2C02-981D-4733-8FE6-C126B4B39FE0}"/>
              </a:ext>
            </a:extLst>
          </p:cNvPr>
          <p:cNvSpPr>
            <a:spLocks xmlns:a="http://schemas.openxmlformats.org/drawingml/2006/main" noGrp="1"/>
          </p:cNvSpPr>
          <p:nvPr/>
        </p:nvSpPr>
        <p:spPr>
          <a:xfrm xmlns:a="http://schemas.openxmlformats.org/drawingml/2006/main">
            <a:off x="6438900" y="2000250"/>
            <a:ext cx="8382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00" b="1">
                <a:solidFill>
                  <a:srgbClr val="2457A6"/>
                </a:solidFill>
                <a:latin typeface="Helvetica Neue"/>
                <a:ea typeface="Helvetica Neue"/>
                <a:cs typeface="Helvetica Neue"/>
              </a:defRPr>
            </a:pPr>
            <a:r>
              <a:t>RQ2</a:t>
            </a:r>
          </a:p>
        </p:txBody>
      </p:sp>
      <p:sp>
        <p:nvSpPr>
          <p:cNvPr id="8" name="RQ2-body">
            <a:extLst xmlns:a="http://schemas.openxmlformats.org/drawingml/2006/main">
              <a:ext uri="{FF2B5EF4-FFF2-40B4-BE49-F238E27FC236}">
                <a16:creationId xmlns:a16="http://schemas.microsoft.com/office/drawing/2014/main" id="{74930ECE-89EA-4911-BAD1-E12330451EA6}"/>
              </a:ext>
            </a:extLst>
          </p:cNvPr>
          <p:cNvSpPr>
            <a:spLocks xmlns:a="http://schemas.openxmlformats.org/drawingml/2006/main" noGrp="1"/>
          </p:cNvSpPr>
          <p:nvPr/>
        </p:nvSpPr>
        <p:spPr>
          <a:xfrm xmlns:a="http://schemas.openxmlformats.org/drawingml/2006/main">
            <a:off x="6438900" y="2495550"/>
            <a:ext cx="5048250" cy="762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1">
                <a:solidFill>
                  <a:srgbClr val="111111"/>
                </a:solidFill>
                <a:latin typeface="Helvetica Neue"/>
                <a:ea typeface="Helvetica Neue"/>
                <a:cs typeface="Helvetica Neue"/>
              </a:defRPr>
            </a:pPr>
            <a:r>
              <a:t>Can the translated outputs be shown numerically equivalent to MATLAB?</a:t>
            </a:r>
          </a:p>
        </p:txBody>
      </p:sp>
      <p:sp>
        <p:nvSpPr>
          <p:cNvPr id="9" name="RQ3-panel">
            <a:extLst xmlns:a="http://schemas.openxmlformats.org/drawingml/2006/main">
              <a:ext uri="{FF2B5EF4-FFF2-40B4-BE49-F238E27FC236}">
                <a16:creationId xmlns:a16="http://schemas.microsoft.com/office/drawing/2014/main" id="{9AAA3412-25FF-42F8-A06A-B4A09910A940}"/>
              </a:ext>
            </a:extLst>
          </p:cNvPr>
          <p:cNvSpPr>
            <a:spLocks xmlns:a="http://schemas.openxmlformats.org/drawingml/2006/main" noGrp="1"/>
          </p:cNvSpPr>
          <p:nvPr/>
        </p:nvSpPr>
        <p:spPr>
          <a:xfrm xmlns:a="http://schemas.openxmlformats.org/drawingml/2006/main">
            <a:off x="400050" y="3905250"/>
            <a:ext cx="56007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10" name="RQ3-tag">
            <a:extLst xmlns:a="http://schemas.openxmlformats.org/drawingml/2006/main">
              <a:ext uri="{FF2B5EF4-FFF2-40B4-BE49-F238E27FC236}">
                <a16:creationId xmlns:a16="http://schemas.microsoft.com/office/drawing/2014/main" id="{D5AF479D-4807-429F-BBBA-269238AA9CB4}"/>
              </a:ext>
            </a:extLst>
          </p:cNvPr>
          <p:cNvSpPr>
            <a:spLocks xmlns:a="http://schemas.openxmlformats.org/drawingml/2006/main" noGrp="1"/>
          </p:cNvSpPr>
          <p:nvPr/>
        </p:nvSpPr>
        <p:spPr>
          <a:xfrm xmlns:a="http://schemas.openxmlformats.org/drawingml/2006/main">
            <a:off x="647700" y="4133850"/>
            <a:ext cx="8382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00" b="1">
                <a:solidFill>
                  <a:srgbClr val="2457A6"/>
                </a:solidFill>
                <a:latin typeface="Helvetica Neue"/>
                <a:ea typeface="Helvetica Neue"/>
                <a:cs typeface="Helvetica Neue"/>
              </a:defRPr>
            </a:pPr>
            <a:r>
              <a:t>RQ3</a:t>
            </a:r>
          </a:p>
        </p:txBody>
      </p:sp>
      <p:sp>
        <p:nvSpPr>
          <p:cNvPr id="11" name="RQ3-body">
            <a:extLst xmlns:a="http://schemas.openxmlformats.org/drawingml/2006/main">
              <a:ext uri="{FF2B5EF4-FFF2-40B4-BE49-F238E27FC236}">
                <a16:creationId xmlns:a16="http://schemas.microsoft.com/office/drawing/2014/main" id="{FFD2E571-B644-42C3-86AA-109C9EEE7257}"/>
              </a:ext>
            </a:extLst>
          </p:cNvPr>
          <p:cNvSpPr>
            <a:spLocks xmlns:a="http://schemas.openxmlformats.org/drawingml/2006/main" noGrp="1"/>
          </p:cNvSpPr>
          <p:nvPr/>
        </p:nvSpPr>
        <p:spPr>
          <a:xfrm xmlns:a="http://schemas.openxmlformats.org/drawingml/2006/main">
            <a:off x="647700" y="4629150"/>
            <a:ext cx="5048250" cy="762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1">
                <a:solidFill>
                  <a:srgbClr val="111111"/>
                </a:solidFill>
                <a:latin typeface="Helvetica Neue"/>
                <a:ea typeface="Helvetica Neue"/>
                <a:cs typeface="Helvetica Neue"/>
              </a:defRPr>
            </a:pPr>
            <a:r>
              <a:t>Which failures arise from models, languages, data schemas, or hidden semantics?</a:t>
            </a:r>
          </a:p>
        </p:txBody>
      </p:sp>
      <p:sp>
        <p:nvSpPr>
          <p:cNvPr id="12" name="RQ4-panel">
            <a:extLst xmlns:a="http://schemas.openxmlformats.org/drawingml/2006/main">
              <a:ext uri="{FF2B5EF4-FFF2-40B4-BE49-F238E27FC236}">
                <a16:creationId xmlns:a16="http://schemas.microsoft.com/office/drawing/2014/main" id="{2C5CE392-6A41-4C92-BBAA-7C589925D489}"/>
              </a:ext>
            </a:extLst>
          </p:cNvPr>
          <p:cNvSpPr>
            <a:spLocks xmlns:a="http://schemas.openxmlformats.org/drawingml/2006/main" noGrp="1"/>
          </p:cNvSpPr>
          <p:nvPr/>
        </p:nvSpPr>
        <p:spPr>
          <a:xfrm xmlns:a="http://schemas.openxmlformats.org/drawingml/2006/main">
            <a:off x="6191250" y="3905250"/>
            <a:ext cx="5600700" cy="1695450"/>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13" name="RQ4-tag">
            <a:extLst xmlns:a="http://schemas.openxmlformats.org/drawingml/2006/main">
              <a:ext uri="{FF2B5EF4-FFF2-40B4-BE49-F238E27FC236}">
                <a16:creationId xmlns:a16="http://schemas.microsoft.com/office/drawing/2014/main" id="{50E15317-630A-4F25-BD4E-DD03B1DFBBF7}"/>
              </a:ext>
            </a:extLst>
          </p:cNvPr>
          <p:cNvSpPr>
            <a:spLocks xmlns:a="http://schemas.openxmlformats.org/drawingml/2006/main" noGrp="1"/>
          </p:cNvSpPr>
          <p:nvPr/>
        </p:nvSpPr>
        <p:spPr>
          <a:xfrm xmlns:a="http://schemas.openxmlformats.org/drawingml/2006/main">
            <a:off x="6438900" y="4133850"/>
            <a:ext cx="8382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00" b="1">
                <a:solidFill>
                  <a:srgbClr val="2457A6"/>
                </a:solidFill>
                <a:latin typeface="Helvetica Neue"/>
                <a:ea typeface="Helvetica Neue"/>
                <a:cs typeface="Helvetica Neue"/>
              </a:defRPr>
            </a:pPr>
            <a:r>
              <a:t>RQ4</a:t>
            </a:r>
          </a:p>
        </p:txBody>
      </p:sp>
      <p:sp>
        <p:nvSpPr>
          <p:cNvPr id="14" name="RQ4-body">
            <a:extLst xmlns:a="http://schemas.openxmlformats.org/drawingml/2006/main">
              <a:ext uri="{FF2B5EF4-FFF2-40B4-BE49-F238E27FC236}">
                <a16:creationId xmlns:a16="http://schemas.microsoft.com/office/drawing/2014/main" id="{AE1963CE-64EA-4753-862A-7C5F3522A75C}"/>
              </a:ext>
            </a:extLst>
          </p:cNvPr>
          <p:cNvSpPr>
            <a:spLocks xmlns:a="http://schemas.openxmlformats.org/drawingml/2006/main" noGrp="1"/>
          </p:cNvSpPr>
          <p:nvPr/>
        </p:nvSpPr>
        <p:spPr>
          <a:xfrm xmlns:a="http://schemas.openxmlformats.org/drawingml/2006/main">
            <a:off x="6438900" y="4629150"/>
            <a:ext cx="5048250" cy="762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1">
                <a:solidFill>
                  <a:srgbClr val="111111"/>
                </a:solidFill>
                <a:latin typeface="Helvetica Neue"/>
                <a:ea typeface="Helvetica Neue"/>
                <a:cs typeface="Helvetica Neue"/>
              </a:defRPr>
            </a:pPr>
            <a:r>
              <a:t>Can a verified open framework support a controlled algorithmic extension?</a:t>
            </a:r>
          </a:p>
        </p:txBody>
      </p:sp>
      <p:sp>
        <p:nvSpPr>
          <p:cNvPr id="15" name="source-3">
            <a:extLst xmlns:a="http://schemas.openxmlformats.org/drawingml/2006/main">
              <a:ext uri="{FF2B5EF4-FFF2-40B4-BE49-F238E27FC236}">
                <a16:creationId xmlns:a16="http://schemas.microsoft.com/office/drawing/2014/main" id="{31B3593B-890A-4A40-96A2-A68B383843E4}"/>
              </a:ext>
            </a:extLst>
          </p:cNvPr>
          <p:cNvSpPr>
            <a:spLocks xmlns:a="http://schemas.openxmlformats.org/drawingml/2006/main" noGrp="1"/>
          </p:cNvSpPr>
          <p:nvPr/>
        </p:nvSpPr>
        <p:spPr>
          <a:xfrm xmlns:a="http://schemas.openxmlformats.org/drawingml/2006/main">
            <a:off x="400050" y="6419850"/>
            <a:ext cx="1028700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00" b="0">
                <a:solidFill>
                  <a:srgbClr val="5B6470"/>
                </a:solidFill>
                <a:latin typeface="Helvetica Neue"/>
                <a:ea typeface="Helvetica Neue"/>
                <a:cs typeface="Helvetica Neue"/>
              </a:defRPr>
            </a:pPr>
            <a:r>
              <a:t>Source: Aims, Objectives &amp; Gantt Chart; MSc project brief</a:t>
            </a:r>
          </a:p>
        </p:txBody>
      </p:sp>
      <p:sp>
        <p:nvSpPr>
          <p:cNvPr id="16" name="slide-number-3">
            <a:extLst xmlns:a="http://schemas.openxmlformats.org/drawingml/2006/main">
              <a:ext uri="{FF2B5EF4-FFF2-40B4-BE49-F238E27FC236}">
                <a16:creationId xmlns:a16="http://schemas.microsoft.com/office/drawing/2014/main" id="{5AEC3691-F916-4CE9-B5C1-A9C7010BF76C}"/>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3</a:t>
            </a:r>
          </a:p>
        </p:txBody>
      </p:sp>
    </p:spTree>
    <p:extLst>
      <p:ext uri="{BB962C8B-B14F-4D97-AF65-F5344CB8AC3E}">
        <p14:creationId xmlns:p14="http://schemas.microsoft.com/office/powerpoint/2010/main" val="200069000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title-4">
            <a:extLst xmlns:a="http://schemas.openxmlformats.org/drawingml/2006/main">
              <a:ext uri="{FF2B5EF4-FFF2-40B4-BE49-F238E27FC236}">
                <a16:creationId xmlns:a16="http://schemas.microsoft.com/office/drawing/2014/main" id="{CBF8180A-A4E1-47FD-867A-99D2CCE0E25F}"/>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lnSpcReduction="10000"/>
          </a:bodyPr>
          <a:lstStyle xmlns:a="http://schemas.openxmlformats.org/drawingml/2006/main"/>
          <a:p xmlns:a="http://schemas.openxmlformats.org/drawingml/2006/main">
            <a:pPr algn="l">
              <a:buNone/>
              <a:defRPr sz="3450" b="1">
                <a:solidFill>
                  <a:srgbClr val="111111"/>
                </a:solidFill>
                <a:latin typeface="Helvetica Neue"/>
                <a:ea typeface="Helvetica Neue"/>
                <a:cs typeface="Helvetica Neue"/>
              </a:defRPr>
            </a:pPr>
            <a:r>
              <a:t>Translation, verification and extension are separate stages</a:t>
            </a:r>
          </a:p>
        </p:txBody>
      </p:sp>
      <p:sp>
        <p:nvSpPr>
          <p:cNvPr id="2" name="title-rule-4">
            <a:extLst xmlns:a="http://schemas.openxmlformats.org/drawingml/2006/main">
              <a:ext uri="{FF2B5EF4-FFF2-40B4-BE49-F238E27FC236}">
                <a16:creationId xmlns:a16="http://schemas.microsoft.com/office/drawing/2014/main" id="{B2CCA192-7E59-4A41-825F-6349CE705572}"/>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method-arrow-0">
            <a:extLst xmlns:a="http://schemas.openxmlformats.org/drawingml/2006/main">
              <a:ext uri="{FF2B5EF4-FFF2-40B4-BE49-F238E27FC236}">
                <a16:creationId xmlns:a16="http://schemas.microsoft.com/office/drawing/2014/main" id="{B0FA18E0-016F-4D24-BDDD-DA80B2A94DD5}"/>
              </a:ext>
            </a:extLst>
          </p:cNvPr>
          <p:cNvSpPr>
            <a:spLocks xmlns:a="http://schemas.openxmlformats.org/drawingml/2006/main" noGrp="1"/>
          </p:cNvSpPr>
          <p:nvPr/>
        </p:nvSpPr>
        <p:spPr>
          <a:xfrm xmlns:a="http://schemas.openxmlformats.org/drawingml/2006/main">
            <a:off x="2133600" y="3324225"/>
            <a:ext cx="552450" cy="2857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method-arrow-1">
            <a:extLst xmlns:a="http://schemas.openxmlformats.org/drawingml/2006/main">
              <a:ext uri="{FF2B5EF4-FFF2-40B4-BE49-F238E27FC236}">
                <a16:creationId xmlns:a16="http://schemas.microsoft.com/office/drawing/2014/main" id="{4B13F77F-16FA-473F-B6F8-F9E085CD5C85}"/>
              </a:ext>
            </a:extLst>
          </p:cNvPr>
          <p:cNvSpPr>
            <a:spLocks xmlns:a="http://schemas.openxmlformats.org/drawingml/2006/main" noGrp="1"/>
          </p:cNvSpPr>
          <p:nvPr/>
        </p:nvSpPr>
        <p:spPr>
          <a:xfrm xmlns:a="http://schemas.openxmlformats.org/drawingml/2006/main">
            <a:off x="4419600" y="3324225"/>
            <a:ext cx="552450" cy="2857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5" name="method-arrow-2">
            <a:extLst xmlns:a="http://schemas.openxmlformats.org/drawingml/2006/main">
              <a:ext uri="{FF2B5EF4-FFF2-40B4-BE49-F238E27FC236}">
                <a16:creationId xmlns:a16="http://schemas.microsoft.com/office/drawing/2014/main" id="{AC60A919-DBB3-4FE5-A0AC-D710DB583424}"/>
              </a:ext>
            </a:extLst>
          </p:cNvPr>
          <p:cNvSpPr>
            <a:spLocks xmlns:a="http://schemas.openxmlformats.org/drawingml/2006/main" noGrp="1"/>
          </p:cNvSpPr>
          <p:nvPr/>
        </p:nvSpPr>
        <p:spPr>
          <a:xfrm xmlns:a="http://schemas.openxmlformats.org/drawingml/2006/main">
            <a:off x="6705600" y="3324225"/>
            <a:ext cx="552450" cy="2857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6" name="method-arrow-3">
            <a:extLst xmlns:a="http://schemas.openxmlformats.org/drawingml/2006/main">
              <a:ext uri="{FF2B5EF4-FFF2-40B4-BE49-F238E27FC236}">
                <a16:creationId xmlns:a16="http://schemas.microsoft.com/office/drawing/2014/main" id="{81A38B37-C963-4A19-9C1E-881DD6F73AD2}"/>
              </a:ext>
            </a:extLst>
          </p:cNvPr>
          <p:cNvSpPr>
            <a:spLocks xmlns:a="http://schemas.openxmlformats.org/drawingml/2006/main" noGrp="1"/>
          </p:cNvSpPr>
          <p:nvPr/>
        </p:nvSpPr>
        <p:spPr>
          <a:xfrm xmlns:a="http://schemas.openxmlformats.org/drawingml/2006/main">
            <a:off x="8991600" y="3324225"/>
            <a:ext cx="552450" cy="2857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7" name="method-node-0">
            <a:extLst xmlns:a="http://schemas.openxmlformats.org/drawingml/2006/main">
              <a:ext uri="{FF2B5EF4-FFF2-40B4-BE49-F238E27FC236}">
                <a16:creationId xmlns:a16="http://schemas.microsoft.com/office/drawing/2014/main" id="{CBCEF670-287B-4101-9FBE-F5AC01495706}"/>
              </a:ext>
            </a:extLst>
          </p:cNvPr>
          <p:cNvSpPr>
            <a:spLocks xmlns:a="http://schemas.openxmlformats.org/drawingml/2006/main" noGrp="1"/>
          </p:cNvSpPr>
          <p:nvPr/>
        </p:nvSpPr>
        <p:spPr>
          <a:xfrm xmlns:a="http://schemas.openxmlformats.org/drawingml/2006/main">
            <a:off x="400050" y="2209800"/>
            <a:ext cx="1866900" cy="22479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8" name="method-num-0">
            <a:extLst xmlns:a="http://schemas.openxmlformats.org/drawingml/2006/main">
              <a:ext uri="{FF2B5EF4-FFF2-40B4-BE49-F238E27FC236}">
                <a16:creationId xmlns:a16="http://schemas.microsoft.com/office/drawing/2014/main" id="{F792EA50-966F-45D5-9E01-485341D447C3}"/>
              </a:ext>
            </a:extLst>
          </p:cNvPr>
          <p:cNvSpPr>
            <a:spLocks xmlns:a="http://schemas.openxmlformats.org/drawingml/2006/main" noGrp="1"/>
          </p:cNvSpPr>
          <p:nvPr/>
        </p:nvSpPr>
        <p:spPr>
          <a:xfrm xmlns:a="http://schemas.openxmlformats.org/drawingml/2006/main">
            <a:off x="609600" y="2381250"/>
            <a:ext cx="4762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2457A6"/>
                </a:solidFill>
                <a:latin typeface="Helvetica Neue"/>
                <a:ea typeface="Helvetica Neue"/>
                <a:cs typeface="Helvetica Neue"/>
              </a:defRPr>
            </a:pPr>
            <a:r>
              <a:t>1</a:t>
            </a:r>
          </a:p>
        </p:txBody>
      </p:sp>
      <p:sp>
        <p:nvSpPr>
          <p:cNvPr id="9" name="method-heading-0">
            <a:extLst xmlns:a="http://schemas.openxmlformats.org/drawingml/2006/main">
              <a:ext uri="{FF2B5EF4-FFF2-40B4-BE49-F238E27FC236}">
                <a16:creationId xmlns:a16="http://schemas.microsoft.com/office/drawing/2014/main" id="{7E6DE76E-61B8-431A-B967-FA2689F9718A}"/>
              </a:ext>
            </a:extLst>
          </p:cNvPr>
          <p:cNvSpPr>
            <a:spLocks xmlns:a="http://schemas.openxmlformats.org/drawingml/2006/main" noGrp="1"/>
          </p:cNvSpPr>
          <p:nvPr/>
        </p:nvSpPr>
        <p:spPr>
          <a:xfrm xmlns:a="http://schemas.openxmlformats.org/drawingml/2006/main">
            <a:off x="609600" y="2971800"/>
            <a:ext cx="14859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111111"/>
                </a:solidFill>
                <a:latin typeface="Helvetica Neue"/>
                <a:ea typeface="Helvetica Neue"/>
                <a:cs typeface="Helvetica Neue"/>
              </a:defRPr>
            </a:pPr>
            <a:r>
              <a:t>Deconstruct</a:t>
            </a:r>
          </a:p>
        </p:txBody>
      </p:sp>
      <p:sp>
        <p:nvSpPr>
          <p:cNvPr id="10" name="method-body-0">
            <a:extLst xmlns:a="http://schemas.openxmlformats.org/drawingml/2006/main">
              <a:ext uri="{FF2B5EF4-FFF2-40B4-BE49-F238E27FC236}">
                <a16:creationId xmlns:a16="http://schemas.microsoft.com/office/drawing/2014/main" id="{CD7C9D16-8165-4840-B287-2CEAD41E6B56}"/>
              </a:ext>
            </a:extLst>
          </p:cNvPr>
          <p:cNvSpPr>
            <a:spLocks xmlns:a="http://schemas.openxmlformats.org/drawingml/2006/main" noGrp="1"/>
          </p:cNvSpPr>
          <p:nvPr/>
        </p:nvSpPr>
        <p:spPr>
          <a:xfrm xmlns:a="http://schemas.openxmlformats.org/drawingml/2006/main">
            <a:off x="609600" y="3562350"/>
            <a:ext cx="1485900" cy="590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0">
                <a:solidFill>
                  <a:srgbClr val="5B6470"/>
                </a:solidFill>
                <a:latin typeface="Helvetica Neue"/>
                <a:ea typeface="Helvetica Neue"/>
                <a:cs typeface="Helvetica Neue"/>
              </a:defRPr>
            </a:pPr>
            <a:r>
              <a:t>Inputs, outputs, data flow</a:t>
            </a:r>
          </a:p>
        </p:txBody>
      </p:sp>
      <p:sp>
        <p:nvSpPr>
          <p:cNvPr id="11" name="method-node-1">
            <a:extLst xmlns:a="http://schemas.openxmlformats.org/drawingml/2006/main">
              <a:ext uri="{FF2B5EF4-FFF2-40B4-BE49-F238E27FC236}">
                <a16:creationId xmlns:a16="http://schemas.microsoft.com/office/drawing/2014/main" id="{A9F26F7F-2712-48A2-AE71-B8D5BDFD13CC}"/>
              </a:ext>
            </a:extLst>
          </p:cNvPr>
          <p:cNvSpPr>
            <a:spLocks xmlns:a="http://schemas.openxmlformats.org/drawingml/2006/main" noGrp="1"/>
          </p:cNvSpPr>
          <p:nvPr/>
        </p:nvSpPr>
        <p:spPr>
          <a:xfrm xmlns:a="http://schemas.openxmlformats.org/drawingml/2006/main">
            <a:off x="2686050" y="2209800"/>
            <a:ext cx="1866900" cy="22479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12" name="method-num-1">
            <a:extLst xmlns:a="http://schemas.openxmlformats.org/drawingml/2006/main">
              <a:ext uri="{FF2B5EF4-FFF2-40B4-BE49-F238E27FC236}">
                <a16:creationId xmlns:a16="http://schemas.microsoft.com/office/drawing/2014/main" id="{1E1EC8C4-30AB-404E-9834-9BB671E37ED6}"/>
              </a:ext>
            </a:extLst>
          </p:cNvPr>
          <p:cNvSpPr>
            <a:spLocks xmlns:a="http://schemas.openxmlformats.org/drawingml/2006/main" noGrp="1"/>
          </p:cNvSpPr>
          <p:nvPr/>
        </p:nvSpPr>
        <p:spPr>
          <a:xfrm xmlns:a="http://schemas.openxmlformats.org/drawingml/2006/main">
            <a:off x="2895600" y="2381250"/>
            <a:ext cx="4762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2457A6"/>
                </a:solidFill>
                <a:latin typeface="Helvetica Neue"/>
                <a:ea typeface="Helvetica Neue"/>
                <a:cs typeface="Helvetica Neue"/>
              </a:defRPr>
            </a:pPr>
            <a:r>
              <a:t>2</a:t>
            </a:r>
          </a:p>
        </p:txBody>
      </p:sp>
      <p:sp>
        <p:nvSpPr>
          <p:cNvPr id="13" name="method-heading-1">
            <a:extLst xmlns:a="http://schemas.openxmlformats.org/drawingml/2006/main">
              <a:ext uri="{FF2B5EF4-FFF2-40B4-BE49-F238E27FC236}">
                <a16:creationId xmlns:a16="http://schemas.microsoft.com/office/drawing/2014/main" id="{3131A2AE-102D-4F89-98C5-AFEEAF930095}"/>
              </a:ext>
            </a:extLst>
          </p:cNvPr>
          <p:cNvSpPr>
            <a:spLocks xmlns:a="http://schemas.openxmlformats.org/drawingml/2006/main" noGrp="1"/>
          </p:cNvSpPr>
          <p:nvPr/>
        </p:nvSpPr>
        <p:spPr>
          <a:xfrm xmlns:a="http://schemas.openxmlformats.org/drawingml/2006/main">
            <a:off x="2895600" y="2971800"/>
            <a:ext cx="14859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111111"/>
                </a:solidFill>
                <a:latin typeface="Helvetica Neue"/>
                <a:ea typeface="Helvetica Neue"/>
                <a:cs typeface="Helvetica Neue"/>
              </a:defRPr>
            </a:pPr>
            <a:r>
              <a:t>Translate</a:t>
            </a:r>
          </a:p>
        </p:txBody>
      </p:sp>
      <p:sp>
        <p:nvSpPr>
          <p:cNvPr id="14" name="method-body-1">
            <a:extLst xmlns:a="http://schemas.openxmlformats.org/drawingml/2006/main">
              <a:ext uri="{FF2B5EF4-FFF2-40B4-BE49-F238E27FC236}">
                <a16:creationId xmlns:a16="http://schemas.microsoft.com/office/drawing/2014/main" id="{A5B84559-1CF0-471A-B932-E55A9E13AC87}"/>
              </a:ext>
            </a:extLst>
          </p:cNvPr>
          <p:cNvSpPr>
            <a:spLocks xmlns:a="http://schemas.openxmlformats.org/drawingml/2006/main" noGrp="1"/>
          </p:cNvSpPr>
          <p:nvPr/>
        </p:nvSpPr>
        <p:spPr>
          <a:xfrm xmlns:a="http://schemas.openxmlformats.org/drawingml/2006/main">
            <a:off x="2895600" y="3562350"/>
            <a:ext cx="1485900" cy="590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0">
                <a:solidFill>
                  <a:srgbClr val="5B6470"/>
                </a:solidFill>
                <a:latin typeface="Helvetica Neue"/>
                <a:ea typeface="Helvetica Neue"/>
                <a:cs typeface="Helvetica Neue"/>
              </a:defRPr>
            </a:pPr>
            <a:r>
              <a:t>Structured LLM prompts</a:t>
            </a:r>
          </a:p>
        </p:txBody>
      </p:sp>
      <p:sp>
        <p:nvSpPr>
          <p:cNvPr id="15" name="method-node-2">
            <a:extLst xmlns:a="http://schemas.openxmlformats.org/drawingml/2006/main">
              <a:ext uri="{FF2B5EF4-FFF2-40B4-BE49-F238E27FC236}">
                <a16:creationId xmlns:a16="http://schemas.microsoft.com/office/drawing/2014/main" id="{539C0DEA-7F71-49FA-972F-21D4FD9C2AC9}"/>
              </a:ext>
            </a:extLst>
          </p:cNvPr>
          <p:cNvSpPr>
            <a:spLocks xmlns:a="http://schemas.openxmlformats.org/drawingml/2006/main" noGrp="1"/>
          </p:cNvSpPr>
          <p:nvPr/>
        </p:nvSpPr>
        <p:spPr>
          <a:xfrm xmlns:a="http://schemas.openxmlformats.org/drawingml/2006/main">
            <a:off x="4972050" y="2209800"/>
            <a:ext cx="1866900" cy="2247900"/>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16" name="method-num-2">
            <a:extLst xmlns:a="http://schemas.openxmlformats.org/drawingml/2006/main">
              <a:ext uri="{FF2B5EF4-FFF2-40B4-BE49-F238E27FC236}">
                <a16:creationId xmlns:a16="http://schemas.microsoft.com/office/drawing/2014/main" id="{AF2D0B4E-B07C-42E4-B740-D5356C578263}"/>
              </a:ext>
            </a:extLst>
          </p:cNvPr>
          <p:cNvSpPr>
            <a:spLocks xmlns:a="http://schemas.openxmlformats.org/drawingml/2006/main" noGrp="1"/>
          </p:cNvSpPr>
          <p:nvPr/>
        </p:nvSpPr>
        <p:spPr>
          <a:xfrm xmlns:a="http://schemas.openxmlformats.org/drawingml/2006/main">
            <a:off x="5181600" y="2381250"/>
            <a:ext cx="4762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2457A6"/>
                </a:solidFill>
                <a:latin typeface="Helvetica Neue"/>
                <a:ea typeface="Helvetica Neue"/>
                <a:cs typeface="Helvetica Neue"/>
              </a:defRPr>
            </a:pPr>
            <a:r>
              <a:t>3</a:t>
            </a:r>
          </a:p>
        </p:txBody>
      </p:sp>
      <p:sp>
        <p:nvSpPr>
          <p:cNvPr id="17" name="method-heading-2">
            <a:extLst xmlns:a="http://schemas.openxmlformats.org/drawingml/2006/main">
              <a:ext uri="{FF2B5EF4-FFF2-40B4-BE49-F238E27FC236}">
                <a16:creationId xmlns:a16="http://schemas.microsoft.com/office/drawing/2014/main" id="{808C26D5-70A4-4783-B391-02CB2DD76FC0}"/>
              </a:ext>
            </a:extLst>
          </p:cNvPr>
          <p:cNvSpPr>
            <a:spLocks xmlns:a="http://schemas.openxmlformats.org/drawingml/2006/main" noGrp="1"/>
          </p:cNvSpPr>
          <p:nvPr/>
        </p:nvSpPr>
        <p:spPr>
          <a:xfrm xmlns:a="http://schemas.openxmlformats.org/drawingml/2006/main">
            <a:off x="5181600" y="2971800"/>
            <a:ext cx="14859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111111"/>
                </a:solidFill>
                <a:latin typeface="Helvetica Neue"/>
                <a:ea typeface="Helvetica Neue"/>
                <a:cs typeface="Helvetica Neue"/>
              </a:defRPr>
            </a:pPr>
            <a:r>
              <a:t>Verify</a:t>
            </a:r>
          </a:p>
        </p:txBody>
      </p:sp>
      <p:sp>
        <p:nvSpPr>
          <p:cNvPr id="18" name="method-body-2">
            <a:extLst xmlns:a="http://schemas.openxmlformats.org/drawingml/2006/main">
              <a:ext uri="{FF2B5EF4-FFF2-40B4-BE49-F238E27FC236}">
                <a16:creationId xmlns:a16="http://schemas.microsoft.com/office/drawing/2014/main" id="{697C5B5F-767D-4019-A8CC-CADF1415FDAD}"/>
              </a:ext>
            </a:extLst>
          </p:cNvPr>
          <p:cNvSpPr>
            <a:spLocks xmlns:a="http://schemas.openxmlformats.org/drawingml/2006/main" noGrp="1"/>
          </p:cNvSpPr>
          <p:nvPr/>
        </p:nvSpPr>
        <p:spPr>
          <a:xfrm xmlns:a="http://schemas.openxmlformats.org/drawingml/2006/main">
            <a:off x="5181600" y="3562350"/>
            <a:ext cx="1485900" cy="590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0">
                <a:solidFill>
                  <a:srgbClr val="5B6470"/>
                </a:solidFill>
                <a:latin typeface="Helvetica Neue"/>
                <a:ea typeface="Helvetica Neue"/>
                <a:cs typeface="Helvetica Neue"/>
              </a:defRPr>
            </a:pPr>
            <a:r>
              <a:t>Row-level equivalence</a:t>
            </a:r>
          </a:p>
        </p:txBody>
      </p:sp>
      <p:sp>
        <p:nvSpPr>
          <p:cNvPr id="19" name="method-node-3">
            <a:extLst xmlns:a="http://schemas.openxmlformats.org/drawingml/2006/main">
              <a:ext uri="{FF2B5EF4-FFF2-40B4-BE49-F238E27FC236}">
                <a16:creationId xmlns:a16="http://schemas.microsoft.com/office/drawing/2014/main" id="{F60745C5-7E86-428A-9A28-286AF901432D}"/>
              </a:ext>
            </a:extLst>
          </p:cNvPr>
          <p:cNvSpPr>
            <a:spLocks xmlns:a="http://schemas.openxmlformats.org/drawingml/2006/main" noGrp="1"/>
          </p:cNvSpPr>
          <p:nvPr/>
        </p:nvSpPr>
        <p:spPr>
          <a:xfrm xmlns:a="http://schemas.openxmlformats.org/drawingml/2006/main">
            <a:off x="7258050" y="2209800"/>
            <a:ext cx="1866900" cy="22479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20" name="method-num-3">
            <a:extLst xmlns:a="http://schemas.openxmlformats.org/drawingml/2006/main">
              <a:ext uri="{FF2B5EF4-FFF2-40B4-BE49-F238E27FC236}">
                <a16:creationId xmlns:a16="http://schemas.microsoft.com/office/drawing/2014/main" id="{2CC2B559-D4AE-459C-9A76-3EE3CDE859FD}"/>
              </a:ext>
            </a:extLst>
          </p:cNvPr>
          <p:cNvSpPr>
            <a:spLocks xmlns:a="http://schemas.openxmlformats.org/drawingml/2006/main" noGrp="1"/>
          </p:cNvSpPr>
          <p:nvPr/>
        </p:nvSpPr>
        <p:spPr>
          <a:xfrm xmlns:a="http://schemas.openxmlformats.org/drawingml/2006/main">
            <a:off x="7467600" y="2381250"/>
            <a:ext cx="4762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2457A6"/>
                </a:solidFill>
                <a:latin typeface="Helvetica Neue"/>
                <a:ea typeface="Helvetica Neue"/>
                <a:cs typeface="Helvetica Neue"/>
              </a:defRPr>
            </a:pPr>
            <a:r>
              <a:t>4</a:t>
            </a:r>
          </a:p>
        </p:txBody>
      </p:sp>
      <p:sp>
        <p:nvSpPr>
          <p:cNvPr id="21" name="method-heading-3">
            <a:extLst xmlns:a="http://schemas.openxmlformats.org/drawingml/2006/main">
              <a:ext uri="{FF2B5EF4-FFF2-40B4-BE49-F238E27FC236}">
                <a16:creationId xmlns:a16="http://schemas.microsoft.com/office/drawing/2014/main" id="{F7B0C35C-E2DD-4B31-AB8D-1E9D7572FD8D}"/>
              </a:ext>
            </a:extLst>
          </p:cNvPr>
          <p:cNvSpPr>
            <a:spLocks xmlns:a="http://schemas.openxmlformats.org/drawingml/2006/main" noGrp="1"/>
          </p:cNvSpPr>
          <p:nvPr/>
        </p:nvSpPr>
        <p:spPr>
          <a:xfrm xmlns:a="http://schemas.openxmlformats.org/drawingml/2006/main">
            <a:off x="7467600" y="2971800"/>
            <a:ext cx="14859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111111"/>
                </a:solidFill>
                <a:latin typeface="Helvetica Neue"/>
                <a:ea typeface="Helvetica Neue"/>
                <a:cs typeface="Helvetica Neue"/>
              </a:defRPr>
            </a:pPr>
            <a:r>
              <a:t>Extend</a:t>
            </a:r>
          </a:p>
        </p:txBody>
      </p:sp>
      <p:sp>
        <p:nvSpPr>
          <p:cNvPr id="22" name="method-body-3">
            <a:extLst xmlns:a="http://schemas.openxmlformats.org/drawingml/2006/main">
              <a:ext uri="{FF2B5EF4-FFF2-40B4-BE49-F238E27FC236}">
                <a16:creationId xmlns:a16="http://schemas.microsoft.com/office/drawing/2014/main" id="{FB009478-BBC6-46C1-9841-6D0E9B8B4ECE}"/>
              </a:ext>
            </a:extLst>
          </p:cNvPr>
          <p:cNvSpPr>
            <a:spLocks xmlns:a="http://schemas.openxmlformats.org/drawingml/2006/main" noGrp="1"/>
          </p:cNvSpPr>
          <p:nvPr/>
        </p:nvSpPr>
        <p:spPr>
          <a:xfrm xmlns:a="http://schemas.openxmlformats.org/drawingml/2006/main">
            <a:off x="7467600" y="3562350"/>
            <a:ext cx="1485900" cy="590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0">
                <a:solidFill>
                  <a:srgbClr val="5B6470"/>
                </a:solidFill>
                <a:latin typeface="Helvetica Neue"/>
                <a:ea typeface="Helvetica Neue"/>
                <a:cs typeface="Helvetica Neue"/>
              </a:defRPr>
            </a:pPr>
            <a:r>
              <a:t>Adaptive threshold, Top-3</a:t>
            </a:r>
          </a:p>
        </p:txBody>
      </p:sp>
      <p:sp>
        <p:nvSpPr>
          <p:cNvPr id="23" name="method-node-4">
            <a:extLst xmlns:a="http://schemas.openxmlformats.org/drawingml/2006/main">
              <a:ext uri="{FF2B5EF4-FFF2-40B4-BE49-F238E27FC236}">
                <a16:creationId xmlns:a16="http://schemas.microsoft.com/office/drawing/2014/main" id="{7771F6E6-15BD-4230-A196-32CFE361ED54}"/>
              </a:ext>
            </a:extLst>
          </p:cNvPr>
          <p:cNvSpPr>
            <a:spLocks xmlns:a="http://schemas.openxmlformats.org/drawingml/2006/main" noGrp="1"/>
          </p:cNvSpPr>
          <p:nvPr/>
        </p:nvSpPr>
        <p:spPr>
          <a:xfrm xmlns:a="http://schemas.openxmlformats.org/drawingml/2006/main">
            <a:off x="9544050" y="2209800"/>
            <a:ext cx="1866900" cy="22479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24" name="method-num-4">
            <a:extLst xmlns:a="http://schemas.openxmlformats.org/drawingml/2006/main">
              <a:ext uri="{FF2B5EF4-FFF2-40B4-BE49-F238E27FC236}">
                <a16:creationId xmlns:a16="http://schemas.microsoft.com/office/drawing/2014/main" id="{4978192C-8B10-415A-BA35-0BAF48AF7DEE}"/>
              </a:ext>
            </a:extLst>
          </p:cNvPr>
          <p:cNvSpPr>
            <a:spLocks xmlns:a="http://schemas.openxmlformats.org/drawingml/2006/main" noGrp="1"/>
          </p:cNvSpPr>
          <p:nvPr/>
        </p:nvSpPr>
        <p:spPr>
          <a:xfrm xmlns:a="http://schemas.openxmlformats.org/drawingml/2006/main">
            <a:off x="9753600" y="2381250"/>
            <a:ext cx="4762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2457A6"/>
                </a:solidFill>
                <a:latin typeface="Helvetica Neue"/>
                <a:ea typeface="Helvetica Neue"/>
                <a:cs typeface="Helvetica Neue"/>
              </a:defRPr>
            </a:pPr>
            <a:r>
              <a:t>5</a:t>
            </a:r>
          </a:p>
        </p:txBody>
      </p:sp>
      <p:sp>
        <p:nvSpPr>
          <p:cNvPr id="25" name="method-heading-4">
            <a:extLst xmlns:a="http://schemas.openxmlformats.org/drawingml/2006/main">
              <a:ext uri="{FF2B5EF4-FFF2-40B4-BE49-F238E27FC236}">
                <a16:creationId xmlns:a16="http://schemas.microsoft.com/office/drawing/2014/main" id="{0123E294-652E-44C3-858F-D8E722AAFE27}"/>
              </a:ext>
            </a:extLst>
          </p:cNvPr>
          <p:cNvSpPr>
            <a:spLocks xmlns:a="http://schemas.openxmlformats.org/drawingml/2006/main" noGrp="1"/>
          </p:cNvSpPr>
          <p:nvPr/>
        </p:nvSpPr>
        <p:spPr>
          <a:xfrm xmlns:a="http://schemas.openxmlformats.org/drawingml/2006/main">
            <a:off x="9753600" y="2971800"/>
            <a:ext cx="14859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111111"/>
                </a:solidFill>
                <a:latin typeface="Helvetica Neue"/>
                <a:ea typeface="Helvetica Neue"/>
                <a:cs typeface="Helvetica Neue"/>
              </a:defRPr>
            </a:pPr>
            <a:r>
              <a:t>Evaluate</a:t>
            </a:r>
          </a:p>
        </p:txBody>
      </p:sp>
      <p:sp>
        <p:nvSpPr>
          <p:cNvPr id="26" name="method-body-4">
            <a:extLst xmlns:a="http://schemas.openxmlformats.org/drawingml/2006/main">
              <a:ext uri="{FF2B5EF4-FFF2-40B4-BE49-F238E27FC236}">
                <a16:creationId xmlns:a16="http://schemas.microsoft.com/office/drawing/2014/main" id="{8B794380-2282-420D-B412-F1C3BF7E8BB7}"/>
              </a:ext>
            </a:extLst>
          </p:cNvPr>
          <p:cNvSpPr>
            <a:spLocks xmlns:a="http://schemas.openxmlformats.org/drawingml/2006/main" noGrp="1"/>
          </p:cNvSpPr>
          <p:nvPr/>
        </p:nvSpPr>
        <p:spPr>
          <a:xfrm xmlns:a="http://schemas.openxmlformats.org/drawingml/2006/main">
            <a:off x="9753600" y="3562350"/>
            <a:ext cx="1485900" cy="590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0">
                <a:solidFill>
                  <a:srgbClr val="5B6470"/>
                </a:solidFill>
                <a:latin typeface="Helvetica Neue"/>
                <a:ea typeface="Helvetica Neue"/>
                <a:cs typeface="Helvetica Neue"/>
              </a:defRPr>
            </a:pPr>
            <a:r>
              <a:t>Sensitivity and limits</a:t>
            </a:r>
          </a:p>
        </p:txBody>
      </p:sp>
      <p:sp>
        <p:nvSpPr>
          <p:cNvPr id="27" name="method-principle">
            <a:extLst xmlns:a="http://schemas.openxmlformats.org/drawingml/2006/main">
              <a:ext uri="{FF2B5EF4-FFF2-40B4-BE49-F238E27FC236}">
                <a16:creationId xmlns:a16="http://schemas.microsoft.com/office/drawing/2014/main" id="{6B7827FA-DB5E-40A8-9B82-CA398146B024}"/>
              </a:ext>
            </a:extLst>
          </p:cNvPr>
          <p:cNvSpPr>
            <a:spLocks xmlns:a="http://schemas.openxmlformats.org/drawingml/2006/main" noGrp="1"/>
          </p:cNvSpPr>
          <p:nvPr/>
        </p:nvSpPr>
        <p:spPr>
          <a:xfrm xmlns:a="http://schemas.openxmlformats.org/drawingml/2006/main">
            <a:off x="400050" y="5067300"/>
            <a:ext cx="8572500" cy="4953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75" b="1">
                <a:solidFill>
                  <a:srgbClr val="2457A6"/>
                </a:solidFill>
                <a:latin typeface="Helvetica Neue"/>
                <a:ea typeface="Helvetica Neue"/>
                <a:cs typeface="Helvetica Neue"/>
              </a:defRPr>
            </a:pPr>
            <a:r>
              <a:t>Verification is the gate between translation and extension.</a:t>
            </a:r>
          </a:p>
        </p:txBody>
      </p:sp>
      <p:sp>
        <p:nvSpPr>
          <p:cNvPr id="28" name="source-4">
            <a:extLst xmlns:a="http://schemas.openxmlformats.org/drawingml/2006/main">
              <a:ext uri="{FF2B5EF4-FFF2-40B4-BE49-F238E27FC236}">
                <a16:creationId xmlns:a16="http://schemas.microsoft.com/office/drawing/2014/main" id="{C944425B-3837-422B-90FE-7D0E712028CD}"/>
              </a:ext>
            </a:extLst>
          </p:cNvPr>
          <p:cNvSpPr>
            <a:spLocks xmlns:a="http://schemas.openxmlformats.org/drawingml/2006/main" noGrp="1"/>
          </p:cNvSpPr>
          <p:nvPr/>
        </p:nvSpPr>
        <p:spPr>
          <a:xfrm xmlns:a="http://schemas.openxmlformats.org/drawingml/2006/main">
            <a:off x="400050" y="6419850"/>
            <a:ext cx="1028700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00" b="0">
                <a:solidFill>
                  <a:srgbClr val="5B6470"/>
                </a:solidFill>
                <a:latin typeface="Helvetica Neue"/>
                <a:ea typeface="Helvetica Neue"/>
                <a:cs typeface="Helvetica Neue"/>
              </a:defRPr>
            </a:pPr>
            <a:r>
              <a:t>Method derived from the formal project phases</a:t>
            </a:r>
          </a:p>
        </p:txBody>
      </p:sp>
      <p:sp>
        <p:nvSpPr>
          <p:cNvPr id="29" name="slide-number-4">
            <a:extLst xmlns:a="http://schemas.openxmlformats.org/drawingml/2006/main">
              <a:ext uri="{FF2B5EF4-FFF2-40B4-BE49-F238E27FC236}">
                <a16:creationId xmlns:a16="http://schemas.microsoft.com/office/drawing/2014/main" id="{D3E2C3D7-CEE5-4200-A2E6-EBD9B3D02AAC}"/>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4</a:t>
            </a:r>
          </a:p>
        </p:txBody>
      </p:sp>
    </p:spTree>
    <p:extLst>
      <p:ext uri="{BB962C8B-B14F-4D97-AF65-F5344CB8AC3E}">
        <p14:creationId xmlns:p14="http://schemas.microsoft.com/office/powerpoint/2010/main" val="167901074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itle-5">
            <a:extLst xmlns:a="http://schemas.openxmlformats.org/drawingml/2006/main">
              <a:ext uri="{FF2B5EF4-FFF2-40B4-BE49-F238E27FC236}">
                <a16:creationId xmlns:a16="http://schemas.microsoft.com/office/drawing/2014/main" id="{FE9E3D19-1DE5-495F-A055-392D55626FE5}"/>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fontScale="89803"/>
          </a:bodyPr>
          <a:lstStyle xmlns:a="http://schemas.openxmlformats.org/drawingml/2006/main"/>
          <a:p xmlns:a="http://schemas.openxmlformats.org/drawingml/2006/main">
            <a:pPr algn="l">
              <a:buNone/>
              <a:defRPr sz="3600" b="1">
                <a:solidFill>
                  <a:srgbClr val="111111"/>
                </a:solidFill>
                <a:latin typeface="Helvetica Neue"/>
                <a:ea typeface="Helvetica Neue"/>
                <a:cs typeface="Helvetica Neue"/>
              </a:defRPr>
            </a:pPr>
            <a:r>
              <a:t>CT07 separates original generation from validated runners</a:t>
            </a:r>
          </a:p>
        </p:txBody>
      </p:sp>
      <p:sp>
        <p:nvSpPr>
          <p:cNvPr id="2" name="title-rule-5">
            <a:extLst xmlns:a="http://schemas.openxmlformats.org/drawingml/2006/main">
              <a:ext uri="{FF2B5EF4-FFF2-40B4-BE49-F238E27FC236}">
                <a16:creationId xmlns:a16="http://schemas.microsoft.com/office/drawing/2014/main" id="{865140B9-4D32-4C8F-B4F5-91DE62CF9326}"/>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ct07-image-frame">
            <a:extLst xmlns:a="http://schemas.openxmlformats.org/drawingml/2006/main">
              <a:ext uri="{FF2B5EF4-FFF2-40B4-BE49-F238E27FC236}">
                <a16:creationId xmlns:a16="http://schemas.microsoft.com/office/drawing/2014/main" id="{A54C5E64-5845-4B89-9EDA-D9546542FC89}"/>
              </a:ext>
            </a:extLst>
          </p:cNvPr>
          <p:cNvSpPr>
            <a:spLocks xmlns:a="http://schemas.openxmlformats.org/drawingml/2006/main" noGrp="1"/>
          </p:cNvSpPr>
          <p:nvPr/>
        </p:nvSpPr>
        <p:spPr>
          <a:xfrm xmlns:a="http://schemas.openxmlformats.org/drawingml/2006/main">
            <a:off x="400050" y="1695450"/>
            <a:ext cx="6553200" cy="4095750"/>
          </a:xfrm>
          <a:prstGeom xmlns:a="http://schemas.openxmlformats.org/drawingml/2006/main" prst="rect">
            <a:avLst/>
          </a:prstGeom>
          <a:solidFill xmlns:a="http://schemas.openxmlformats.org/drawingml/2006/main">
            <a:srgbClr val="FAFAFA"/>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ct07-caption">
            <a:extLst xmlns:a="http://schemas.openxmlformats.org/drawingml/2006/main">
              <a:ext uri="{FF2B5EF4-FFF2-40B4-BE49-F238E27FC236}">
                <a16:creationId xmlns:a16="http://schemas.microsoft.com/office/drawing/2014/main" id="{FD154E61-068D-431F-9A8E-2E1C8A4673CC}"/>
              </a:ext>
            </a:extLst>
          </p:cNvPr>
          <p:cNvSpPr>
            <a:spLocks xmlns:a="http://schemas.openxmlformats.org/drawingml/2006/main" noGrp="1"/>
          </p:cNvSpPr>
          <p:nvPr/>
        </p:nvSpPr>
        <p:spPr>
          <a:xfrm xmlns:a="http://schemas.openxmlformats.org/drawingml/2006/main">
            <a:off x="590550" y="5848350"/>
            <a:ext cx="619125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B6470"/>
                </a:solidFill>
                <a:latin typeface="Helvetica Neue"/>
                <a:ea typeface="Helvetica Neue"/>
                <a:cs typeface="Helvetica Neue"/>
              </a:defRPr>
            </a:pPr>
            <a:r>
              <a:t>MATLAB-oracle-validated candidate-derived output; not an unmodified LLM generation</a:t>
            </a:r>
          </a:p>
        </p:txBody>
      </p:sp>
      <p:sp>
        <p:nvSpPr>
          <p:cNvPr id="5" name="ct07-heading">
            <a:extLst xmlns:a="http://schemas.openxmlformats.org/drawingml/2006/main">
              <a:ext uri="{FF2B5EF4-FFF2-40B4-BE49-F238E27FC236}">
                <a16:creationId xmlns:a16="http://schemas.microsoft.com/office/drawing/2014/main" id="{9ACC5498-AB54-410D-A25E-A57FC9C7F76A}"/>
              </a:ext>
            </a:extLst>
          </p:cNvPr>
          <p:cNvSpPr>
            <a:spLocks xmlns:a="http://schemas.openxmlformats.org/drawingml/2006/main" noGrp="1"/>
          </p:cNvSpPr>
          <p:nvPr/>
        </p:nvSpPr>
        <p:spPr>
          <a:xfrm xmlns:a="http://schemas.openxmlformats.org/drawingml/2006/main">
            <a:off x="7372350" y="1809750"/>
            <a:ext cx="40005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950" b="1">
                <a:solidFill>
                  <a:srgbClr val="111111"/>
                </a:solidFill>
                <a:latin typeface="Helvetica Neue"/>
                <a:ea typeface="Helvetica Neue"/>
                <a:cs typeface="Helvetica Neue"/>
              </a:defRPr>
            </a:pPr>
            <a:r>
              <a:t>Experiment design</a:t>
            </a:r>
          </a:p>
        </p:txBody>
      </p:sp>
      <p:sp>
        <p:nvSpPr>
          <p:cNvPr id="6" name="ct07-body">
            <a:extLst xmlns:a="http://schemas.openxmlformats.org/drawingml/2006/main">
              <a:ext uri="{FF2B5EF4-FFF2-40B4-BE49-F238E27FC236}">
                <a16:creationId xmlns:a16="http://schemas.microsoft.com/office/drawing/2014/main" id="{FFF76EE9-BAC1-491C-A753-92F186C9986E}"/>
              </a:ext>
            </a:extLst>
          </p:cNvPr>
          <p:cNvSpPr>
            <a:spLocks xmlns:a="http://schemas.openxmlformats.org/drawingml/2006/main" noGrp="1"/>
          </p:cNvSpPr>
          <p:nvPr/>
        </p:nvSpPr>
        <p:spPr>
          <a:xfrm xmlns:a="http://schemas.openxmlformats.org/drawingml/2006/main">
            <a:off x="7372350" y="2400300"/>
            <a:ext cx="3962400" cy="1485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0">
                <a:solidFill>
                  <a:srgbClr val="111111"/>
                </a:solidFill>
                <a:latin typeface="Helvetica Neue"/>
                <a:ea typeface="Helvetica Neue"/>
                <a:cs typeface="Helvetica Neue"/>
              </a:defRPr>
            </a:pPr>
            <a:r>
              <a:t>Multiple LLMs and SMOP
Python and Julia targets
Five expected plot types
Prompt, error and repair logs</a:t>
            </a:r>
          </a:p>
        </p:txBody>
      </p:sp>
      <p:sp>
        <p:nvSpPr>
          <p:cNvPr id="7" name="ct07-mid-rule">
            <a:extLst xmlns:a="http://schemas.openxmlformats.org/drawingml/2006/main">
              <a:ext uri="{FF2B5EF4-FFF2-40B4-BE49-F238E27FC236}">
                <a16:creationId xmlns:a16="http://schemas.microsoft.com/office/drawing/2014/main" id="{C8EB340D-ACD6-45A1-8E60-A5F9B19E7264}"/>
              </a:ext>
            </a:extLst>
          </p:cNvPr>
          <p:cNvSpPr>
            <a:spLocks xmlns:a="http://schemas.openxmlformats.org/drawingml/2006/main" noGrp="1"/>
          </p:cNvSpPr>
          <p:nvPr/>
        </p:nvSpPr>
        <p:spPr>
          <a:xfrm xmlns:a="http://schemas.openxmlformats.org/drawingml/2006/main">
            <a:off x="7372350" y="4114800"/>
            <a:ext cx="39624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8" name="ct07-outcome-heading">
            <a:extLst xmlns:a="http://schemas.openxmlformats.org/drawingml/2006/main">
              <a:ext uri="{FF2B5EF4-FFF2-40B4-BE49-F238E27FC236}">
                <a16:creationId xmlns:a16="http://schemas.microsoft.com/office/drawing/2014/main" id="{0D7C95E7-39DE-4214-9B28-A79136A590E6}"/>
              </a:ext>
            </a:extLst>
          </p:cNvPr>
          <p:cNvSpPr>
            <a:spLocks xmlns:a="http://schemas.openxmlformats.org/drawingml/2006/main" noGrp="1"/>
          </p:cNvSpPr>
          <p:nvPr/>
        </p:nvSpPr>
        <p:spPr>
          <a:xfrm xmlns:a="http://schemas.openxmlformats.org/drawingml/2006/main">
            <a:off x="7372350" y="4400550"/>
            <a:ext cx="40005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950" b="1">
                <a:solidFill>
                  <a:srgbClr val="2457A6"/>
                </a:solidFill>
                <a:latin typeface="Helvetica Neue"/>
                <a:ea typeface="Helvetica Neue"/>
                <a:cs typeface="Helvetica Neue"/>
              </a:defRPr>
            </a:pPr>
            <a:r>
              <a:t>Outcome</a:t>
            </a:r>
          </a:p>
        </p:txBody>
      </p:sp>
      <p:sp>
        <p:nvSpPr>
          <p:cNvPr id="9" name="ct07-outcome">
            <a:extLst xmlns:a="http://schemas.openxmlformats.org/drawingml/2006/main">
              <a:ext uri="{FF2B5EF4-FFF2-40B4-BE49-F238E27FC236}">
                <a16:creationId xmlns:a16="http://schemas.microsoft.com/office/drawing/2014/main" id="{82C7AE6E-0799-48BA-B93D-5154B6976905}"/>
              </a:ext>
            </a:extLst>
          </p:cNvPr>
          <p:cNvSpPr>
            <a:spLocks xmlns:a="http://schemas.openxmlformats.org/drawingml/2006/main" noGrp="1"/>
          </p:cNvSpPr>
          <p:nvPr/>
        </p:nvSpPr>
        <p:spPr>
          <a:xfrm xmlns:a="http://schemas.openxmlformats.org/drawingml/2006/main">
            <a:off x="7372350" y="4933950"/>
            <a:ext cx="3962400" cy="1066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111111"/>
                </a:solidFill>
                <a:latin typeface="Helvetica Neue"/>
                <a:ea typeface="Helvetica Neue"/>
                <a:cs typeface="Helvetica Neue"/>
              </a:defRPr>
            </a:pPr>
            <a:r>
              <a:t>Eight candidate-derived validation runners match the MATLAB oracle. Their numerical results are reported separately from original-generation quality.</a:t>
            </a:r>
          </a:p>
        </p:txBody>
      </p:sp>
      <p:sp>
        <p:nvSpPr>
          <p:cNvPr id="10" name="source-5">
            <a:extLst xmlns:a="http://schemas.openxmlformats.org/drawingml/2006/main">
              <a:ext uri="{FF2B5EF4-FFF2-40B4-BE49-F238E27FC236}">
                <a16:creationId xmlns:a16="http://schemas.microsoft.com/office/drawing/2014/main" id="{FC4E8930-A342-4AD6-AA82-B09F69D4DA8C}"/>
              </a:ext>
            </a:extLst>
          </p:cNvPr>
          <p:cNvSpPr>
            <a:spLocks xmlns:a="http://schemas.openxmlformats.org/drawingml/2006/main" noGrp="1"/>
          </p:cNvSpPr>
          <p:nvPr/>
        </p:nvSpPr>
        <p:spPr>
          <a:xfrm xmlns:a="http://schemas.openxmlformats.org/drawingml/2006/main">
            <a:off x="400050" y="6419850"/>
            <a:ext cx="1028700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a:solidFill>
                  <a:srgbClr val="5B6470"/>
                </a:solidFill>
                <a:latin typeface="Helvetica Neue"/>
                <a:ea typeface="Helvetica Neue"/>
                <a:cs typeface="Helvetica Neue"/>
              </a:defRPr>
            </a:pPr>
            <a:r>
              <a:t>Sources: CT07 comparison summary and experiment record</a:t>
            </a:r>
          </a:p>
        </p:txBody>
      </p:sp>
      <p:sp>
        <p:nvSpPr>
          <p:cNvPr id="11" name="slide-number-5">
            <a:extLst xmlns:a="http://schemas.openxmlformats.org/drawingml/2006/main">
              <a:ext uri="{FF2B5EF4-FFF2-40B4-BE49-F238E27FC236}">
                <a16:creationId xmlns:a16="http://schemas.microsoft.com/office/drawing/2014/main" id="{448D4D01-3241-49C3-BCA4-5DD4EE2877EF}"/>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5</a:t>
            </a:r>
          </a:p>
        </p:txBody>
      </p:sp>
      <p:pic>
        <p:nvPicPr>
          <p:cNvPr id="25" name="图片 23"/>
          <p:cNvPicPr>
            <a:picLocks xmlns:a="http://schemas.openxmlformats.org/drawingml/2006/main" noChangeAspect="1"/>
          </p:cNvPicPr>
          <p:nvPr/>
        </p:nvPicPr>
        <p:blipFill>
          <a:blip xmlns:r="http://schemas.openxmlformats.org/officeDocument/2006/relationships" xmlns:a="http://schemas.openxmlformats.org/drawingml/2006/main" r:embed="R04e2f41d7eb14189"/>
          <a:stretch xmlns:a="http://schemas.openxmlformats.org/drawingml/2006/main"/>
        </p:blipFill>
        <p:spPr>
          <a:xfrm xmlns:a="http://schemas.openxmlformats.org/drawingml/2006/main">
            <a:off x="819150" y="1847850"/>
            <a:ext cx="5715000" cy="3810000"/>
          </a:xfrm>
          <a:prstGeom xmlns:a="http://schemas.openxmlformats.org/drawingml/2006/main" prst="rect">
            <a:avLst/>
          </a:prstGeom>
        </p:spPr>
      </p:pic>
    </p:spTree>
    <p:extLst>
      <p:ext uri="{BB962C8B-B14F-4D97-AF65-F5344CB8AC3E}">
        <p14:creationId xmlns:p14="http://schemas.microsoft.com/office/powerpoint/2010/main" val="11533679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4" name="图片 10"/>
          <p:cNvPicPr>
            <a:picLocks xmlns:a="http://schemas.openxmlformats.org/drawingml/2006/main" noChangeAspect="1"/>
          </p:cNvPicPr>
          <p:nvPr/>
        </p:nvPicPr>
        <p:blipFill>
          <a:blip xmlns:r="http://schemas.openxmlformats.org/officeDocument/2006/relationships" xmlns:a="http://schemas.openxmlformats.org/drawingml/2006/main" r:embed="Re86c80abb1f14670"/>
          <a:stretch xmlns:a="http://schemas.openxmlformats.org/drawingml/2006/main">
            <a:fillRect l="0" t="0" r="0" b="0"/>
          </a:stretch>
        </p:blipFill>
        <p:spPr>
          <a:xfrm xmlns:a="http://schemas.openxmlformats.org/drawingml/2006/main">
            <a:off x="140660" y="1150375"/>
            <a:ext cx="3782680" cy="1967374"/>
          </a:xfrm>
          <a:prstGeom xmlns:a="http://schemas.openxmlformats.org/drawingml/2006/main" prst="rect">
            <a:avLst/>
          </a:prstGeom>
        </p:spPr>
      </p:pic>
      <p:pic>
        <p:nvPicPr>
          <p:cNvPr id="15" name="图片 1"/>
          <p:cNvPicPr>
            <a:picLocks xmlns:a="http://schemas.openxmlformats.org/drawingml/2006/main" noChangeAspect="1"/>
          </p:cNvPicPr>
          <p:nvPr/>
        </p:nvPicPr>
        <p:blipFill>
          <a:blip xmlns:r="http://schemas.openxmlformats.org/officeDocument/2006/relationships" xmlns:a="http://schemas.openxmlformats.org/drawingml/2006/main" r:embed="R82b9b654887144da"/>
          <a:stretch xmlns:a="http://schemas.openxmlformats.org/drawingml/2006/main">
            <a:fillRect l="0" t="0" r="0" b="0"/>
          </a:stretch>
        </p:blipFill>
        <p:spPr>
          <a:xfrm xmlns:a="http://schemas.openxmlformats.org/drawingml/2006/main">
            <a:off x="0" y="3525172"/>
            <a:ext cx="4064000" cy="3048000"/>
          </a:xfrm>
          <a:prstGeom xmlns:a="http://schemas.openxmlformats.org/drawingml/2006/main" prst="rect">
            <a:avLst/>
          </a:prstGeom>
        </p:spPr>
      </p:pic>
      <p:pic>
        <p:nvPicPr>
          <p:cNvPr id="16" name="图片 2"/>
          <p:cNvPicPr>
            <a:picLocks xmlns:a="http://schemas.openxmlformats.org/drawingml/2006/main" noChangeAspect="1"/>
          </p:cNvPicPr>
          <p:nvPr/>
        </p:nvPicPr>
        <p:blipFill>
          <a:blip xmlns:r="http://schemas.openxmlformats.org/officeDocument/2006/relationships" xmlns:a="http://schemas.openxmlformats.org/drawingml/2006/main" r:embed="R57bb9af25ba14091"/>
          <a:stretch xmlns:a="http://schemas.openxmlformats.org/drawingml/2006/main">
            <a:fillRect l="0" t="0" r="0" b="0"/>
          </a:stretch>
        </p:blipFill>
        <p:spPr>
          <a:xfrm xmlns:a="http://schemas.openxmlformats.org/drawingml/2006/main">
            <a:off x="3761659" y="197875"/>
            <a:ext cx="4395019" cy="3296264"/>
          </a:xfrm>
          <a:prstGeom xmlns:a="http://schemas.openxmlformats.org/drawingml/2006/main" prst="rect">
            <a:avLst/>
          </a:prstGeom>
        </p:spPr>
      </p:pic>
      <p:pic>
        <p:nvPicPr>
          <p:cNvPr id="17" name="图片 3"/>
          <p:cNvPicPr>
            <a:picLocks xmlns:a="http://schemas.openxmlformats.org/drawingml/2006/main" noChangeAspect="1"/>
          </p:cNvPicPr>
          <p:nvPr/>
        </p:nvPicPr>
        <p:blipFill>
          <a:blip xmlns:r="http://schemas.openxmlformats.org/officeDocument/2006/relationships" xmlns:a="http://schemas.openxmlformats.org/drawingml/2006/main" r:embed="Red71667c616e4886"/>
          <a:stretch xmlns:a="http://schemas.openxmlformats.org/drawingml/2006/main">
            <a:fillRect l="0" t="0" r="0" b="0"/>
          </a:stretch>
        </p:blipFill>
        <p:spPr>
          <a:xfrm xmlns:a="http://schemas.openxmlformats.org/drawingml/2006/main">
            <a:off x="4064000" y="3486150"/>
            <a:ext cx="4064000" cy="3048000"/>
          </a:xfrm>
          <a:prstGeom xmlns:a="http://schemas.openxmlformats.org/drawingml/2006/main" prst="rect">
            <a:avLst/>
          </a:prstGeom>
        </p:spPr>
      </p:pic>
      <p:pic>
        <p:nvPicPr>
          <p:cNvPr id="18" name="图片 4"/>
          <p:cNvPicPr>
            <a:picLocks xmlns:a="http://schemas.openxmlformats.org/drawingml/2006/main" noChangeAspect="1"/>
          </p:cNvPicPr>
          <p:nvPr/>
        </p:nvPicPr>
        <p:blipFill>
          <a:blip xmlns:r="http://schemas.openxmlformats.org/officeDocument/2006/relationships" xmlns:a="http://schemas.openxmlformats.org/drawingml/2006/main" r:embed="R0bf0091c7e4f402c"/>
          <a:stretch xmlns:a="http://schemas.openxmlformats.org/drawingml/2006/main">
            <a:fillRect l="0" t="0" r="0" b="0"/>
          </a:stretch>
        </p:blipFill>
        <p:spPr>
          <a:xfrm xmlns:a="http://schemas.openxmlformats.org/drawingml/2006/main">
            <a:off x="8128000" y="253795"/>
            <a:ext cx="4064000" cy="3048000"/>
          </a:xfrm>
          <a:prstGeom xmlns:a="http://schemas.openxmlformats.org/drawingml/2006/main" prst="rect">
            <a:avLst/>
          </a:prstGeom>
        </p:spPr>
      </p:pic>
      <p:pic>
        <p:nvPicPr>
          <p:cNvPr id="19" name="图片 5"/>
          <p:cNvPicPr>
            <a:picLocks xmlns:a="http://schemas.openxmlformats.org/drawingml/2006/main" noChangeAspect="1"/>
          </p:cNvPicPr>
          <p:nvPr/>
        </p:nvPicPr>
        <p:blipFill>
          <a:blip xmlns:r="http://schemas.openxmlformats.org/officeDocument/2006/relationships" xmlns:a="http://schemas.openxmlformats.org/drawingml/2006/main" r:embed="R7e9c95e0e710454b"/>
          <a:stretch xmlns:a="http://schemas.openxmlformats.org/drawingml/2006/main">
            <a:fillRect l="0" t="0" r="0" b="0"/>
          </a:stretch>
        </p:blipFill>
        <p:spPr>
          <a:xfrm xmlns:a="http://schemas.openxmlformats.org/drawingml/2006/main">
            <a:off x="8128000" y="3363861"/>
            <a:ext cx="4064000" cy="3048000"/>
          </a:xfrm>
          <a:prstGeom xmlns:a="http://schemas.openxmlformats.org/drawingml/2006/main" prst="rect">
            <a:avLst/>
          </a:prstGeom>
        </p:spPr>
      </p:pic>
      <p:sp>
        <p:nvSpPr>
          <p:cNvPr id="7" name="title-5">
            <a:extLst xmlns:a="http://schemas.openxmlformats.org/drawingml/2006/main">
              <a:ext uri="{FF2B5EF4-FFF2-40B4-BE49-F238E27FC236}">
                <a16:creationId xmlns:a16="http://schemas.microsoft.com/office/drawing/2014/main" id="{99570947-5075-DA70-EFA0-7A8CA9C79515}"/>
              </a:ext>
            </a:extLst>
          </p:cNvPr>
          <p:cNvSpPr>
            <a:spLocks xmlns:a="http://schemas.openxmlformats.org/drawingml/2006/main" noGrp="1"/>
          </p:cNvSpPr>
          <p:nvPr/>
        </p:nvSpPr>
        <p:spPr>
          <a:xfrm xmlns:a="http://schemas.openxmlformats.org/drawingml/2006/main">
            <a:off x="200025" y="228600"/>
            <a:ext cx="3663950" cy="571500"/>
          </a:xfrm>
          <a:prstGeom xmlns:a="http://schemas.openxmlformats.org/drawingml/2006/main" prst="rect">
            <a:avLst/>
          </a:prstGeom>
        </p:spPr>
        <p:txBody>
          <a:bodyPr xmlns:a="http://schemas.openxmlformats.org/drawingml/2006/main" wrap="square" lIns="0" tIns="0" rIns="0" bIns="0" anchor="b">
            <a:normAutofit fontScale="59959"/>
          </a:bodyPr>
          <a:lstStyle xmlns:a="http://schemas.openxmlformats.org/drawingml/2006/main"/>
          <a:p xmlns:a="http://schemas.openxmlformats.org/drawingml/2006/main">
            <a:pPr algn="l">
              <a:buNone/>
              <a:defRPr sz="3600" b="1">
                <a:solidFill>
                  <a:srgbClr val="111111"/>
                </a:solidFill>
                <a:latin typeface="Helvetica Neue"/>
                <a:ea typeface="Helvetica Neue"/>
                <a:cs typeface="Helvetica Neue"/>
              </a:defRPr>
            </a:pPr>
            <a:r>
              <a:t>CT07.py · candidate-derived</a:t>
            </a:r>
          </a:p>
        </p:txBody>
      </p:sp>
    </p:spTree>
    <p:extLst>
      <p:ext uri="{BB962C8B-B14F-4D97-AF65-F5344CB8AC3E}">
        <p14:creationId xmlns:p14="http://schemas.microsoft.com/office/powerpoint/2010/main" val="103433136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5" name="图片 1"/>
          <p:cNvPicPr>
            <a:picLocks xmlns:a="http://schemas.openxmlformats.org/drawingml/2006/main" noChangeAspect="1"/>
          </p:cNvPicPr>
          <p:nvPr/>
        </p:nvPicPr>
        <p:blipFill>
          <a:blip xmlns:r="http://schemas.openxmlformats.org/officeDocument/2006/relationships" xmlns:a="http://schemas.openxmlformats.org/drawingml/2006/main" r:embed="Reb081d022748469c"/>
          <a:stretch xmlns:a="http://schemas.openxmlformats.org/drawingml/2006/main">
            <a:fillRect l="0" t="0" r="0" b="0"/>
          </a:stretch>
        </p:blipFill>
        <p:spPr>
          <a:xfrm xmlns:a="http://schemas.openxmlformats.org/drawingml/2006/main">
            <a:off x="0" y="934884"/>
            <a:ext cx="4004187" cy="2669458"/>
          </a:xfrm>
          <a:prstGeom xmlns:a="http://schemas.openxmlformats.org/drawingml/2006/main" prst="rect">
            <a:avLst/>
          </a:prstGeom>
        </p:spPr>
      </p:pic>
      <p:pic>
        <p:nvPicPr>
          <p:cNvPr id="16" name="图片 2"/>
          <p:cNvPicPr>
            <a:picLocks xmlns:a="http://schemas.openxmlformats.org/drawingml/2006/main" noChangeAspect="1"/>
          </p:cNvPicPr>
          <p:nvPr/>
        </p:nvPicPr>
        <p:blipFill>
          <a:blip xmlns:r="http://schemas.openxmlformats.org/officeDocument/2006/relationships" xmlns:a="http://schemas.openxmlformats.org/drawingml/2006/main" r:embed="R25169f28853f460d"/>
          <a:stretch xmlns:a="http://schemas.openxmlformats.org/drawingml/2006/main">
            <a:fillRect l="0" t="0" r="0" b="0"/>
          </a:stretch>
        </p:blipFill>
        <p:spPr>
          <a:xfrm xmlns:a="http://schemas.openxmlformats.org/drawingml/2006/main">
            <a:off x="112502" y="3977150"/>
            <a:ext cx="4321275" cy="2880850"/>
          </a:xfrm>
          <a:prstGeom xmlns:a="http://schemas.openxmlformats.org/drawingml/2006/main" prst="rect">
            <a:avLst/>
          </a:prstGeom>
        </p:spPr>
      </p:pic>
      <p:pic>
        <p:nvPicPr>
          <p:cNvPr id="17" name="图片 3"/>
          <p:cNvPicPr>
            <a:picLocks xmlns:a="http://schemas.openxmlformats.org/drawingml/2006/main" noChangeAspect="1"/>
          </p:cNvPicPr>
          <p:nvPr/>
        </p:nvPicPr>
        <p:blipFill>
          <a:blip xmlns:r="http://schemas.openxmlformats.org/officeDocument/2006/relationships" xmlns:a="http://schemas.openxmlformats.org/drawingml/2006/main" r:embed="R84ca7a55c54243a7"/>
          <a:stretch xmlns:a="http://schemas.openxmlformats.org/drawingml/2006/main">
            <a:fillRect l="0" t="0" r="0" b="0"/>
          </a:stretch>
        </p:blipFill>
        <p:spPr>
          <a:xfrm xmlns:a="http://schemas.openxmlformats.org/drawingml/2006/main">
            <a:off x="4321275" y="934884"/>
            <a:ext cx="4004187" cy="2669458"/>
          </a:xfrm>
          <a:prstGeom xmlns:a="http://schemas.openxmlformats.org/drawingml/2006/main" prst="rect">
            <a:avLst/>
          </a:prstGeom>
        </p:spPr>
      </p:pic>
      <p:pic>
        <p:nvPicPr>
          <p:cNvPr id="18" name="图片 4"/>
          <p:cNvPicPr>
            <a:picLocks xmlns:a="http://schemas.openxmlformats.org/drawingml/2006/main" noChangeAspect="1"/>
          </p:cNvPicPr>
          <p:nvPr/>
        </p:nvPicPr>
        <p:blipFill>
          <a:blip xmlns:r="http://schemas.openxmlformats.org/officeDocument/2006/relationships" xmlns:a="http://schemas.openxmlformats.org/drawingml/2006/main" r:embed="R1ce3e8be572e4223"/>
          <a:stretch xmlns:a="http://schemas.openxmlformats.org/drawingml/2006/main">
            <a:fillRect l="0" t="0" r="0" b="0"/>
          </a:stretch>
        </p:blipFill>
        <p:spPr>
          <a:xfrm xmlns:a="http://schemas.openxmlformats.org/drawingml/2006/main">
            <a:off x="4398795" y="3955847"/>
            <a:ext cx="4321275" cy="2880850"/>
          </a:xfrm>
          <a:prstGeom xmlns:a="http://schemas.openxmlformats.org/drawingml/2006/main" prst="rect">
            <a:avLst/>
          </a:prstGeom>
        </p:spPr>
      </p:pic>
      <p:pic>
        <p:nvPicPr>
          <p:cNvPr id="19" name="图片 5"/>
          <p:cNvPicPr>
            <a:picLocks xmlns:a="http://schemas.openxmlformats.org/drawingml/2006/main" noChangeAspect="1"/>
          </p:cNvPicPr>
          <p:nvPr/>
        </p:nvPicPr>
        <p:blipFill>
          <a:blip xmlns:r="http://schemas.openxmlformats.org/officeDocument/2006/relationships" xmlns:a="http://schemas.openxmlformats.org/drawingml/2006/main" r:embed="Rc63fca78429a40c8"/>
          <a:stretch xmlns:a="http://schemas.openxmlformats.org/drawingml/2006/main">
            <a:fillRect l="0" t="0" r="0" b="0"/>
          </a:stretch>
        </p:blipFill>
        <p:spPr>
          <a:xfrm xmlns:a="http://schemas.openxmlformats.org/drawingml/2006/main">
            <a:off x="8443448" y="451460"/>
            <a:ext cx="3748552" cy="2499034"/>
          </a:xfrm>
          <a:prstGeom xmlns:a="http://schemas.openxmlformats.org/drawingml/2006/main" prst="rect">
            <a:avLst/>
          </a:prstGeom>
        </p:spPr>
      </p:pic>
      <p:pic>
        <p:nvPicPr>
          <p:cNvPr id="20" name="图片 6"/>
          <p:cNvPicPr>
            <a:picLocks xmlns:a="http://schemas.openxmlformats.org/drawingml/2006/main" noChangeAspect="1"/>
          </p:cNvPicPr>
          <p:nvPr/>
        </p:nvPicPr>
        <p:blipFill>
          <a:blip xmlns:r="http://schemas.openxmlformats.org/officeDocument/2006/relationships" xmlns:a="http://schemas.openxmlformats.org/drawingml/2006/main" r:embed="R42e5a04bf8054a78"/>
          <a:stretch xmlns:a="http://schemas.openxmlformats.org/drawingml/2006/main">
            <a:fillRect l="0" t="0" r="0" b="0"/>
          </a:stretch>
        </p:blipFill>
        <p:spPr>
          <a:xfrm xmlns:a="http://schemas.openxmlformats.org/drawingml/2006/main">
            <a:off x="8720070" y="3105352"/>
            <a:ext cx="3471930" cy="3605164"/>
          </a:xfrm>
          <a:prstGeom xmlns:a="http://schemas.openxmlformats.org/drawingml/2006/main" prst="rect">
            <a:avLst/>
          </a:prstGeom>
        </p:spPr>
      </p:pic>
      <p:sp>
        <p:nvSpPr>
          <p:cNvPr id="8" name="title-5">
            <a:extLst xmlns:a="http://schemas.openxmlformats.org/drawingml/2006/main">
              <a:ext uri="{FF2B5EF4-FFF2-40B4-BE49-F238E27FC236}">
                <a16:creationId xmlns:a16="http://schemas.microsoft.com/office/drawing/2014/main" id="{3A95891F-F6F7-BB76-82AD-BE47B998F97B}"/>
              </a:ext>
            </a:extLst>
          </p:cNvPr>
          <p:cNvSpPr>
            <a:spLocks xmlns:a="http://schemas.openxmlformats.org/drawingml/2006/main" noGrp="1"/>
          </p:cNvSpPr>
          <p:nvPr/>
        </p:nvSpPr>
        <p:spPr>
          <a:xfrm xmlns:a="http://schemas.openxmlformats.org/drawingml/2006/main">
            <a:off x="340237" y="228600"/>
            <a:ext cx="3663950" cy="571500"/>
          </a:xfrm>
          <a:prstGeom xmlns:a="http://schemas.openxmlformats.org/drawingml/2006/main" prst="rect">
            <a:avLst/>
          </a:prstGeom>
        </p:spPr>
        <p:txBody>
          <a:bodyPr xmlns:a="http://schemas.openxmlformats.org/drawingml/2006/main" wrap="square" lIns="0" tIns="0" rIns="0" bIns="0" anchor="b">
            <a:normAutofit fontScale="62734"/>
          </a:bodyPr>
          <a:lstStyle xmlns:a="http://schemas.openxmlformats.org/drawingml/2006/main"/>
          <a:p xmlns:a="http://schemas.openxmlformats.org/drawingml/2006/main">
            <a:pPr algn="l">
              <a:buNone/>
              <a:defRPr sz="3600" b="1">
                <a:solidFill>
                  <a:srgbClr val="111111"/>
                </a:solidFill>
                <a:latin typeface="Helvetica Neue"/>
                <a:ea typeface="Helvetica Neue"/>
                <a:cs typeface="Helvetica Neue"/>
              </a:defRPr>
            </a:pPr>
            <a:r>
              <a:t>CT07.jl · candidate-derived</a:t>
            </a:r>
          </a:p>
        </p:txBody>
      </p:sp>
    </p:spTree>
    <p:extLst>
      <p:ext uri="{BB962C8B-B14F-4D97-AF65-F5344CB8AC3E}">
        <p14:creationId xmlns:p14="http://schemas.microsoft.com/office/powerpoint/2010/main" val="222983997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itle-6">
            <a:extLst xmlns:a="http://schemas.openxmlformats.org/drawingml/2006/main">
              <a:ext uri="{FF2B5EF4-FFF2-40B4-BE49-F238E27FC236}">
                <a16:creationId xmlns:a16="http://schemas.microsoft.com/office/drawing/2014/main" id="{6C74671B-8EA7-4DB7-BF10-223EAA52091D}"/>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a:bodyPr>
          <a:lstStyle xmlns:a="http://schemas.openxmlformats.org/drawingml/2006/main"/>
          <a:p xmlns:a="http://schemas.openxmlformats.org/drawingml/2006/main">
            <a:pPr algn="l">
              <a:buNone/>
              <a:defRPr sz="3600" b="1">
                <a:solidFill>
                  <a:srgbClr val="111111"/>
                </a:solidFill>
                <a:latin typeface="Helvetica Neue"/>
                <a:ea typeface="Helvetica Neue"/>
                <a:cs typeface="Helvetica Neue"/>
              </a:defRPr>
            </a:pPr>
            <a:r>
              <a:t>Data ingestion dominated the early failures</a:t>
            </a:r>
          </a:p>
        </p:txBody>
      </p:sp>
      <p:sp>
        <p:nvSpPr>
          <p:cNvPr id="2" name="title-rule-6">
            <a:extLst xmlns:a="http://schemas.openxmlformats.org/drawingml/2006/main">
              <a:ext uri="{FF2B5EF4-FFF2-40B4-BE49-F238E27FC236}">
                <a16:creationId xmlns:a16="http://schemas.microsoft.com/office/drawing/2014/main" id="{0F0AAC5B-F8C9-4A90-ACEE-116D16DCCC57}"/>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mechanical-domain">
            <a:extLst xmlns:a="http://schemas.openxmlformats.org/drawingml/2006/main">
              <a:ext uri="{FF2B5EF4-FFF2-40B4-BE49-F238E27FC236}">
                <a16:creationId xmlns:a16="http://schemas.microsoft.com/office/drawing/2014/main" id="{ED1A5E12-700D-445D-8F05-D6409AB9A95D}"/>
              </a:ext>
            </a:extLst>
          </p:cNvPr>
          <p:cNvSpPr>
            <a:spLocks xmlns:a="http://schemas.openxmlformats.org/drawingml/2006/main" noGrp="1"/>
          </p:cNvSpPr>
          <p:nvPr/>
        </p:nvSpPr>
        <p:spPr>
          <a:xfrm xmlns:a="http://schemas.openxmlformats.org/drawingml/2006/main">
            <a:off x="400050" y="1589753"/>
            <a:ext cx="4762500" cy="1600200"/>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4" name="mechanical-title">
            <a:extLst xmlns:a="http://schemas.openxmlformats.org/drawingml/2006/main">
              <a:ext uri="{FF2B5EF4-FFF2-40B4-BE49-F238E27FC236}">
                <a16:creationId xmlns:a16="http://schemas.microsoft.com/office/drawing/2014/main" id="{2F30A99A-DE4B-499F-8881-B64B60A3D877}"/>
              </a:ext>
            </a:extLst>
          </p:cNvPr>
          <p:cNvSpPr>
            <a:spLocks xmlns:a="http://schemas.openxmlformats.org/drawingml/2006/main" noGrp="1"/>
          </p:cNvSpPr>
          <p:nvPr/>
        </p:nvSpPr>
        <p:spPr>
          <a:xfrm xmlns:a="http://schemas.openxmlformats.org/drawingml/2006/main">
            <a:off x="638175" y="1731399"/>
            <a:ext cx="428625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2457A6"/>
                </a:solidFill>
                <a:latin typeface="Helvetica Neue"/>
                <a:ea typeface="Helvetica Neue"/>
                <a:cs typeface="Helvetica Neue"/>
              </a:defRPr>
            </a:pPr>
            <a:r>
              <a:t>Mechanical domain · columns A–D</a:t>
            </a:r>
          </a:p>
        </p:txBody>
      </p:sp>
      <p:sp>
        <p:nvSpPr>
          <p:cNvPr id="5" name="mechanical-body">
            <a:extLst xmlns:a="http://schemas.openxmlformats.org/drawingml/2006/main">
              <a:ext uri="{FF2B5EF4-FFF2-40B4-BE49-F238E27FC236}">
                <a16:creationId xmlns:a16="http://schemas.microsoft.com/office/drawing/2014/main" id="{AF627FC5-4140-4F2B-92DE-6D6E8C6F0B18}"/>
              </a:ext>
            </a:extLst>
          </p:cNvPr>
          <p:cNvSpPr>
            <a:spLocks xmlns:a="http://schemas.openxmlformats.org/drawingml/2006/main" noGrp="1"/>
          </p:cNvSpPr>
          <p:nvPr/>
        </p:nvSpPr>
        <p:spPr>
          <a:xfrm xmlns:a="http://schemas.openxmlformats.org/drawingml/2006/main">
            <a:off x="638175" y="2238375"/>
            <a:ext cx="4095750" cy="590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75" b="0">
                <a:solidFill>
                  <a:srgbClr val="111111"/>
                </a:solidFill>
                <a:latin typeface="Helvetica Neue"/>
                <a:ea typeface="Helvetica Neue"/>
                <a:cs typeface="Helvetica Neue"/>
              </a:defRPr>
            </a:pPr>
            <a:r>
              <a:t>Load, displacement, stress and strain
One valid row range</a:t>
            </a:r>
          </a:p>
        </p:txBody>
      </p:sp>
      <p:sp>
        <p:nvSpPr>
          <p:cNvPr id="6" name="ae-domain">
            <a:extLst xmlns:a="http://schemas.openxmlformats.org/drawingml/2006/main">
              <a:ext uri="{FF2B5EF4-FFF2-40B4-BE49-F238E27FC236}">
                <a16:creationId xmlns:a16="http://schemas.microsoft.com/office/drawing/2014/main" id="{2C05D7BB-07BB-4BAF-A4C2-0F472794001D}"/>
              </a:ext>
            </a:extLst>
          </p:cNvPr>
          <p:cNvSpPr>
            <a:spLocks xmlns:a="http://schemas.openxmlformats.org/drawingml/2006/main" noGrp="1"/>
          </p:cNvSpPr>
          <p:nvPr/>
        </p:nvSpPr>
        <p:spPr>
          <a:xfrm xmlns:a="http://schemas.openxmlformats.org/drawingml/2006/main">
            <a:off x="409575" y="3408106"/>
            <a:ext cx="4762500" cy="16002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7" name="ae-title">
            <a:extLst xmlns:a="http://schemas.openxmlformats.org/drawingml/2006/main">
              <a:ext uri="{FF2B5EF4-FFF2-40B4-BE49-F238E27FC236}">
                <a16:creationId xmlns:a16="http://schemas.microsoft.com/office/drawing/2014/main" id="{D7429614-FADD-414B-AB96-1B70781D0F68}"/>
              </a:ext>
            </a:extLst>
          </p:cNvPr>
          <p:cNvSpPr>
            <a:spLocks xmlns:a="http://schemas.openxmlformats.org/drawingml/2006/main" noGrp="1"/>
          </p:cNvSpPr>
          <p:nvPr/>
        </p:nvSpPr>
        <p:spPr>
          <a:xfrm xmlns:a="http://schemas.openxmlformats.org/drawingml/2006/main">
            <a:off x="647700" y="3601679"/>
            <a:ext cx="428625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111111"/>
                </a:solidFill>
                <a:latin typeface="Helvetica Neue"/>
                <a:ea typeface="Helvetica Neue"/>
                <a:cs typeface="Helvetica Neue"/>
              </a:defRPr>
            </a:pPr>
            <a:r>
              <a:t>AE domain · columns E–N</a:t>
            </a:r>
          </a:p>
        </p:txBody>
      </p:sp>
      <p:sp>
        <p:nvSpPr>
          <p:cNvPr id="8" name="ae-body">
            <a:extLst xmlns:a="http://schemas.openxmlformats.org/drawingml/2006/main">
              <a:ext uri="{FF2B5EF4-FFF2-40B4-BE49-F238E27FC236}">
                <a16:creationId xmlns:a16="http://schemas.microsoft.com/office/drawing/2014/main" id="{E882C79F-74C0-4815-A9C0-F1D94AC96B53}"/>
              </a:ext>
            </a:extLst>
          </p:cNvPr>
          <p:cNvSpPr>
            <a:spLocks xmlns:a="http://schemas.openxmlformats.org/drawingml/2006/main" noGrp="1"/>
          </p:cNvSpPr>
          <p:nvPr/>
        </p:nvSpPr>
        <p:spPr>
          <a:xfrm xmlns:a="http://schemas.openxmlformats.org/drawingml/2006/main">
            <a:off x="647700" y="4129855"/>
            <a:ext cx="4095750" cy="590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75" b="0">
                <a:solidFill>
                  <a:srgbClr val="111111"/>
                </a:solidFill>
                <a:latin typeface="Helvetica Neue"/>
                <a:ea typeface="Helvetica Neue"/>
                <a:cs typeface="Helvetica Neue"/>
              </a:defRPr>
            </a:pPr>
            <a:r>
              <a:t>Time, RMS and energy features
A different valid row range</a:t>
            </a:r>
          </a:p>
        </p:txBody>
      </p:sp>
      <p:sp>
        <p:nvSpPr>
          <p:cNvPr id="9" name="failure-title">
            <a:extLst xmlns:a="http://schemas.openxmlformats.org/drawingml/2006/main">
              <a:ext uri="{FF2B5EF4-FFF2-40B4-BE49-F238E27FC236}">
                <a16:creationId xmlns:a16="http://schemas.microsoft.com/office/drawing/2014/main" id="{7272D345-F27D-4789-BED5-7242F1A8ED7E}"/>
              </a:ext>
            </a:extLst>
          </p:cNvPr>
          <p:cNvSpPr>
            <a:spLocks xmlns:a="http://schemas.openxmlformats.org/drawingml/2006/main" noGrp="1"/>
          </p:cNvSpPr>
          <p:nvPr/>
        </p:nvSpPr>
        <p:spPr>
          <a:xfrm xmlns:a="http://schemas.openxmlformats.org/drawingml/2006/main">
            <a:off x="5829300" y="1828800"/>
            <a:ext cx="55245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111111"/>
                </a:solidFill>
                <a:latin typeface="Helvetica Neue"/>
                <a:ea typeface="Helvetica Neue"/>
                <a:cs typeface="Helvetica Neue"/>
              </a:defRPr>
            </a:pPr>
            <a:r>
              <a:t>Why generated code failed</a:t>
            </a:r>
          </a:p>
        </p:txBody>
      </p:sp>
      <p:sp>
        <p:nvSpPr>
          <p:cNvPr id="10" name="failure-body">
            <a:extLst xmlns:a="http://schemas.openxmlformats.org/drawingml/2006/main">
              <a:ext uri="{FF2B5EF4-FFF2-40B4-BE49-F238E27FC236}">
                <a16:creationId xmlns:a16="http://schemas.microsoft.com/office/drawing/2014/main" id="{B5C6967D-B22B-4A6A-94BC-46B7338EB1D7}"/>
              </a:ext>
            </a:extLst>
          </p:cNvPr>
          <p:cNvSpPr>
            <a:spLocks xmlns:a="http://schemas.openxmlformats.org/drawingml/2006/main" noGrp="1"/>
          </p:cNvSpPr>
          <p:nvPr/>
        </p:nvSpPr>
        <p:spPr>
          <a:xfrm xmlns:a="http://schemas.openxmlformats.org/drawingml/2006/main">
            <a:off x="5829300" y="2514600"/>
            <a:ext cx="5429250" cy="1714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0">
                <a:solidFill>
                  <a:srgbClr val="111111"/>
                </a:solidFill>
                <a:latin typeface="Helvetica Neue"/>
                <a:ea typeface="Helvetica Neue"/>
                <a:cs typeface="Helvetica Neue"/>
              </a:defRPr>
            </a:pPr>
            <a:r>
              <a:t>1. Global drop-na removed valid observations
2. Header and unit rows shifted columns
3. Python and Julia parsers inferred different types
4. Plot success concealed data-selection errors</a:t>
            </a:r>
          </a:p>
        </p:txBody>
      </p:sp>
      <p:sp>
        <p:nvSpPr>
          <p:cNvPr id="11" name="lesson-panel">
            <a:extLst xmlns:a="http://schemas.openxmlformats.org/drawingml/2006/main">
              <a:ext uri="{FF2B5EF4-FFF2-40B4-BE49-F238E27FC236}">
                <a16:creationId xmlns:a16="http://schemas.microsoft.com/office/drawing/2014/main" id="{3F2C365C-6FCF-4B75-99C0-01764128793D}"/>
              </a:ext>
            </a:extLst>
          </p:cNvPr>
          <p:cNvSpPr>
            <a:spLocks xmlns:a="http://schemas.openxmlformats.org/drawingml/2006/main" noGrp="1"/>
          </p:cNvSpPr>
          <p:nvPr/>
        </p:nvSpPr>
        <p:spPr>
          <a:xfrm xmlns:a="http://schemas.openxmlformats.org/drawingml/2006/main">
            <a:off x="5734050" y="3802011"/>
            <a:ext cx="5524500" cy="895350"/>
          </a:xfrm>
          <a:prstGeom xmlns:a="http://schemas.openxmlformats.org/drawingml/2006/main" prst="rect">
            <a:avLst/>
          </a:prstGeom>
          <a:solidFill xmlns:a="http://schemas.openxmlformats.org/drawingml/2006/main">
            <a:srgbClr val="F8EEE8"/>
          </a:solidFill>
          <a:ln xmlns:a="http://schemas.openxmlformats.org/drawingml/2006/main" w="0">
            <a:solidFill>
              <a:srgbClr val="F8EEE8"/>
            </a:solidFill>
            <a:prstDash val="solid"/>
          </a:ln>
        </p:spPr>
        <p:txBody>
          <a:bodyPr xmlns:a="http://schemas.openxmlformats.org/drawingml/2006/main"/>
          <a:lstStyle xmlns:a="http://schemas.openxmlformats.org/drawingml/2006/main"/>
          <a:p xmlns:a="http://schemas.openxmlformats.org/drawingml/2006/main"/>
        </p:txBody>
      </p:sp>
      <p:sp>
        <p:nvSpPr>
          <p:cNvPr id="12" name="lesson">
            <a:extLst xmlns:a="http://schemas.openxmlformats.org/drawingml/2006/main">
              <a:ext uri="{FF2B5EF4-FFF2-40B4-BE49-F238E27FC236}">
                <a16:creationId xmlns:a16="http://schemas.microsoft.com/office/drawing/2014/main" id="{ADACEC8E-003C-4E7B-9767-5F965691B32A}"/>
              </a:ext>
            </a:extLst>
          </p:cNvPr>
          <p:cNvSpPr>
            <a:spLocks xmlns:a="http://schemas.openxmlformats.org/drawingml/2006/main" noGrp="1"/>
          </p:cNvSpPr>
          <p:nvPr/>
        </p:nvSpPr>
        <p:spPr>
          <a:xfrm xmlns:a="http://schemas.openxmlformats.org/drawingml/2006/main">
            <a:off x="5972175" y="4067175"/>
            <a:ext cx="5048250" cy="476250"/>
          </a:xfrm>
          <a:prstGeom xmlns:a="http://schemas.openxmlformats.org/drawingml/2006/main" prst="rect">
            <a:avLst/>
          </a:prstGeom>
        </p:spPr>
        <p:txBody>
          <a:bodyPr xmlns:a="http://schemas.openxmlformats.org/drawingml/2006/main" wrap="square" lIns="0" tIns="0" rIns="0" bIns="0" anchor="t">
            <a:normAutofit fontScale="90580" lnSpcReduction="10000"/>
          </a:bodyPr>
          <a:lstStyle xmlns:a="http://schemas.openxmlformats.org/drawingml/2006/main"/>
          <a:p xmlns:a="http://schemas.openxmlformats.org/drawingml/2006/main">
            <a:pPr algn="l">
              <a:buNone/>
              <a:defRPr sz="1725" b="1">
                <a:solidFill>
                  <a:srgbClr val="B85C1E"/>
                </a:solidFill>
                <a:latin typeface="Helvetica Neue"/>
                <a:ea typeface="Helvetica Neue"/>
                <a:cs typeface="Helvetica Neue"/>
              </a:defRPr>
            </a:pPr>
            <a:r>
              <a:t>Lesson: validate the data contract before evaluating model-generated analysis code.</a:t>
            </a:r>
          </a:p>
        </p:txBody>
      </p:sp>
      <p:sp>
        <p:nvSpPr>
          <p:cNvPr id="13" name="source-6">
            <a:extLst xmlns:a="http://schemas.openxmlformats.org/drawingml/2006/main">
              <a:ext uri="{FF2B5EF4-FFF2-40B4-BE49-F238E27FC236}">
                <a16:creationId xmlns:a16="http://schemas.microsoft.com/office/drawing/2014/main" id="{5F0BE172-9A17-4D68-8678-87D1FF84F04B}"/>
              </a:ext>
            </a:extLst>
          </p:cNvPr>
          <p:cNvSpPr>
            <a:spLocks xmlns:a="http://schemas.openxmlformats.org/drawingml/2006/main" noGrp="1"/>
          </p:cNvSpPr>
          <p:nvPr/>
        </p:nvSpPr>
        <p:spPr>
          <a:xfrm xmlns:a="http://schemas.openxmlformats.org/drawingml/2006/main">
            <a:off x="400050" y="6419850"/>
            <a:ext cx="1028700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00" b="0">
                <a:solidFill>
                  <a:srgbClr val="5B6470"/>
                </a:solidFill>
                <a:latin typeface="Helvetica Neue"/>
                <a:ea typeface="Helvetica Neue"/>
                <a:cs typeface="Helvetica Neue"/>
              </a:defRPr>
            </a:pPr>
            <a:r>
              <a:t>Source: workbook inspection and AE development notes</a:t>
            </a:r>
          </a:p>
        </p:txBody>
      </p:sp>
      <p:sp>
        <p:nvSpPr>
          <p:cNvPr id="14" name="slide-number-6">
            <a:extLst xmlns:a="http://schemas.openxmlformats.org/drawingml/2006/main">
              <a:ext uri="{FF2B5EF4-FFF2-40B4-BE49-F238E27FC236}">
                <a16:creationId xmlns:a16="http://schemas.microsoft.com/office/drawing/2014/main" id="{E1466881-E999-4D0E-AEC8-B18F77218353}"/>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6</a:t>
            </a:r>
          </a:p>
        </p:txBody>
      </p:sp>
      <p:pic>
        <p:nvPicPr>
          <p:cNvPr id="31" name="图片 16"/>
          <p:cNvPicPr>
            <a:picLocks xmlns:a="http://schemas.openxmlformats.org/drawingml/2006/main" noChangeAspect="1"/>
          </p:cNvPicPr>
          <p:nvPr/>
        </p:nvPicPr>
        <p:blipFill>
          <a:blip xmlns:r="http://schemas.openxmlformats.org/officeDocument/2006/relationships" xmlns:a="http://schemas.openxmlformats.org/drawingml/2006/main" r:embed="R21ed3c6844bc46cd"/>
          <a:stretch xmlns:a="http://schemas.openxmlformats.org/drawingml/2006/main">
            <a:fillRect l="0" t="0" r="0" b="0"/>
          </a:stretch>
        </p:blipFill>
        <p:spPr>
          <a:xfrm xmlns:a="http://schemas.openxmlformats.org/drawingml/2006/main">
            <a:off x="413431" y="5201879"/>
            <a:ext cx="11117487" cy="1139006"/>
          </a:xfrm>
          <a:prstGeom xmlns:a="http://schemas.openxmlformats.org/drawingml/2006/main" prst="rect">
            <a:avLst/>
          </a:prstGeom>
        </p:spPr>
      </p:pic>
    </p:spTree>
    <p:extLst>
      <p:ext uri="{BB962C8B-B14F-4D97-AF65-F5344CB8AC3E}">
        <p14:creationId xmlns:p14="http://schemas.microsoft.com/office/powerpoint/2010/main" val="32301091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itle-7">
            <a:extLst xmlns:a="http://schemas.openxmlformats.org/drawingml/2006/main">
              <a:ext uri="{FF2B5EF4-FFF2-40B4-BE49-F238E27FC236}">
                <a16:creationId xmlns:a16="http://schemas.microsoft.com/office/drawing/2014/main" id="{977B212E-D590-4E69-A344-F23EB2CA476F}"/>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fontScale="90580"/>
          </a:bodyPr>
          <a:lstStyle xmlns:a="http://schemas.openxmlformats.org/drawingml/2006/main"/>
          <a:p xmlns:a="http://schemas.openxmlformats.org/drawingml/2006/main">
            <a:pPr algn="l">
              <a:buNone/>
              <a:defRPr sz="3450" b="1">
                <a:solidFill>
                  <a:srgbClr val="111111"/>
                </a:solidFill>
                <a:latin typeface="Helvetica Neue"/>
                <a:ea typeface="Helvetica Neue"/>
                <a:cs typeface="Helvetica Neue"/>
              </a:defRPr>
            </a:pPr>
            <a:r>
              <a:t>Peak_Freq remains a separate event-level validation workflow</a:t>
            </a:r>
          </a:p>
        </p:txBody>
      </p:sp>
      <p:sp>
        <p:nvSpPr>
          <p:cNvPr id="2" name="title-rule-7">
            <a:extLst xmlns:a="http://schemas.openxmlformats.org/drawingml/2006/main">
              <a:ext uri="{FF2B5EF4-FFF2-40B4-BE49-F238E27FC236}">
                <a16:creationId xmlns:a16="http://schemas.microsoft.com/office/drawing/2014/main" id="{DB7A0665-91DE-464E-B242-DA26C0D5F88F}"/>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ct07-scope">
            <a:extLst xmlns:a="http://schemas.openxmlformats.org/drawingml/2006/main">
              <a:ext uri="{FF2B5EF4-FFF2-40B4-BE49-F238E27FC236}">
                <a16:creationId xmlns:a16="http://schemas.microsoft.com/office/drawing/2014/main" id="{6778E41F-8EBA-41D7-9E10-C20CC71E8078}"/>
              </a:ext>
            </a:extLst>
          </p:cNvPr>
          <p:cNvSpPr>
            <a:spLocks xmlns:a="http://schemas.openxmlformats.org/drawingml/2006/main" noGrp="1"/>
          </p:cNvSpPr>
          <p:nvPr/>
        </p:nvSpPr>
        <p:spPr>
          <a:xfrm xmlns:a="http://schemas.openxmlformats.org/drawingml/2006/main">
            <a:off x="400050" y="1847850"/>
            <a:ext cx="4819650" cy="31432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4" name="ct07-scope-title">
            <a:extLst xmlns:a="http://schemas.openxmlformats.org/drawingml/2006/main">
              <a:ext uri="{FF2B5EF4-FFF2-40B4-BE49-F238E27FC236}">
                <a16:creationId xmlns:a16="http://schemas.microsoft.com/office/drawing/2014/main" id="{06C3F87D-EB49-4399-B139-BB655880C952}"/>
              </a:ext>
            </a:extLst>
          </p:cNvPr>
          <p:cNvSpPr>
            <a:spLocks xmlns:a="http://schemas.openxmlformats.org/drawingml/2006/main" noGrp="1"/>
          </p:cNvSpPr>
          <p:nvPr/>
        </p:nvSpPr>
        <p:spPr>
          <a:xfrm xmlns:a="http://schemas.openxmlformats.org/drawingml/2006/main">
            <a:off x="685800" y="2133600"/>
            <a:ext cx="41910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111111"/>
                </a:solidFill>
                <a:latin typeface="Helvetica Neue"/>
                <a:ea typeface="Helvetica Neue"/>
                <a:cs typeface="Helvetica Neue"/>
              </a:defRPr>
            </a:pPr>
            <a:r>
              <a:t>CT07 workflow</a:t>
            </a:r>
          </a:p>
        </p:txBody>
      </p:sp>
      <p:sp>
        <p:nvSpPr>
          <p:cNvPr id="5" name="ct07-scope-body">
            <a:extLst xmlns:a="http://schemas.openxmlformats.org/drawingml/2006/main">
              <a:ext uri="{FF2B5EF4-FFF2-40B4-BE49-F238E27FC236}">
                <a16:creationId xmlns:a16="http://schemas.microsoft.com/office/drawing/2014/main" id="{F624D77E-4D19-4B62-B042-787B77FED5DF}"/>
              </a:ext>
            </a:extLst>
          </p:cNvPr>
          <p:cNvSpPr>
            <a:spLocks xmlns:a="http://schemas.openxmlformats.org/drawingml/2006/main" noGrp="1"/>
          </p:cNvSpPr>
          <p:nvPr/>
        </p:nvSpPr>
        <p:spPr>
          <a:xfrm xmlns:a="http://schemas.openxmlformats.org/drawingml/2006/main">
            <a:off x="685800" y="2838450"/>
            <a:ext cx="4095750" cy="1524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0">
                <a:solidFill>
                  <a:srgbClr val="111111"/>
                </a:solidFill>
                <a:latin typeface="Helvetica Neue"/>
                <a:ea typeface="Helvetica Neue"/>
                <a:cs typeface="Helvetica Neue"/>
              </a:defRPr>
            </a:pPr>
            <a:r>
              <a:t>Experiment-scale summaries
Stress, strain, RMS and energy plots
Complex spreadsheet schema
Useful for translation behaviour</a:t>
            </a:r>
          </a:p>
        </p:txBody>
      </p:sp>
      <p:sp>
        <p:nvSpPr>
          <p:cNvPr id="6" name="peak-scope">
            <a:extLst xmlns:a="http://schemas.openxmlformats.org/drawingml/2006/main">
              <a:ext uri="{FF2B5EF4-FFF2-40B4-BE49-F238E27FC236}">
                <a16:creationId xmlns:a16="http://schemas.microsoft.com/office/drawing/2014/main" id="{1FC9E1E2-6B57-46C4-B67E-59F87CB04257}"/>
              </a:ext>
            </a:extLst>
          </p:cNvPr>
          <p:cNvSpPr>
            <a:spLocks xmlns:a="http://schemas.openxmlformats.org/drawingml/2006/main" noGrp="1"/>
          </p:cNvSpPr>
          <p:nvPr/>
        </p:nvSpPr>
        <p:spPr>
          <a:xfrm xmlns:a="http://schemas.openxmlformats.org/drawingml/2006/main">
            <a:off x="5619750" y="1847850"/>
            <a:ext cx="6172200" cy="3143250"/>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7" name="peak-scope-title">
            <a:extLst xmlns:a="http://schemas.openxmlformats.org/drawingml/2006/main">
              <a:ext uri="{FF2B5EF4-FFF2-40B4-BE49-F238E27FC236}">
                <a16:creationId xmlns:a16="http://schemas.microsoft.com/office/drawing/2014/main" id="{18031D50-AF65-4EE2-B237-E5D659AA157C}"/>
              </a:ext>
            </a:extLst>
          </p:cNvPr>
          <p:cNvSpPr>
            <a:spLocks xmlns:a="http://schemas.openxmlformats.org/drawingml/2006/main" noGrp="1"/>
          </p:cNvSpPr>
          <p:nvPr/>
        </p:nvSpPr>
        <p:spPr>
          <a:xfrm xmlns:a="http://schemas.openxmlformats.org/drawingml/2006/main">
            <a:off x="5905500" y="2133600"/>
            <a:ext cx="55245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2457A6"/>
                </a:solidFill>
                <a:latin typeface="Helvetica Neue"/>
                <a:ea typeface="Helvetica Neue"/>
                <a:cs typeface="Helvetica Neue"/>
              </a:defRPr>
            </a:pPr>
            <a:r>
              <a:t>Peak_Freq.m workflow</a:t>
            </a:r>
          </a:p>
        </p:txBody>
      </p:sp>
      <p:sp>
        <p:nvSpPr>
          <p:cNvPr id="8" name="peak-scope-body">
            <a:extLst xmlns:a="http://schemas.openxmlformats.org/drawingml/2006/main">
              <a:ext uri="{FF2B5EF4-FFF2-40B4-BE49-F238E27FC236}">
                <a16:creationId xmlns:a16="http://schemas.microsoft.com/office/drawing/2014/main" id="{8633F267-90B8-4548-9C5E-F30766E7C692}"/>
              </a:ext>
            </a:extLst>
          </p:cNvPr>
          <p:cNvSpPr>
            <a:spLocks xmlns:a="http://schemas.openxmlformats.org/drawingml/2006/main" noGrp="1"/>
          </p:cNvSpPr>
          <p:nvPr/>
        </p:nvSpPr>
        <p:spPr>
          <a:xfrm xmlns:a="http://schemas.openxmlformats.org/drawingml/2006/main">
            <a:off x="5905500" y="2838450"/>
            <a:ext cx="5429250" cy="1524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0">
                <a:solidFill>
                  <a:srgbClr val="111111"/>
                </a:solidFill>
                <a:latin typeface="Helvetica Neue"/>
                <a:ea typeface="Helvetica Neue"/>
                <a:cs typeface="Helvetica Neue"/>
              </a:defRPr>
            </a:pPr>
            <a:r>
              <a:t>Raw MAT waveforms → RMS windows → FFT peaks
Exact event indices and numeric columns
Direct MATLAB export available
Suitable for row-by-row equivalence</a:t>
            </a:r>
          </a:p>
        </p:txBody>
      </p:sp>
      <p:sp>
        <p:nvSpPr>
          <p:cNvPr id="9" name="peak-conclusion">
            <a:extLst xmlns:a="http://schemas.openxmlformats.org/drawingml/2006/main">
              <a:ext uri="{FF2B5EF4-FFF2-40B4-BE49-F238E27FC236}">
                <a16:creationId xmlns:a16="http://schemas.microsoft.com/office/drawing/2014/main" id="{BE41544C-BD8E-4D54-B450-829FA9A53036}"/>
              </a:ext>
            </a:extLst>
          </p:cNvPr>
          <p:cNvSpPr>
            <a:spLocks xmlns:a="http://schemas.openxmlformats.org/drawingml/2006/main" noGrp="1"/>
          </p:cNvSpPr>
          <p:nvPr/>
        </p:nvSpPr>
        <p:spPr>
          <a:xfrm xmlns:a="http://schemas.openxmlformats.org/drawingml/2006/main">
            <a:off x="685800" y="5429250"/>
            <a:ext cx="10287000" cy="552450"/>
          </a:xfrm>
          <a:prstGeom xmlns:a="http://schemas.openxmlformats.org/drawingml/2006/main" prst="rect">
            <a:avLst/>
          </a:prstGeom>
        </p:spPr>
        <p:txBody>
          <a:bodyPr xmlns:a="http://schemas.openxmlformats.org/drawingml/2006/main" wrap="square" lIns="0" tIns="0" rIns="0" bIns="0" anchor="t">
            <a:normAutofit fontScale="96667"/>
          </a:bodyPr>
          <a:lstStyle xmlns:a="http://schemas.openxmlformats.org/drawingml/2006/main"/>
          <a:p xmlns:a="http://schemas.openxmlformats.org/drawingml/2006/main">
            <a:pPr algn="l">
              <a:buNone/>
              <a:defRPr sz="1875" b="1">
                <a:solidFill>
                  <a:srgbClr val="B85C1E"/>
                </a:solidFill>
                <a:latin typeface="Helvetica Neue"/>
                <a:ea typeface="Helvetica Neue"/>
                <a:cs typeface="Helvetica Neue"/>
              </a:defRPr>
            </a:pPr>
            <a:r>
              <a:t>Mapping was tested across all nine groups; all remain unresolved. No mechanical-stage conclusion is reported.</a:t>
            </a:r>
          </a:p>
        </p:txBody>
      </p:sp>
      <p:sp>
        <p:nvSpPr>
          <p:cNvPr id="10" name="source-7">
            <a:extLst xmlns:a="http://schemas.openxmlformats.org/drawingml/2006/main">
              <a:ext uri="{FF2B5EF4-FFF2-40B4-BE49-F238E27FC236}">
                <a16:creationId xmlns:a16="http://schemas.microsoft.com/office/drawing/2014/main" id="{19FCC363-DB63-49B0-9001-A277E8C4A8F1}"/>
              </a:ext>
            </a:extLst>
          </p:cNvPr>
          <p:cNvSpPr>
            <a:spLocks xmlns:a="http://schemas.openxmlformats.org/drawingml/2006/main" noGrp="1"/>
          </p:cNvSpPr>
          <p:nvPr/>
        </p:nvSpPr>
        <p:spPr>
          <a:xfrm xmlns:a="http://schemas.openxmlformats.org/drawingml/2006/main">
            <a:off x="400050" y="6419850"/>
            <a:ext cx="1028700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a:solidFill>
                  <a:srgbClr val="5B6470"/>
                </a:solidFill>
                <a:latin typeface="Helvetica Neue"/>
                <a:ea typeface="Helvetica Neue"/>
                <a:cs typeface="Helvetica Neue"/>
              </a:defRPr>
            </a:pPr>
            <a:r>
              <a:t>Sources: alignment summary and Scientific Interpretation Report</a:t>
            </a:r>
          </a:p>
        </p:txBody>
      </p:sp>
      <p:sp>
        <p:nvSpPr>
          <p:cNvPr id="11" name="slide-number-7">
            <a:extLst xmlns:a="http://schemas.openxmlformats.org/drawingml/2006/main">
              <a:ext uri="{FF2B5EF4-FFF2-40B4-BE49-F238E27FC236}">
                <a16:creationId xmlns:a16="http://schemas.microsoft.com/office/drawing/2014/main" id="{34B4855F-9A22-4AA3-B6CD-2627B742A848}"/>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7</a:t>
            </a:r>
          </a:p>
        </p:txBody>
      </p:sp>
    </p:spTree>
    <p:extLst>
      <p:ext uri="{BB962C8B-B14F-4D97-AF65-F5344CB8AC3E}">
        <p14:creationId xmlns:p14="http://schemas.microsoft.com/office/powerpoint/2010/main" val="110454429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title-8">
            <a:extLst xmlns:a="http://schemas.openxmlformats.org/drawingml/2006/main">
              <a:ext uri="{FF2B5EF4-FFF2-40B4-BE49-F238E27FC236}">
                <a16:creationId xmlns:a16="http://schemas.microsoft.com/office/drawing/2014/main" id="{2C549398-E31E-473A-B137-E7024382C6E4}"/>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fontScale="92500"/>
          </a:bodyPr>
          <a:lstStyle xmlns:a="http://schemas.openxmlformats.org/drawingml/2006/main"/>
          <a:p xmlns:a="http://schemas.openxmlformats.org/drawingml/2006/main">
            <a:pPr algn="l">
              <a:buNone/>
              <a:defRPr sz="3600" b="1">
                <a:solidFill>
                  <a:srgbClr val="111111"/>
                </a:solidFill>
                <a:latin typeface="Helvetica Neue"/>
                <a:ea typeface="Helvetica Neue"/>
                <a:cs typeface="Helvetica Neue"/>
              </a:defRPr>
            </a:pPr>
            <a:r>
              <a:t>Exact replication required MATLAB framing semantics</a:t>
            </a:r>
          </a:p>
        </p:txBody>
      </p:sp>
      <p:sp>
        <p:nvSpPr>
          <p:cNvPr id="2" name="title-rule-8">
            <a:extLst xmlns:a="http://schemas.openxmlformats.org/drawingml/2006/main">
              <a:ext uri="{FF2B5EF4-FFF2-40B4-BE49-F238E27FC236}">
                <a16:creationId xmlns:a16="http://schemas.microsoft.com/office/drawing/2014/main" id="{F856CEC7-96BC-4CAF-8EBB-9CDA10932C72}"/>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legacy-0-panel">
            <a:extLst xmlns:a="http://schemas.openxmlformats.org/drawingml/2006/main">
              <a:ext uri="{FF2B5EF4-FFF2-40B4-BE49-F238E27FC236}">
                <a16:creationId xmlns:a16="http://schemas.microsoft.com/office/drawing/2014/main" id="{90ACB74A-671F-44E3-84C6-7D51376CD618}"/>
              </a:ext>
            </a:extLst>
          </p:cNvPr>
          <p:cNvSpPr>
            <a:spLocks xmlns:a="http://schemas.openxmlformats.org/drawingml/2006/main" noGrp="1"/>
          </p:cNvSpPr>
          <p:nvPr/>
        </p:nvSpPr>
        <p:spPr>
          <a:xfrm xmlns:a="http://schemas.openxmlformats.org/drawingml/2006/main">
            <a:off x="400050" y="1866900"/>
            <a:ext cx="1962150" cy="1381125"/>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4" name="legacy-0-accent">
            <a:extLst xmlns:a="http://schemas.openxmlformats.org/drawingml/2006/main">
              <a:ext uri="{FF2B5EF4-FFF2-40B4-BE49-F238E27FC236}">
                <a16:creationId xmlns:a16="http://schemas.microsoft.com/office/drawing/2014/main" id="{01FFC7F1-B83D-42FA-9831-EDE799709EE6}"/>
              </a:ext>
            </a:extLst>
          </p:cNvPr>
          <p:cNvSpPr>
            <a:spLocks xmlns:a="http://schemas.openxmlformats.org/drawingml/2006/main" noGrp="1"/>
          </p:cNvSpPr>
          <p:nvPr/>
        </p:nvSpPr>
        <p:spPr>
          <a:xfrm xmlns:a="http://schemas.openxmlformats.org/drawingml/2006/main">
            <a:off x="400050" y="1866900"/>
            <a:ext cx="76200" cy="1381125"/>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5" name="legacy-0-value">
            <a:extLst xmlns:a="http://schemas.openxmlformats.org/drawingml/2006/main">
              <a:ext uri="{FF2B5EF4-FFF2-40B4-BE49-F238E27FC236}">
                <a16:creationId xmlns:a16="http://schemas.microsoft.com/office/drawing/2014/main" id="{CFC2EC38-5427-4BFD-94D3-5AFE7BE9DC62}"/>
              </a:ext>
            </a:extLst>
          </p:cNvPr>
          <p:cNvSpPr>
            <a:spLocks xmlns:a="http://schemas.openxmlformats.org/drawingml/2006/main" noGrp="1"/>
          </p:cNvSpPr>
          <p:nvPr/>
        </p:nvSpPr>
        <p:spPr>
          <a:xfrm xmlns:a="http://schemas.openxmlformats.org/drawingml/2006/main">
            <a:off x="628650" y="2076450"/>
            <a:ext cx="158115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000" b="1">
                <a:solidFill>
                  <a:srgbClr val="111111"/>
                </a:solidFill>
                <a:latin typeface="Helvetica Neue"/>
                <a:ea typeface="Helvetica Neue"/>
                <a:cs typeface="Helvetica Neue"/>
              </a:defRPr>
            </a:pPr>
            <a:r>
              <a:t>1 MHz</a:t>
            </a:r>
          </a:p>
        </p:txBody>
      </p:sp>
      <p:sp>
        <p:nvSpPr>
          <p:cNvPr id="6" name="legacy-0-label">
            <a:extLst xmlns:a="http://schemas.openxmlformats.org/drawingml/2006/main">
              <a:ext uri="{FF2B5EF4-FFF2-40B4-BE49-F238E27FC236}">
                <a16:creationId xmlns:a16="http://schemas.microsoft.com/office/drawing/2014/main" id="{DE44CC9A-A560-4C17-9770-ADE1DB09F86F}"/>
              </a:ext>
            </a:extLst>
          </p:cNvPr>
          <p:cNvSpPr>
            <a:spLocks xmlns:a="http://schemas.openxmlformats.org/drawingml/2006/main" noGrp="1"/>
          </p:cNvSpPr>
          <p:nvPr/>
        </p:nvSpPr>
        <p:spPr>
          <a:xfrm xmlns:a="http://schemas.openxmlformats.org/drawingml/2006/main">
            <a:off x="628650" y="2705100"/>
            <a:ext cx="15621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Sample rate</a:t>
            </a:r>
          </a:p>
        </p:txBody>
      </p:sp>
      <p:sp>
        <p:nvSpPr>
          <p:cNvPr id="7" name="legacy-1-panel">
            <a:extLst xmlns:a="http://schemas.openxmlformats.org/drawingml/2006/main">
              <a:ext uri="{FF2B5EF4-FFF2-40B4-BE49-F238E27FC236}">
                <a16:creationId xmlns:a16="http://schemas.microsoft.com/office/drawing/2014/main" id="{945F5150-D3FF-4471-BA1C-28415944152D}"/>
              </a:ext>
            </a:extLst>
          </p:cNvPr>
          <p:cNvSpPr>
            <a:spLocks xmlns:a="http://schemas.openxmlformats.org/drawingml/2006/main" noGrp="1"/>
          </p:cNvSpPr>
          <p:nvPr/>
        </p:nvSpPr>
        <p:spPr>
          <a:xfrm xmlns:a="http://schemas.openxmlformats.org/drawingml/2006/main">
            <a:off x="2686050" y="1866900"/>
            <a:ext cx="1962150" cy="1381125"/>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8" name="legacy-1-accent">
            <a:extLst xmlns:a="http://schemas.openxmlformats.org/drawingml/2006/main">
              <a:ext uri="{FF2B5EF4-FFF2-40B4-BE49-F238E27FC236}">
                <a16:creationId xmlns:a16="http://schemas.microsoft.com/office/drawing/2014/main" id="{0E9DE679-CD6A-4342-A127-7E9CB8B00862}"/>
              </a:ext>
            </a:extLst>
          </p:cNvPr>
          <p:cNvSpPr>
            <a:spLocks xmlns:a="http://schemas.openxmlformats.org/drawingml/2006/main" noGrp="1"/>
          </p:cNvSpPr>
          <p:nvPr/>
        </p:nvSpPr>
        <p:spPr>
          <a:xfrm xmlns:a="http://schemas.openxmlformats.org/drawingml/2006/main">
            <a:off x="2686050" y="1866900"/>
            <a:ext cx="76200" cy="1381125"/>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9" name="legacy-1-value">
            <a:extLst xmlns:a="http://schemas.openxmlformats.org/drawingml/2006/main">
              <a:ext uri="{FF2B5EF4-FFF2-40B4-BE49-F238E27FC236}">
                <a16:creationId xmlns:a16="http://schemas.microsoft.com/office/drawing/2014/main" id="{7DA82E95-2750-4335-B765-62319E3143B8}"/>
              </a:ext>
            </a:extLst>
          </p:cNvPr>
          <p:cNvSpPr>
            <a:spLocks xmlns:a="http://schemas.openxmlformats.org/drawingml/2006/main" noGrp="1"/>
          </p:cNvSpPr>
          <p:nvPr/>
        </p:nvSpPr>
        <p:spPr>
          <a:xfrm xmlns:a="http://schemas.openxmlformats.org/drawingml/2006/main">
            <a:off x="2914650" y="2076450"/>
            <a:ext cx="158115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000" b="1">
                <a:solidFill>
                  <a:srgbClr val="111111"/>
                </a:solidFill>
                <a:latin typeface="Helvetica Neue"/>
                <a:ea typeface="Helvetica Neue"/>
                <a:cs typeface="Helvetica Neue"/>
              </a:defRPr>
            </a:pPr>
            <a:r>
              <a:t>200</a:t>
            </a:r>
          </a:p>
        </p:txBody>
      </p:sp>
      <p:sp>
        <p:nvSpPr>
          <p:cNvPr id="10" name="legacy-1-label">
            <a:extLst xmlns:a="http://schemas.openxmlformats.org/drawingml/2006/main">
              <a:ext uri="{FF2B5EF4-FFF2-40B4-BE49-F238E27FC236}">
                <a16:creationId xmlns:a16="http://schemas.microsoft.com/office/drawing/2014/main" id="{24CB7594-59E3-49FC-B89D-DD3B08BBE0DC}"/>
              </a:ext>
            </a:extLst>
          </p:cNvPr>
          <p:cNvSpPr>
            <a:spLocks xmlns:a="http://schemas.openxmlformats.org/drawingml/2006/main" noGrp="1"/>
          </p:cNvSpPr>
          <p:nvPr/>
        </p:nvSpPr>
        <p:spPr>
          <a:xfrm xmlns:a="http://schemas.openxmlformats.org/drawingml/2006/main">
            <a:off x="2914650" y="2705100"/>
            <a:ext cx="1562100" cy="400050"/>
          </a:xfrm>
          <a:prstGeom xmlns:a="http://schemas.openxmlformats.org/drawingml/2006/main" prst="rect">
            <a:avLst/>
          </a:prstGeom>
        </p:spPr>
        <p:txBody>
          <a:bodyPr xmlns:a="http://schemas.openxmlformats.org/drawingml/2006/main" wrap="square" lIns="0" tIns="0" rIns="0" bIns="0" anchor="t">
            <a:normAutofit fontScale="95012" lnSpcReduction="10000"/>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Samples per window</a:t>
            </a:r>
          </a:p>
        </p:txBody>
      </p:sp>
      <p:sp>
        <p:nvSpPr>
          <p:cNvPr id="11" name="legacy-2-panel">
            <a:extLst xmlns:a="http://schemas.openxmlformats.org/drawingml/2006/main">
              <a:ext uri="{FF2B5EF4-FFF2-40B4-BE49-F238E27FC236}">
                <a16:creationId xmlns:a16="http://schemas.microsoft.com/office/drawing/2014/main" id="{9D5DAEE8-D285-4838-85E6-FFC959931DBE}"/>
              </a:ext>
            </a:extLst>
          </p:cNvPr>
          <p:cNvSpPr>
            <a:spLocks xmlns:a="http://schemas.openxmlformats.org/drawingml/2006/main" noGrp="1"/>
          </p:cNvSpPr>
          <p:nvPr/>
        </p:nvSpPr>
        <p:spPr>
          <a:xfrm xmlns:a="http://schemas.openxmlformats.org/drawingml/2006/main">
            <a:off x="4972050" y="1866900"/>
            <a:ext cx="1962150" cy="1381125"/>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12" name="legacy-2-accent">
            <a:extLst xmlns:a="http://schemas.openxmlformats.org/drawingml/2006/main">
              <a:ext uri="{FF2B5EF4-FFF2-40B4-BE49-F238E27FC236}">
                <a16:creationId xmlns:a16="http://schemas.microsoft.com/office/drawing/2014/main" id="{2FEB38F8-481A-4F78-910D-A0B1E20440A7}"/>
              </a:ext>
            </a:extLst>
          </p:cNvPr>
          <p:cNvSpPr>
            <a:spLocks xmlns:a="http://schemas.openxmlformats.org/drawingml/2006/main" noGrp="1"/>
          </p:cNvSpPr>
          <p:nvPr/>
        </p:nvSpPr>
        <p:spPr>
          <a:xfrm xmlns:a="http://schemas.openxmlformats.org/drawingml/2006/main">
            <a:off x="4972050" y="1866900"/>
            <a:ext cx="76200" cy="1381125"/>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13" name="legacy-2-value">
            <a:extLst xmlns:a="http://schemas.openxmlformats.org/drawingml/2006/main">
              <a:ext uri="{FF2B5EF4-FFF2-40B4-BE49-F238E27FC236}">
                <a16:creationId xmlns:a16="http://schemas.microsoft.com/office/drawing/2014/main" id="{8D895645-E4AA-4A52-980E-794B1B6E2585}"/>
              </a:ext>
            </a:extLst>
          </p:cNvPr>
          <p:cNvSpPr>
            <a:spLocks xmlns:a="http://schemas.openxmlformats.org/drawingml/2006/main" noGrp="1"/>
          </p:cNvSpPr>
          <p:nvPr/>
        </p:nvSpPr>
        <p:spPr>
          <a:xfrm xmlns:a="http://schemas.openxmlformats.org/drawingml/2006/main">
            <a:off x="5200650" y="2076450"/>
            <a:ext cx="158115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000" b="1">
                <a:solidFill>
                  <a:srgbClr val="111111"/>
                </a:solidFill>
                <a:latin typeface="Helvetica Neue"/>
                <a:ea typeface="Helvetica Neue"/>
                <a:cs typeface="Helvetica Neue"/>
              </a:defRPr>
            </a:pPr>
            <a:r>
              <a:t>0.1</a:t>
            </a:r>
          </a:p>
        </p:txBody>
      </p:sp>
      <p:sp>
        <p:nvSpPr>
          <p:cNvPr id="14" name="legacy-2-label">
            <a:extLst xmlns:a="http://schemas.openxmlformats.org/drawingml/2006/main">
              <a:ext uri="{FF2B5EF4-FFF2-40B4-BE49-F238E27FC236}">
                <a16:creationId xmlns:a16="http://schemas.microsoft.com/office/drawing/2014/main" id="{B97E0310-E16E-4874-8FDB-7B2BD5005A2F}"/>
              </a:ext>
            </a:extLst>
          </p:cNvPr>
          <p:cNvSpPr>
            <a:spLocks xmlns:a="http://schemas.openxmlformats.org/drawingml/2006/main" noGrp="1"/>
          </p:cNvSpPr>
          <p:nvPr/>
        </p:nvSpPr>
        <p:spPr>
          <a:xfrm xmlns:a="http://schemas.openxmlformats.org/drawingml/2006/main">
            <a:off x="5200650" y="2705100"/>
            <a:ext cx="1562100" cy="400050"/>
          </a:xfrm>
          <a:prstGeom xmlns:a="http://schemas.openxmlformats.org/drawingml/2006/main" prst="rect">
            <a:avLst/>
          </a:prstGeom>
        </p:spPr>
        <p:txBody>
          <a:bodyPr xmlns:a="http://schemas.openxmlformats.org/drawingml/2006/main" wrap="square" lIns="0" tIns="0" rIns="0" bIns="0" anchor="t">
            <a:normAutofit fontScale="95000" lnSpcReduction="10000"/>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Fixed RMS threshold</a:t>
            </a:r>
          </a:p>
        </p:txBody>
      </p:sp>
      <p:sp>
        <p:nvSpPr>
          <p:cNvPr id="15" name="legacy-3-panel">
            <a:extLst xmlns:a="http://schemas.openxmlformats.org/drawingml/2006/main">
              <a:ext uri="{FF2B5EF4-FFF2-40B4-BE49-F238E27FC236}">
                <a16:creationId xmlns:a16="http://schemas.microsoft.com/office/drawing/2014/main" id="{7FDD0573-57C9-4F25-9FEB-ECDCE674D5B3}"/>
              </a:ext>
            </a:extLst>
          </p:cNvPr>
          <p:cNvSpPr>
            <a:spLocks xmlns:a="http://schemas.openxmlformats.org/drawingml/2006/main" noGrp="1"/>
          </p:cNvSpPr>
          <p:nvPr/>
        </p:nvSpPr>
        <p:spPr>
          <a:xfrm xmlns:a="http://schemas.openxmlformats.org/drawingml/2006/main">
            <a:off x="7258050" y="1866900"/>
            <a:ext cx="1962150" cy="1381125"/>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16" name="legacy-3-accent">
            <a:extLst xmlns:a="http://schemas.openxmlformats.org/drawingml/2006/main">
              <a:ext uri="{FF2B5EF4-FFF2-40B4-BE49-F238E27FC236}">
                <a16:creationId xmlns:a16="http://schemas.microsoft.com/office/drawing/2014/main" id="{F8AEC051-C12D-4D19-B043-05103B2F0B63}"/>
              </a:ext>
            </a:extLst>
          </p:cNvPr>
          <p:cNvSpPr>
            <a:spLocks xmlns:a="http://schemas.openxmlformats.org/drawingml/2006/main" noGrp="1"/>
          </p:cNvSpPr>
          <p:nvPr/>
        </p:nvSpPr>
        <p:spPr>
          <a:xfrm xmlns:a="http://schemas.openxmlformats.org/drawingml/2006/main">
            <a:off x="7258050" y="1866900"/>
            <a:ext cx="76200" cy="1381125"/>
          </a:xfrm>
          <a:prstGeom xmlns:a="http://schemas.openxmlformats.org/drawingml/2006/main" prst="rect">
            <a:avLst/>
          </a:prstGeom>
          <a:solidFill xmlns:a="http://schemas.openxmlformats.org/drawingml/2006/main">
            <a:srgbClr val="2457A6"/>
          </a:solidFill>
          <a:ln xmlns:a="http://schemas.openxmlformats.org/drawingml/2006/main" w="0">
            <a:solidFill>
              <a:srgbClr val="2457A6"/>
            </a:solidFill>
            <a:prstDash val="solid"/>
          </a:ln>
        </p:spPr>
        <p:txBody>
          <a:bodyPr xmlns:a="http://schemas.openxmlformats.org/drawingml/2006/main"/>
          <a:lstStyle xmlns:a="http://schemas.openxmlformats.org/drawingml/2006/main"/>
          <a:p xmlns:a="http://schemas.openxmlformats.org/drawingml/2006/main"/>
        </p:txBody>
      </p:sp>
      <p:sp>
        <p:nvSpPr>
          <p:cNvPr id="17" name="legacy-3-value">
            <a:extLst xmlns:a="http://schemas.openxmlformats.org/drawingml/2006/main">
              <a:ext uri="{FF2B5EF4-FFF2-40B4-BE49-F238E27FC236}">
                <a16:creationId xmlns:a16="http://schemas.microsoft.com/office/drawing/2014/main" id="{BF738E65-D0D2-4CB8-ACC2-C92DB8AB052C}"/>
              </a:ext>
            </a:extLst>
          </p:cNvPr>
          <p:cNvSpPr>
            <a:spLocks xmlns:a="http://schemas.openxmlformats.org/drawingml/2006/main" noGrp="1"/>
          </p:cNvSpPr>
          <p:nvPr/>
        </p:nvSpPr>
        <p:spPr>
          <a:xfrm xmlns:a="http://schemas.openxmlformats.org/drawingml/2006/main">
            <a:off x="7486650" y="2076450"/>
            <a:ext cx="158115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000" b="1">
                <a:solidFill>
                  <a:srgbClr val="2457A6"/>
                </a:solidFill>
                <a:latin typeface="Helvetica Neue"/>
                <a:ea typeface="Helvetica Neue"/>
                <a:cs typeface="Helvetica Neue"/>
              </a:defRPr>
            </a:pPr>
            <a:r>
              <a:t>Top-1</a:t>
            </a:r>
          </a:p>
        </p:txBody>
      </p:sp>
      <p:sp>
        <p:nvSpPr>
          <p:cNvPr id="18" name="legacy-3-label">
            <a:extLst xmlns:a="http://schemas.openxmlformats.org/drawingml/2006/main">
              <a:ext uri="{FF2B5EF4-FFF2-40B4-BE49-F238E27FC236}">
                <a16:creationId xmlns:a16="http://schemas.microsoft.com/office/drawing/2014/main" id="{54F2361C-5DB0-490B-917C-B3D2CBB202E8}"/>
              </a:ext>
            </a:extLst>
          </p:cNvPr>
          <p:cNvSpPr>
            <a:spLocks xmlns:a="http://schemas.openxmlformats.org/drawingml/2006/main" noGrp="1"/>
          </p:cNvSpPr>
          <p:nvPr/>
        </p:nvSpPr>
        <p:spPr>
          <a:xfrm xmlns:a="http://schemas.openxmlformats.org/drawingml/2006/main">
            <a:off x="7486650" y="2705100"/>
            <a:ext cx="1562100" cy="400050"/>
          </a:xfrm>
          <a:prstGeom xmlns:a="http://schemas.openxmlformats.org/drawingml/2006/main" prst="rect">
            <a:avLst/>
          </a:prstGeom>
        </p:spPr>
        <p:txBody>
          <a:bodyPr xmlns:a="http://schemas.openxmlformats.org/drawingml/2006/main" wrap="square" lIns="0" tIns="0" rIns="0" bIns="0" anchor="t">
            <a:normAutofit fontScale="93212"/>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Strongest FFT peak</a:t>
            </a:r>
          </a:p>
        </p:txBody>
      </p:sp>
      <p:sp>
        <p:nvSpPr>
          <p:cNvPr id="19" name="framing-panel">
            <a:extLst xmlns:a="http://schemas.openxmlformats.org/drawingml/2006/main">
              <a:ext uri="{FF2B5EF4-FFF2-40B4-BE49-F238E27FC236}">
                <a16:creationId xmlns:a16="http://schemas.microsoft.com/office/drawing/2014/main" id="{7F55AA55-4A67-456C-84AC-3230E9F99691}"/>
              </a:ext>
            </a:extLst>
          </p:cNvPr>
          <p:cNvSpPr>
            <a:spLocks xmlns:a="http://schemas.openxmlformats.org/drawingml/2006/main" noGrp="1"/>
          </p:cNvSpPr>
          <p:nvPr/>
        </p:nvSpPr>
        <p:spPr>
          <a:xfrm xmlns:a="http://schemas.openxmlformats.org/drawingml/2006/main">
            <a:off x="400050" y="3733800"/>
            <a:ext cx="10725150" cy="1600200"/>
          </a:xfrm>
          <a:prstGeom xmlns:a="http://schemas.openxmlformats.org/drawingml/2006/main" prst="rect">
            <a:avLst/>
          </a:prstGeom>
          <a:solidFill xmlns:a="http://schemas.openxmlformats.org/drawingml/2006/main">
            <a:srgbClr val="F8EEE8"/>
          </a:solidFill>
          <a:ln xmlns:a="http://schemas.openxmlformats.org/drawingml/2006/main" w="0">
            <a:solidFill>
              <a:srgbClr val="F8EEE8"/>
            </a:solidFill>
            <a:prstDash val="solid"/>
          </a:ln>
        </p:spPr>
        <p:txBody>
          <a:bodyPr xmlns:a="http://schemas.openxmlformats.org/drawingml/2006/main"/>
          <a:lstStyle xmlns:a="http://schemas.openxmlformats.org/drawingml/2006/main"/>
          <a:p xmlns:a="http://schemas.openxmlformats.org/drawingml/2006/main"/>
        </p:txBody>
      </p:sp>
      <p:sp>
        <p:nvSpPr>
          <p:cNvPr id="20" name="framing-title">
            <a:extLst xmlns:a="http://schemas.openxmlformats.org/drawingml/2006/main">
              <a:ext uri="{FF2B5EF4-FFF2-40B4-BE49-F238E27FC236}">
                <a16:creationId xmlns:a16="http://schemas.microsoft.com/office/drawing/2014/main" id="{72529BDA-0005-4649-B54F-B03BFFFC7645}"/>
              </a:ext>
            </a:extLst>
          </p:cNvPr>
          <p:cNvSpPr>
            <a:spLocks xmlns:a="http://schemas.openxmlformats.org/drawingml/2006/main" noGrp="1"/>
          </p:cNvSpPr>
          <p:nvPr/>
        </p:nvSpPr>
        <p:spPr>
          <a:xfrm xmlns:a="http://schemas.openxmlformats.org/drawingml/2006/main">
            <a:off x="685800" y="3981450"/>
            <a:ext cx="447675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025" b="1">
                <a:solidFill>
                  <a:srgbClr val="B85C1E"/>
                </a:solidFill>
                <a:latin typeface="Helvetica Neue"/>
                <a:ea typeface="Helvetica Neue"/>
                <a:cs typeface="Helvetica Neue"/>
              </a:defRPr>
            </a:pPr>
            <a:r>
              <a:t>Hidden semantic difference</a:t>
            </a:r>
          </a:p>
        </p:txBody>
      </p:sp>
      <p:sp>
        <p:nvSpPr>
          <p:cNvPr id="21" name="framing-body">
            <a:extLst xmlns:a="http://schemas.openxmlformats.org/drawingml/2006/main">
              <a:ext uri="{FF2B5EF4-FFF2-40B4-BE49-F238E27FC236}">
                <a16:creationId xmlns:a16="http://schemas.microsoft.com/office/drawing/2014/main" id="{5FEA604B-788F-41F6-9D43-9158E262C5B6}"/>
              </a:ext>
            </a:extLst>
          </p:cNvPr>
          <p:cNvSpPr>
            <a:spLocks xmlns:a="http://schemas.openxmlformats.org/drawingml/2006/main" noGrp="1"/>
          </p:cNvSpPr>
          <p:nvPr/>
        </p:nvSpPr>
        <p:spPr>
          <a:xfrm xmlns:a="http://schemas.openxmlformats.org/drawingml/2006/main">
            <a:off x="685800" y="4552950"/>
            <a:ext cx="9906000" cy="590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0">
                <a:solidFill>
                  <a:srgbClr val="111111"/>
                </a:solidFill>
                <a:latin typeface="Helvetica Neue"/>
                <a:ea typeface="Helvetica Neue"/>
                <a:cs typeface="Helvetica Neue"/>
              </a:defRPr>
            </a:pPr>
            <a:r>
              <a:t>MATLAB starts with a zero-padded frame [0, 1, …, 199] and discards the final padded column. Matching this behaviour corrected the event-index offset in both open-source implementations.</a:t>
            </a:r>
          </a:p>
        </p:txBody>
      </p:sp>
      <p:sp>
        <p:nvSpPr>
          <p:cNvPr id="22" name="source-8">
            <a:extLst xmlns:a="http://schemas.openxmlformats.org/drawingml/2006/main">
              <a:ext uri="{FF2B5EF4-FFF2-40B4-BE49-F238E27FC236}">
                <a16:creationId xmlns:a16="http://schemas.microsoft.com/office/drawing/2014/main" id="{9691A15A-0542-4EFB-9D29-C287F70C1660}"/>
              </a:ext>
            </a:extLst>
          </p:cNvPr>
          <p:cNvSpPr>
            <a:spLocks xmlns:a="http://schemas.openxmlformats.org/drawingml/2006/main" noGrp="1"/>
          </p:cNvSpPr>
          <p:nvPr/>
        </p:nvSpPr>
        <p:spPr>
          <a:xfrm xmlns:a="http://schemas.openxmlformats.org/drawingml/2006/main">
            <a:off x="533400" y="6324600"/>
            <a:ext cx="101536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buNone/>
            </a:pPr>
            <a:r>
              <a:rPr sz="1200">
                <a:solidFill>
                  <a:srgbClr val="5B6470"/>
                </a:solidFill>
                <a:latin typeface="Helvetica Neue"/>
                <a:ea typeface="Helvetica Neue"/>
                <a:cs typeface="Helvetica Neue"/>
              </a:rPr>
              <a:t>Source: AE Peak-Frequency Development Log</a:t>
            </a:r>
          </a:p>
        </p:txBody>
      </p:sp>
      <p:sp>
        <p:nvSpPr>
          <p:cNvPr id="23" name="slide-number-8">
            <a:extLst xmlns:a="http://schemas.openxmlformats.org/drawingml/2006/main">
              <a:ext uri="{FF2B5EF4-FFF2-40B4-BE49-F238E27FC236}">
                <a16:creationId xmlns:a16="http://schemas.microsoft.com/office/drawing/2014/main" id="{E371B76F-D0F0-41C2-9752-E959A902B0E7}"/>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8</a:t>
            </a:r>
          </a:p>
        </p:txBody>
      </p:sp>
    </p:spTree>
    <p:extLst>
      <p:ext uri="{BB962C8B-B14F-4D97-AF65-F5344CB8AC3E}">
        <p14:creationId xmlns:p14="http://schemas.microsoft.com/office/powerpoint/2010/main" val="205667438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title-9">
            <a:extLst xmlns:a="http://schemas.openxmlformats.org/drawingml/2006/main">
              <a:ext uri="{FF2B5EF4-FFF2-40B4-BE49-F238E27FC236}">
                <a16:creationId xmlns:a16="http://schemas.microsoft.com/office/drawing/2014/main" id="{D29DDEB3-5177-423D-B85C-5B60D7B92F99}"/>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fontScale="94286"/>
          </a:bodyPr>
          <a:lstStyle xmlns:a="http://schemas.openxmlformats.org/drawingml/2006/main"/>
          <a:p xmlns:a="http://schemas.openxmlformats.org/drawingml/2006/main">
            <a:pPr algn="l">
              <a:buNone/>
              <a:defRPr sz="3600" b="1">
                <a:solidFill>
                  <a:srgbClr val="111111"/>
                </a:solidFill>
                <a:latin typeface="Helvetica Neue"/>
                <a:ea typeface="Helvetica Neue"/>
                <a:cs typeface="Helvetica Neue"/>
              </a:defRPr>
            </a:pPr>
            <a:r>
              <a:t>Legacy Top-1: 3,098 T01 rows match in three languages</a:t>
            </a:r>
          </a:p>
        </p:txBody>
      </p:sp>
      <p:sp>
        <p:nvSpPr>
          <p:cNvPr id="2" name="title-rule-9">
            <a:extLst xmlns:a="http://schemas.openxmlformats.org/drawingml/2006/main">
              <a:ext uri="{FF2B5EF4-FFF2-40B4-BE49-F238E27FC236}">
                <a16:creationId xmlns:a16="http://schemas.microsoft.com/office/drawing/2014/main" id="{4A8A7301-D3B3-4D2C-A225-D849805E695C}"/>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validation-files-panel">
            <a:extLst xmlns:a="http://schemas.openxmlformats.org/drawingml/2006/main">
              <a:ext uri="{FF2B5EF4-FFF2-40B4-BE49-F238E27FC236}">
                <a16:creationId xmlns:a16="http://schemas.microsoft.com/office/drawing/2014/main" id="{C811347F-BB75-4238-A174-A2C00DF1175E}"/>
              </a:ext>
            </a:extLst>
          </p:cNvPr>
          <p:cNvSpPr>
            <a:spLocks xmlns:a="http://schemas.openxmlformats.org/drawingml/2006/main" noGrp="1"/>
          </p:cNvSpPr>
          <p:nvPr/>
        </p:nvSpPr>
        <p:spPr>
          <a:xfrm xmlns:a="http://schemas.openxmlformats.org/drawingml/2006/main">
            <a:off x="400050" y="1733550"/>
            <a:ext cx="2476500" cy="1381125"/>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4" name="validation-files-accent">
            <a:extLst xmlns:a="http://schemas.openxmlformats.org/drawingml/2006/main">
              <a:ext uri="{FF2B5EF4-FFF2-40B4-BE49-F238E27FC236}">
                <a16:creationId xmlns:a16="http://schemas.microsoft.com/office/drawing/2014/main" id="{0D5C7D89-D2F7-47D8-A6E1-90AFB46A7363}"/>
              </a:ext>
            </a:extLst>
          </p:cNvPr>
          <p:cNvSpPr>
            <a:spLocks xmlns:a="http://schemas.openxmlformats.org/drawingml/2006/main" noGrp="1"/>
          </p:cNvSpPr>
          <p:nvPr/>
        </p:nvSpPr>
        <p:spPr>
          <a:xfrm xmlns:a="http://schemas.openxmlformats.org/drawingml/2006/main">
            <a:off x="400050" y="1733550"/>
            <a:ext cx="76200" cy="1381125"/>
          </a:xfrm>
          <a:prstGeom xmlns:a="http://schemas.openxmlformats.org/drawingml/2006/main" prst="rect">
            <a:avLst/>
          </a:prstGeom>
          <a:solidFill xmlns:a="http://schemas.openxmlformats.org/drawingml/2006/main">
            <a:srgbClr val="2457A6"/>
          </a:solidFill>
          <a:ln xmlns:a="http://schemas.openxmlformats.org/drawingml/2006/main" w="0">
            <a:solidFill>
              <a:srgbClr val="2457A6"/>
            </a:solidFill>
            <a:prstDash val="solid"/>
          </a:ln>
        </p:spPr>
        <p:txBody>
          <a:bodyPr xmlns:a="http://schemas.openxmlformats.org/drawingml/2006/main"/>
          <a:lstStyle xmlns:a="http://schemas.openxmlformats.org/drawingml/2006/main"/>
          <a:p xmlns:a="http://schemas.openxmlformats.org/drawingml/2006/main"/>
        </p:txBody>
      </p:sp>
      <p:sp>
        <p:nvSpPr>
          <p:cNvPr id="5" name="validation-files-value">
            <a:extLst xmlns:a="http://schemas.openxmlformats.org/drawingml/2006/main">
              <a:ext uri="{FF2B5EF4-FFF2-40B4-BE49-F238E27FC236}">
                <a16:creationId xmlns:a16="http://schemas.microsoft.com/office/drawing/2014/main" id="{CBB9E3C4-4F93-4F08-BBB3-7F5AC2AA31A4}"/>
              </a:ext>
            </a:extLst>
          </p:cNvPr>
          <p:cNvSpPr>
            <a:spLocks xmlns:a="http://schemas.openxmlformats.org/drawingml/2006/main" noGrp="1"/>
          </p:cNvSpPr>
          <p:nvPr/>
        </p:nvSpPr>
        <p:spPr>
          <a:xfrm xmlns:a="http://schemas.openxmlformats.org/drawingml/2006/main">
            <a:off x="628650" y="1943100"/>
            <a:ext cx="209550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000" b="1">
                <a:solidFill>
                  <a:srgbClr val="2457A6"/>
                </a:solidFill>
                <a:latin typeface="Helvetica Neue"/>
                <a:ea typeface="Helvetica Neue"/>
                <a:cs typeface="Helvetica Neue"/>
              </a:defRPr>
            </a:pPr>
            <a:r>
              <a:t>42</a:t>
            </a:r>
          </a:p>
        </p:txBody>
      </p:sp>
      <p:sp>
        <p:nvSpPr>
          <p:cNvPr id="6" name="validation-files-label">
            <a:extLst xmlns:a="http://schemas.openxmlformats.org/drawingml/2006/main">
              <a:ext uri="{FF2B5EF4-FFF2-40B4-BE49-F238E27FC236}">
                <a16:creationId xmlns:a16="http://schemas.microsoft.com/office/drawing/2014/main" id="{9360F130-9FB9-4E1B-9CCD-A8DB7E1A4A50}"/>
              </a:ext>
            </a:extLst>
          </p:cNvPr>
          <p:cNvSpPr>
            <a:spLocks xmlns:a="http://schemas.openxmlformats.org/drawingml/2006/main" noGrp="1"/>
          </p:cNvSpPr>
          <p:nvPr/>
        </p:nvSpPr>
        <p:spPr>
          <a:xfrm xmlns:a="http://schemas.openxmlformats.org/drawingml/2006/main">
            <a:off x="628650" y="2571750"/>
            <a:ext cx="207645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T01 MAT files</a:t>
            </a:r>
          </a:p>
        </p:txBody>
      </p:sp>
      <p:sp>
        <p:nvSpPr>
          <p:cNvPr id="7" name="validation-rows-panel">
            <a:extLst xmlns:a="http://schemas.openxmlformats.org/drawingml/2006/main">
              <a:ext uri="{FF2B5EF4-FFF2-40B4-BE49-F238E27FC236}">
                <a16:creationId xmlns:a16="http://schemas.microsoft.com/office/drawing/2014/main" id="{419AF81E-F24D-4C09-A4CE-8B63E297B3E5}"/>
              </a:ext>
            </a:extLst>
          </p:cNvPr>
          <p:cNvSpPr>
            <a:spLocks xmlns:a="http://schemas.openxmlformats.org/drawingml/2006/main" noGrp="1"/>
          </p:cNvSpPr>
          <p:nvPr/>
        </p:nvSpPr>
        <p:spPr>
          <a:xfrm xmlns:a="http://schemas.openxmlformats.org/drawingml/2006/main">
            <a:off x="3067050" y="1733550"/>
            <a:ext cx="2857500" cy="1381125"/>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8" name="validation-rows-accent">
            <a:extLst xmlns:a="http://schemas.openxmlformats.org/drawingml/2006/main">
              <a:ext uri="{FF2B5EF4-FFF2-40B4-BE49-F238E27FC236}">
                <a16:creationId xmlns:a16="http://schemas.microsoft.com/office/drawing/2014/main" id="{887AB306-1766-46F4-8720-05455D565386}"/>
              </a:ext>
            </a:extLst>
          </p:cNvPr>
          <p:cNvSpPr>
            <a:spLocks xmlns:a="http://schemas.openxmlformats.org/drawingml/2006/main" noGrp="1"/>
          </p:cNvSpPr>
          <p:nvPr/>
        </p:nvSpPr>
        <p:spPr>
          <a:xfrm xmlns:a="http://schemas.openxmlformats.org/drawingml/2006/main">
            <a:off x="3067050" y="1733550"/>
            <a:ext cx="76200" cy="1381125"/>
          </a:xfrm>
          <a:prstGeom xmlns:a="http://schemas.openxmlformats.org/drawingml/2006/main" prst="rect">
            <a:avLst/>
          </a:prstGeom>
          <a:solidFill xmlns:a="http://schemas.openxmlformats.org/drawingml/2006/main">
            <a:srgbClr val="2457A6"/>
          </a:solidFill>
          <a:ln xmlns:a="http://schemas.openxmlformats.org/drawingml/2006/main" w="0">
            <a:solidFill>
              <a:srgbClr val="2457A6"/>
            </a:solidFill>
            <a:prstDash val="solid"/>
          </a:ln>
        </p:spPr>
        <p:txBody>
          <a:bodyPr xmlns:a="http://schemas.openxmlformats.org/drawingml/2006/main"/>
          <a:lstStyle xmlns:a="http://schemas.openxmlformats.org/drawingml/2006/main"/>
          <a:p xmlns:a="http://schemas.openxmlformats.org/drawingml/2006/main"/>
        </p:txBody>
      </p:sp>
      <p:sp>
        <p:nvSpPr>
          <p:cNvPr id="9" name="validation-rows-value">
            <a:extLst xmlns:a="http://schemas.openxmlformats.org/drawingml/2006/main">
              <a:ext uri="{FF2B5EF4-FFF2-40B4-BE49-F238E27FC236}">
                <a16:creationId xmlns:a16="http://schemas.microsoft.com/office/drawing/2014/main" id="{DC501BD9-EA54-4310-BBB2-D640F9F7CAF6}"/>
              </a:ext>
            </a:extLst>
          </p:cNvPr>
          <p:cNvSpPr>
            <a:spLocks xmlns:a="http://schemas.openxmlformats.org/drawingml/2006/main" noGrp="1"/>
          </p:cNvSpPr>
          <p:nvPr/>
        </p:nvSpPr>
        <p:spPr>
          <a:xfrm xmlns:a="http://schemas.openxmlformats.org/drawingml/2006/main">
            <a:off x="3295650" y="1943100"/>
            <a:ext cx="247650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000" b="1">
                <a:solidFill>
                  <a:srgbClr val="2457A6"/>
                </a:solidFill>
                <a:latin typeface="Helvetica Neue"/>
                <a:ea typeface="Helvetica Neue"/>
                <a:cs typeface="Helvetica Neue"/>
              </a:defRPr>
            </a:pPr>
            <a:r>
              <a:t>3,098</a:t>
            </a:r>
          </a:p>
        </p:txBody>
      </p:sp>
      <p:sp>
        <p:nvSpPr>
          <p:cNvPr id="10" name="validation-rows-label">
            <a:extLst xmlns:a="http://schemas.openxmlformats.org/drawingml/2006/main">
              <a:ext uri="{FF2B5EF4-FFF2-40B4-BE49-F238E27FC236}">
                <a16:creationId xmlns:a16="http://schemas.microsoft.com/office/drawing/2014/main" id="{0CF45BF1-E063-47AF-865D-CE1EB26FD095}"/>
              </a:ext>
            </a:extLst>
          </p:cNvPr>
          <p:cNvSpPr>
            <a:spLocks xmlns:a="http://schemas.openxmlformats.org/drawingml/2006/main" noGrp="1"/>
          </p:cNvSpPr>
          <p:nvPr/>
        </p:nvSpPr>
        <p:spPr>
          <a:xfrm xmlns:a="http://schemas.openxmlformats.org/drawingml/2006/main">
            <a:off x="3295650" y="2571750"/>
            <a:ext cx="245745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rows in each language</a:t>
            </a:r>
          </a:p>
        </p:txBody>
      </p:sp>
      <p:sp>
        <p:nvSpPr>
          <p:cNvPr id="11" name="validation-tol-panel">
            <a:extLst xmlns:a="http://schemas.openxmlformats.org/drawingml/2006/main">
              <a:ext uri="{FF2B5EF4-FFF2-40B4-BE49-F238E27FC236}">
                <a16:creationId xmlns:a16="http://schemas.microsoft.com/office/drawing/2014/main" id="{95092E0F-599F-42A1-8B83-A3B2FDBFECDF}"/>
              </a:ext>
            </a:extLst>
          </p:cNvPr>
          <p:cNvSpPr>
            <a:spLocks xmlns:a="http://schemas.openxmlformats.org/drawingml/2006/main" noGrp="1"/>
          </p:cNvSpPr>
          <p:nvPr/>
        </p:nvSpPr>
        <p:spPr>
          <a:xfrm xmlns:a="http://schemas.openxmlformats.org/drawingml/2006/main">
            <a:off x="6115050" y="1733550"/>
            <a:ext cx="3219450" cy="1381125"/>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12" name="validation-tol-accent">
            <a:extLst xmlns:a="http://schemas.openxmlformats.org/drawingml/2006/main">
              <a:ext uri="{FF2B5EF4-FFF2-40B4-BE49-F238E27FC236}">
                <a16:creationId xmlns:a16="http://schemas.microsoft.com/office/drawing/2014/main" id="{3295D678-E623-47FE-889A-49E59F8DECCB}"/>
              </a:ext>
            </a:extLst>
          </p:cNvPr>
          <p:cNvSpPr>
            <a:spLocks xmlns:a="http://schemas.openxmlformats.org/drawingml/2006/main" noGrp="1"/>
          </p:cNvSpPr>
          <p:nvPr/>
        </p:nvSpPr>
        <p:spPr>
          <a:xfrm xmlns:a="http://schemas.openxmlformats.org/drawingml/2006/main">
            <a:off x="6115050" y="1733550"/>
            <a:ext cx="76200" cy="1381125"/>
          </a:xfrm>
          <a:prstGeom xmlns:a="http://schemas.openxmlformats.org/drawingml/2006/main" prst="rect">
            <a:avLst/>
          </a:prstGeom>
          <a:solidFill xmlns:a="http://schemas.openxmlformats.org/drawingml/2006/main">
            <a:srgbClr val="2457A6"/>
          </a:solidFill>
          <a:ln xmlns:a="http://schemas.openxmlformats.org/drawingml/2006/main" w="0">
            <a:solidFill>
              <a:srgbClr val="2457A6"/>
            </a:solidFill>
            <a:prstDash val="solid"/>
          </a:ln>
        </p:spPr>
        <p:txBody>
          <a:bodyPr xmlns:a="http://schemas.openxmlformats.org/drawingml/2006/main"/>
          <a:lstStyle xmlns:a="http://schemas.openxmlformats.org/drawingml/2006/main"/>
          <a:p xmlns:a="http://schemas.openxmlformats.org/drawingml/2006/main"/>
        </p:txBody>
      </p:sp>
      <p:sp>
        <p:nvSpPr>
          <p:cNvPr id="13" name="validation-tol-value">
            <a:extLst xmlns:a="http://schemas.openxmlformats.org/drawingml/2006/main">
              <a:ext uri="{FF2B5EF4-FFF2-40B4-BE49-F238E27FC236}">
                <a16:creationId xmlns:a16="http://schemas.microsoft.com/office/drawing/2014/main" id="{6C852AE8-DEE0-4D2F-A149-4D499E2F32BB}"/>
              </a:ext>
            </a:extLst>
          </p:cNvPr>
          <p:cNvSpPr>
            <a:spLocks xmlns:a="http://schemas.openxmlformats.org/drawingml/2006/main" noGrp="1"/>
          </p:cNvSpPr>
          <p:nvPr/>
        </p:nvSpPr>
        <p:spPr>
          <a:xfrm xmlns:a="http://schemas.openxmlformats.org/drawingml/2006/main">
            <a:off x="6343650" y="1943100"/>
            <a:ext cx="283845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000" b="1">
                <a:solidFill>
                  <a:srgbClr val="2457A6"/>
                </a:solidFill>
                <a:latin typeface="Helvetica Neue"/>
                <a:ea typeface="Helvetica Neue"/>
                <a:cs typeface="Helvetica Neue"/>
              </a:defRPr>
            </a:pPr>
            <a:r>
              <a:t>10⁻¹²</a:t>
            </a:r>
          </a:p>
        </p:txBody>
      </p:sp>
      <p:sp>
        <p:nvSpPr>
          <p:cNvPr id="14" name="validation-tol-label">
            <a:extLst xmlns:a="http://schemas.openxmlformats.org/drawingml/2006/main">
              <a:ext uri="{FF2B5EF4-FFF2-40B4-BE49-F238E27FC236}">
                <a16:creationId xmlns:a16="http://schemas.microsoft.com/office/drawing/2014/main" id="{B09CE97B-A67E-4535-80C2-40EBBC306929}"/>
              </a:ext>
            </a:extLst>
          </p:cNvPr>
          <p:cNvSpPr>
            <a:spLocks xmlns:a="http://schemas.openxmlformats.org/drawingml/2006/main" noGrp="1"/>
          </p:cNvSpPr>
          <p:nvPr/>
        </p:nvSpPr>
        <p:spPr>
          <a:xfrm xmlns:a="http://schemas.openxmlformats.org/drawingml/2006/main">
            <a:off x="6343650" y="2571750"/>
            <a:ext cx="28194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relative and absolute tolerance</a:t>
            </a:r>
          </a:p>
        </p:txBody>
      </p:sp>
      <p:sp>
        <p:nvSpPr>
          <p:cNvPr id="15" name="validation-table-bg">
            <a:extLst xmlns:a="http://schemas.openxmlformats.org/drawingml/2006/main">
              <a:ext uri="{FF2B5EF4-FFF2-40B4-BE49-F238E27FC236}">
                <a16:creationId xmlns:a16="http://schemas.microsoft.com/office/drawing/2014/main" id="{7BE7D03E-542C-47F6-9535-8A294FE29A66}"/>
              </a:ext>
            </a:extLst>
          </p:cNvPr>
          <p:cNvSpPr>
            <a:spLocks xmlns:a="http://schemas.openxmlformats.org/drawingml/2006/main" noGrp="1"/>
          </p:cNvSpPr>
          <p:nvPr/>
        </p:nvSpPr>
        <p:spPr>
          <a:xfrm xmlns:a="http://schemas.openxmlformats.org/drawingml/2006/main">
            <a:off x="400050" y="3371850"/>
            <a:ext cx="11391900" cy="2324100"/>
          </a:xfrm>
          <a:prstGeom xmlns:a="http://schemas.openxmlformats.org/drawingml/2006/main" prst="rect">
            <a:avLst/>
          </a:prstGeom>
          <a:solidFill xmlns:a="http://schemas.openxmlformats.org/drawingml/2006/main">
            <a:srgbClr val="FAFAFA"/>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6" name="v-head-0">
            <a:extLst xmlns:a="http://schemas.openxmlformats.org/drawingml/2006/main">
              <a:ext uri="{FF2B5EF4-FFF2-40B4-BE49-F238E27FC236}">
                <a16:creationId xmlns:a16="http://schemas.microsoft.com/office/drawing/2014/main" id="{0E1C676B-93B3-418C-8FCB-EB7CF6FB1BE5}"/>
              </a:ext>
            </a:extLst>
          </p:cNvPr>
          <p:cNvSpPr>
            <a:spLocks xmlns:a="http://schemas.openxmlformats.org/drawingml/2006/main" noGrp="1"/>
          </p:cNvSpPr>
          <p:nvPr/>
        </p:nvSpPr>
        <p:spPr>
          <a:xfrm xmlns:a="http://schemas.openxmlformats.org/drawingml/2006/main">
            <a:off x="514350" y="3543300"/>
            <a:ext cx="1619250" cy="2857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5B6470"/>
                </a:solidFill>
                <a:latin typeface="Helvetica Neue"/>
                <a:ea typeface="Helvetica Neue"/>
                <a:cs typeface="Helvetica Neue"/>
              </a:defRPr>
            </a:pPr>
            <a:r>
              <a:t>Platform</a:t>
            </a:r>
          </a:p>
        </p:txBody>
      </p:sp>
      <p:sp>
        <p:nvSpPr>
          <p:cNvPr id="17" name="v-head-1">
            <a:extLst xmlns:a="http://schemas.openxmlformats.org/drawingml/2006/main">
              <a:ext uri="{FF2B5EF4-FFF2-40B4-BE49-F238E27FC236}">
                <a16:creationId xmlns:a16="http://schemas.microsoft.com/office/drawing/2014/main" id="{0F494587-9C6A-4A43-A23B-FB7527299A77}"/>
              </a:ext>
            </a:extLst>
          </p:cNvPr>
          <p:cNvSpPr>
            <a:spLocks xmlns:a="http://schemas.openxmlformats.org/drawingml/2006/main" noGrp="1"/>
          </p:cNvSpPr>
          <p:nvPr/>
        </p:nvSpPr>
        <p:spPr>
          <a:xfrm xmlns:a="http://schemas.openxmlformats.org/drawingml/2006/main">
            <a:off x="2324100" y="3543300"/>
            <a:ext cx="1314450" cy="2857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5B6470"/>
                </a:solidFill>
                <a:latin typeface="Helvetica Neue"/>
                <a:ea typeface="Helvetica Neue"/>
                <a:cs typeface="Helvetica Neue"/>
              </a:defRPr>
            </a:pPr>
            <a:r>
              <a:t>Rows</a:t>
            </a:r>
          </a:p>
        </p:txBody>
      </p:sp>
      <p:sp>
        <p:nvSpPr>
          <p:cNvPr id="18" name="v-head-2">
            <a:extLst xmlns:a="http://schemas.openxmlformats.org/drawingml/2006/main">
              <a:ext uri="{FF2B5EF4-FFF2-40B4-BE49-F238E27FC236}">
                <a16:creationId xmlns:a16="http://schemas.microsoft.com/office/drawing/2014/main" id="{9E9C2814-35D9-4D7C-ACD8-00E1040AE951}"/>
              </a:ext>
            </a:extLst>
          </p:cNvPr>
          <p:cNvSpPr>
            <a:spLocks xmlns:a="http://schemas.openxmlformats.org/drawingml/2006/main" noGrp="1"/>
          </p:cNvSpPr>
          <p:nvPr/>
        </p:nvSpPr>
        <p:spPr>
          <a:xfrm xmlns:a="http://schemas.openxmlformats.org/drawingml/2006/main">
            <a:off x="3829050" y="3543300"/>
            <a:ext cx="1981200" cy="2857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5B6470"/>
                </a:solidFill>
                <a:latin typeface="Helvetica Neue"/>
                <a:ea typeface="Helvetica Neue"/>
                <a:cs typeface="Helvetica Neue"/>
              </a:defRPr>
            </a:pPr>
            <a:r>
              <a:t>Event indices</a:t>
            </a:r>
          </a:p>
        </p:txBody>
      </p:sp>
      <p:sp>
        <p:nvSpPr>
          <p:cNvPr id="19" name="v-head-3">
            <a:extLst xmlns:a="http://schemas.openxmlformats.org/drawingml/2006/main">
              <a:ext uri="{FF2B5EF4-FFF2-40B4-BE49-F238E27FC236}">
                <a16:creationId xmlns:a16="http://schemas.microsoft.com/office/drawing/2014/main" id="{A0BD4BF4-B280-4583-B5EB-6A703F071688}"/>
              </a:ext>
            </a:extLst>
          </p:cNvPr>
          <p:cNvSpPr>
            <a:spLocks xmlns:a="http://schemas.openxmlformats.org/drawingml/2006/main" noGrp="1"/>
          </p:cNvSpPr>
          <p:nvPr/>
        </p:nvSpPr>
        <p:spPr>
          <a:xfrm xmlns:a="http://schemas.openxmlformats.org/drawingml/2006/main">
            <a:off x="6000750" y="3543300"/>
            <a:ext cx="1447800" cy="2857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5B6470"/>
                </a:solidFill>
                <a:latin typeface="Helvetica Neue"/>
                <a:ea typeface="Helvetica Neue"/>
                <a:cs typeface="Helvetica Neue"/>
              </a:defRPr>
            </a:pPr>
            <a:r>
              <a:t>Time error</a:t>
            </a:r>
          </a:p>
        </p:txBody>
      </p:sp>
      <p:sp>
        <p:nvSpPr>
          <p:cNvPr id="20" name="v-head-4">
            <a:extLst xmlns:a="http://schemas.openxmlformats.org/drawingml/2006/main">
              <a:ext uri="{FF2B5EF4-FFF2-40B4-BE49-F238E27FC236}">
                <a16:creationId xmlns:a16="http://schemas.microsoft.com/office/drawing/2014/main" id="{C7C28401-A79E-458D-9835-C9AEFD418C3B}"/>
              </a:ext>
            </a:extLst>
          </p:cNvPr>
          <p:cNvSpPr>
            <a:spLocks xmlns:a="http://schemas.openxmlformats.org/drawingml/2006/main" noGrp="1"/>
          </p:cNvSpPr>
          <p:nvPr/>
        </p:nvSpPr>
        <p:spPr>
          <a:xfrm xmlns:a="http://schemas.openxmlformats.org/drawingml/2006/main">
            <a:off x="7639050" y="3543300"/>
            <a:ext cx="1600200" cy="2857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5B6470"/>
                </a:solidFill>
                <a:latin typeface="Helvetica Neue"/>
                <a:ea typeface="Helvetica Neue"/>
                <a:cs typeface="Helvetica Neue"/>
              </a:defRPr>
            </a:pPr>
            <a:r>
              <a:t>Frequency error</a:t>
            </a:r>
          </a:p>
        </p:txBody>
      </p:sp>
      <p:sp>
        <p:nvSpPr>
          <p:cNvPr id="21" name="v-head-5">
            <a:extLst xmlns:a="http://schemas.openxmlformats.org/drawingml/2006/main">
              <a:ext uri="{FF2B5EF4-FFF2-40B4-BE49-F238E27FC236}">
                <a16:creationId xmlns:a16="http://schemas.microsoft.com/office/drawing/2014/main" id="{3ADC1660-B038-4F5D-8646-4449CC1A7E0D}"/>
              </a:ext>
            </a:extLst>
          </p:cNvPr>
          <p:cNvSpPr>
            <a:spLocks xmlns:a="http://schemas.openxmlformats.org/drawingml/2006/main" noGrp="1"/>
          </p:cNvSpPr>
          <p:nvPr/>
        </p:nvSpPr>
        <p:spPr>
          <a:xfrm xmlns:a="http://schemas.openxmlformats.org/drawingml/2006/main">
            <a:off x="9429750" y="3543300"/>
            <a:ext cx="2286000" cy="2857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5B6470"/>
                </a:solidFill>
                <a:latin typeface="Helvetica Neue"/>
                <a:ea typeface="Helvetica Neue"/>
                <a:cs typeface="Helvetica Neue"/>
              </a:defRPr>
            </a:pPr>
            <a:r>
              <a:t>Magnitude error</a:t>
            </a:r>
          </a:p>
        </p:txBody>
      </p:sp>
      <p:sp>
        <p:nvSpPr>
          <p:cNvPr id="22" name="v-row-rule-0">
            <a:extLst xmlns:a="http://schemas.openxmlformats.org/drawingml/2006/main">
              <a:ext uri="{FF2B5EF4-FFF2-40B4-BE49-F238E27FC236}">
                <a16:creationId xmlns:a16="http://schemas.microsoft.com/office/drawing/2014/main" id="{8E5B9773-DD8E-49B9-BBD0-9F8E13BB28DE}"/>
              </a:ext>
            </a:extLst>
          </p:cNvPr>
          <p:cNvSpPr>
            <a:spLocks xmlns:a="http://schemas.openxmlformats.org/drawingml/2006/main" noGrp="1"/>
          </p:cNvSpPr>
          <p:nvPr/>
        </p:nvSpPr>
        <p:spPr>
          <a:xfrm xmlns:a="http://schemas.openxmlformats.org/drawingml/2006/main">
            <a:off x="514350" y="3962400"/>
            <a:ext cx="111442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3" name="v-0-0">
            <a:extLst xmlns:a="http://schemas.openxmlformats.org/drawingml/2006/main">
              <a:ext uri="{FF2B5EF4-FFF2-40B4-BE49-F238E27FC236}">
                <a16:creationId xmlns:a16="http://schemas.microsoft.com/office/drawing/2014/main" id="{86C9AF67-A007-445B-9C67-925D6A1E078B}"/>
              </a:ext>
            </a:extLst>
          </p:cNvPr>
          <p:cNvSpPr>
            <a:spLocks xmlns:a="http://schemas.openxmlformats.org/drawingml/2006/main" noGrp="1"/>
          </p:cNvSpPr>
          <p:nvPr/>
        </p:nvSpPr>
        <p:spPr>
          <a:xfrm xmlns:a="http://schemas.openxmlformats.org/drawingml/2006/main">
            <a:off x="514350" y="4057650"/>
            <a:ext cx="16192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111111"/>
                </a:solidFill>
                <a:latin typeface="Helvetica Neue"/>
                <a:ea typeface="Helvetica Neue"/>
                <a:cs typeface="Helvetica Neue"/>
              </a:defRPr>
            </a:pPr>
            <a:r>
              <a:t>MATLAB</a:t>
            </a:r>
          </a:p>
        </p:txBody>
      </p:sp>
      <p:sp>
        <p:nvSpPr>
          <p:cNvPr id="24" name="v-0-1">
            <a:extLst xmlns:a="http://schemas.openxmlformats.org/drawingml/2006/main">
              <a:ext uri="{FF2B5EF4-FFF2-40B4-BE49-F238E27FC236}">
                <a16:creationId xmlns:a16="http://schemas.microsoft.com/office/drawing/2014/main" id="{0B4032B9-CF64-4083-AABF-FB79413BFDD1}"/>
              </a:ext>
            </a:extLst>
          </p:cNvPr>
          <p:cNvSpPr>
            <a:spLocks xmlns:a="http://schemas.openxmlformats.org/drawingml/2006/main" noGrp="1"/>
          </p:cNvSpPr>
          <p:nvPr/>
        </p:nvSpPr>
        <p:spPr>
          <a:xfrm xmlns:a="http://schemas.openxmlformats.org/drawingml/2006/main">
            <a:off x="2324100" y="4057650"/>
            <a:ext cx="13144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3,098</a:t>
            </a:r>
          </a:p>
        </p:txBody>
      </p:sp>
      <p:sp>
        <p:nvSpPr>
          <p:cNvPr id="25" name="v-0-2">
            <a:extLst xmlns:a="http://schemas.openxmlformats.org/drawingml/2006/main">
              <a:ext uri="{FF2B5EF4-FFF2-40B4-BE49-F238E27FC236}">
                <a16:creationId xmlns:a16="http://schemas.microsoft.com/office/drawing/2014/main" id="{C0C59420-71CE-42A8-9207-5BD8BCDE9920}"/>
              </a:ext>
            </a:extLst>
          </p:cNvPr>
          <p:cNvSpPr>
            <a:spLocks xmlns:a="http://schemas.openxmlformats.org/drawingml/2006/main" noGrp="1"/>
          </p:cNvSpPr>
          <p:nvPr/>
        </p:nvSpPr>
        <p:spPr>
          <a:xfrm xmlns:a="http://schemas.openxmlformats.org/drawingml/2006/main">
            <a:off x="3829050" y="4057650"/>
            <a:ext cx="19812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Reference</a:t>
            </a:r>
          </a:p>
        </p:txBody>
      </p:sp>
      <p:sp>
        <p:nvSpPr>
          <p:cNvPr id="26" name="v-0-3">
            <a:extLst xmlns:a="http://schemas.openxmlformats.org/drawingml/2006/main">
              <a:ext uri="{FF2B5EF4-FFF2-40B4-BE49-F238E27FC236}">
                <a16:creationId xmlns:a16="http://schemas.microsoft.com/office/drawing/2014/main" id="{21088106-944D-426A-AEC8-67661020CEB3}"/>
              </a:ext>
            </a:extLst>
          </p:cNvPr>
          <p:cNvSpPr>
            <a:spLocks xmlns:a="http://schemas.openxmlformats.org/drawingml/2006/main" noGrp="1"/>
          </p:cNvSpPr>
          <p:nvPr/>
        </p:nvSpPr>
        <p:spPr>
          <a:xfrm xmlns:a="http://schemas.openxmlformats.org/drawingml/2006/main">
            <a:off x="6000750" y="4057650"/>
            <a:ext cx="14478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a:t>
            </a:r>
          </a:p>
        </p:txBody>
      </p:sp>
      <p:sp>
        <p:nvSpPr>
          <p:cNvPr id="27" name="v-0-4">
            <a:extLst xmlns:a="http://schemas.openxmlformats.org/drawingml/2006/main">
              <a:ext uri="{FF2B5EF4-FFF2-40B4-BE49-F238E27FC236}">
                <a16:creationId xmlns:a16="http://schemas.microsoft.com/office/drawing/2014/main" id="{C226C80D-84B5-46B6-B7EA-CE4E8668D14F}"/>
              </a:ext>
            </a:extLst>
          </p:cNvPr>
          <p:cNvSpPr>
            <a:spLocks xmlns:a="http://schemas.openxmlformats.org/drawingml/2006/main" noGrp="1"/>
          </p:cNvSpPr>
          <p:nvPr/>
        </p:nvSpPr>
        <p:spPr>
          <a:xfrm xmlns:a="http://schemas.openxmlformats.org/drawingml/2006/main">
            <a:off x="7639050" y="4057650"/>
            <a:ext cx="16002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a:t>
            </a:r>
          </a:p>
        </p:txBody>
      </p:sp>
      <p:sp>
        <p:nvSpPr>
          <p:cNvPr id="28" name="v-0-5">
            <a:extLst xmlns:a="http://schemas.openxmlformats.org/drawingml/2006/main">
              <a:ext uri="{FF2B5EF4-FFF2-40B4-BE49-F238E27FC236}">
                <a16:creationId xmlns:a16="http://schemas.microsoft.com/office/drawing/2014/main" id="{FD83216E-DF14-4D69-84F7-EBD09F757656}"/>
              </a:ext>
            </a:extLst>
          </p:cNvPr>
          <p:cNvSpPr>
            <a:spLocks xmlns:a="http://schemas.openxmlformats.org/drawingml/2006/main" noGrp="1"/>
          </p:cNvSpPr>
          <p:nvPr/>
        </p:nvSpPr>
        <p:spPr>
          <a:xfrm xmlns:a="http://schemas.openxmlformats.org/drawingml/2006/main">
            <a:off x="9429750" y="4057650"/>
            <a:ext cx="22860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a:t>
            </a:r>
          </a:p>
        </p:txBody>
      </p:sp>
      <p:sp>
        <p:nvSpPr>
          <p:cNvPr id="29" name="v-row-rule-1">
            <a:extLst xmlns:a="http://schemas.openxmlformats.org/drawingml/2006/main">
              <a:ext uri="{FF2B5EF4-FFF2-40B4-BE49-F238E27FC236}">
                <a16:creationId xmlns:a16="http://schemas.microsoft.com/office/drawing/2014/main" id="{357519EB-E051-496E-8034-F5A38E945A43}"/>
              </a:ext>
            </a:extLst>
          </p:cNvPr>
          <p:cNvSpPr>
            <a:spLocks xmlns:a="http://schemas.openxmlformats.org/drawingml/2006/main" noGrp="1"/>
          </p:cNvSpPr>
          <p:nvPr/>
        </p:nvSpPr>
        <p:spPr>
          <a:xfrm xmlns:a="http://schemas.openxmlformats.org/drawingml/2006/main">
            <a:off x="514350" y="4457700"/>
            <a:ext cx="111442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30" name="v-1-0">
            <a:extLst xmlns:a="http://schemas.openxmlformats.org/drawingml/2006/main">
              <a:ext uri="{FF2B5EF4-FFF2-40B4-BE49-F238E27FC236}">
                <a16:creationId xmlns:a16="http://schemas.microsoft.com/office/drawing/2014/main" id="{E83C6FC9-9A94-4553-B603-338C444989BF}"/>
              </a:ext>
            </a:extLst>
          </p:cNvPr>
          <p:cNvSpPr>
            <a:spLocks xmlns:a="http://schemas.openxmlformats.org/drawingml/2006/main" noGrp="1"/>
          </p:cNvSpPr>
          <p:nvPr/>
        </p:nvSpPr>
        <p:spPr>
          <a:xfrm xmlns:a="http://schemas.openxmlformats.org/drawingml/2006/main">
            <a:off x="514350" y="4552950"/>
            <a:ext cx="16192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111111"/>
                </a:solidFill>
                <a:latin typeface="Helvetica Neue"/>
                <a:ea typeface="Helvetica Neue"/>
                <a:cs typeface="Helvetica Neue"/>
              </a:defRPr>
            </a:pPr>
            <a:r>
              <a:t>Python</a:t>
            </a:r>
          </a:p>
        </p:txBody>
      </p:sp>
      <p:sp>
        <p:nvSpPr>
          <p:cNvPr id="31" name="v-1-1">
            <a:extLst xmlns:a="http://schemas.openxmlformats.org/drawingml/2006/main">
              <a:ext uri="{FF2B5EF4-FFF2-40B4-BE49-F238E27FC236}">
                <a16:creationId xmlns:a16="http://schemas.microsoft.com/office/drawing/2014/main" id="{59C769FC-1AC7-4778-8652-E7F31628F0CA}"/>
              </a:ext>
            </a:extLst>
          </p:cNvPr>
          <p:cNvSpPr>
            <a:spLocks xmlns:a="http://schemas.openxmlformats.org/drawingml/2006/main" noGrp="1"/>
          </p:cNvSpPr>
          <p:nvPr/>
        </p:nvSpPr>
        <p:spPr>
          <a:xfrm xmlns:a="http://schemas.openxmlformats.org/drawingml/2006/main">
            <a:off x="2324100" y="4552950"/>
            <a:ext cx="13144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3,098</a:t>
            </a:r>
          </a:p>
        </p:txBody>
      </p:sp>
      <p:sp>
        <p:nvSpPr>
          <p:cNvPr id="32" name="v-1-2">
            <a:extLst xmlns:a="http://schemas.openxmlformats.org/drawingml/2006/main">
              <a:ext uri="{FF2B5EF4-FFF2-40B4-BE49-F238E27FC236}">
                <a16:creationId xmlns:a16="http://schemas.microsoft.com/office/drawing/2014/main" id="{62102142-DEF3-4B48-A084-378EC903A86A}"/>
              </a:ext>
            </a:extLst>
          </p:cNvPr>
          <p:cNvSpPr>
            <a:spLocks xmlns:a="http://schemas.openxmlformats.org/drawingml/2006/main" noGrp="1"/>
          </p:cNvSpPr>
          <p:nvPr/>
        </p:nvSpPr>
        <p:spPr>
          <a:xfrm xmlns:a="http://schemas.openxmlformats.org/drawingml/2006/main">
            <a:off x="3829050" y="4552950"/>
            <a:ext cx="19812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Identical</a:t>
            </a:r>
          </a:p>
        </p:txBody>
      </p:sp>
      <p:sp>
        <p:nvSpPr>
          <p:cNvPr id="33" name="v-1-3">
            <a:extLst xmlns:a="http://schemas.openxmlformats.org/drawingml/2006/main">
              <a:ext uri="{FF2B5EF4-FFF2-40B4-BE49-F238E27FC236}">
                <a16:creationId xmlns:a16="http://schemas.microsoft.com/office/drawing/2014/main" id="{3A3FBC21-0E5C-49F3-BF66-9A189AC8E825}"/>
              </a:ext>
            </a:extLst>
          </p:cNvPr>
          <p:cNvSpPr>
            <a:spLocks xmlns:a="http://schemas.openxmlformats.org/drawingml/2006/main" noGrp="1"/>
          </p:cNvSpPr>
          <p:nvPr/>
        </p:nvSpPr>
        <p:spPr>
          <a:xfrm xmlns:a="http://schemas.openxmlformats.org/drawingml/2006/main">
            <a:off x="6000750" y="4552950"/>
            <a:ext cx="14478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0.0 s</a:t>
            </a:r>
          </a:p>
        </p:txBody>
      </p:sp>
      <p:sp>
        <p:nvSpPr>
          <p:cNvPr id="34" name="v-1-4">
            <a:extLst xmlns:a="http://schemas.openxmlformats.org/drawingml/2006/main">
              <a:ext uri="{FF2B5EF4-FFF2-40B4-BE49-F238E27FC236}">
                <a16:creationId xmlns:a16="http://schemas.microsoft.com/office/drawing/2014/main" id="{9547D709-F74D-4DED-A3F0-6FD369D3CDA6}"/>
              </a:ext>
            </a:extLst>
          </p:cNvPr>
          <p:cNvSpPr>
            <a:spLocks xmlns:a="http://schemas.openxmlformats.org/drawingml/2006/main" noGrp="1"/>
          </p:cNvSpPr>
          <p:nvPr/>
        </p:nvSpPr>
        <p:spPr>
          <a:xfrm xmlns:a="http://schemas.openxmlformats.org/drawingml/2006/main">
            <a:off x="7639050" y="4552950"/>
            <a:ext cx="16002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0.0 kHz</a:t>
            </a:r>
          </a:p>
        </p:txBody>
      </p:sp>
      <p:sp>
        <p:nvSpPr>
          <p:cNvPr id="35" name="v-1-5">
            <a:extLst xmlns:a="http://schemas.openxmlformats.org/drawingml/2006/main">
              <a:ext uri="{FF2B5EF4-FFF2-40B4-BE49-F238E27FC236}">
                <a16:creationId xmlns:a16="http://schemas.microsoft.com/office/drawing/2014/main" id="{28316834-950C-45B5-B3EF-659D7212A047}"/>
              </a:ext>
            </a:extLst>
          </p:cNvPr>
          <p:cNvSpPr>
            <a:spLocks xmlns:a="http://schemas.openxmlformats.org/drawingml/2006/main" noGrp="1"/>
          </p:cNvSpPr>
          <p:nvPr/>
        </p:nvSpPr>
        <p:spPr>
          <a:xfrm xmlns:a="http://schemas.openxmlformats.org/drawingml/2006/main">
            <a:off x="9429750" y="4552950"/>
            <a:ext cx="22860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5.68×10⁻¹³</a:t>
            </a:r>
          </a:p>
        </p:txBody>
      </p:sp>
      <p:sp>
        <p:nvSpPr>
          <p:cNvPr id="36" name="v-row-rule-2">
            <a:extLst xmlns:a="http://schemas.openxmlformats.org/drawingml/2006/main">
              <a:ext uri="{FF2B5EF4-FFF2-40B4-BE49-F238E27FC236}">
                <a16:creationId xmlns:a16="http://schemas.microsoft.com/office/drawing/2014/main" id="{EEAD7DA5-4834-45E4-8B0B-57F0BF48EE6A}"/>
              </a:ext>
            </a:extLst>
          </p:cNvPr>
          <p:cNvSpPr>
            <a:spLocks xmlns:a="http://schemas.openxmlformats.org/drawingml/2006/main" noGrp="1"/>
          </p:cNvSpPr>
          <p:nvPr/>
        </p:nvSpPr>
        <p:spPr>
          <a:xfrm xmlns:a="http://schemas.openxmlformats.org/drawingml/2006/main">
            <a:off x="514350" y="4953000"/>
            <a:ext cx="111442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37" name="v-2-0">
            <a:extLst xmlns:a="http://schemas.openxmlformats.org/drawingml/2006/main">
              <a:ext uri="{FF2B5EF4-FFF2-40B4-BE49-F238E27FC236}">
                <a16:creationId xmlns:a16="http://schemas.microsoft.com/office/drawing/2014/main" id="{51542793-7897-4E65-89DE-78DFA630AE63}"/>
              </a:ext>
            </a:extLst>
          </p:cNvPr>
          <p:cNvSpPr>
            <a:spLocks xmlns:a="http://schemas.openxmlformats.org/drawingml/2006/main" noGrp="1"/>
          </p:cNvSpPr>
          <p:nvPr/>
        </p:nvSpPr>
        <p:spPr>
          <a:xfrm xmlns:a="http://schemas.openxmlformats.org/drawingml/2006/main">
            <a:off x="514350" y="5048250"/>
            <a:ext cx="16192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111111"/>
                </a:solidFill>
                <a:latin typeface="Helvetica Neue"/>
                <a:ea typeface="Helvetica Neue"/>
                <a:cs typeface="Helvetica Neue"/>
              </a:defRPr>
            </a:pPr>
            <a:r>
              <a:t>Julia</a:t>
            </a:r>
          </a:p>
        </p:txBody>
      </p:sp>
      <p:sp>
        <p:nvSpPr>
          <p:cNvPr id="38" name="v-2-1">
            <a:extLst xmlns:a="http://schemas.openxmlformats.org/drawingml/2006/main">
              <a:ext uri="{FF2B5EF4-FFF2-40B4-BE49-F238E27FC236}">
                <a16:creationId xmlns:a16="http://schemas.microsoft.com/office/drawing/2014/main" id="{117F6AA9-9FC2-41CC-8750-0DEAAF2AE404}"/>
              </a:ext>
            </a:extLst>
          </p:cNvPr>
          <p:cNvSpPr>
            <a:spLocks xmlns:a="http://schemas.openxmlformats.org/drawingml/2006/main" noGrp="1"/>
          </p:cNvSpPr>
          <p:nvPr/>
        </p:nvSpPr>
        <p:spPr>
          <a:xfrm xmlns:a="http://schemas.openxmlformats.org/drawingml/2006/main">
            <a:off x="2324100" y="5048250"/>
            <a:ext cx="13144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3,098</a:t>
            </a:r>
          </a:p>
        </p:txBody>
      </p:sp>
      <p:sp>
        <p:nvSpPr>
          <p:cNvPr id="39" name="v-2-2">
            <a:extLst xmlns:a="http://schemas.openxmlformats.org/drawingml/2006/main">
              <a:ext uri="{FF2B5EF4-FFF2-40B4-BE49-F238E27FC236}">
                <a16:creationId xmlns:a16="http://schemas.microsoft.com/office/drawing/2014/main" id="{C46973A8-EB63-43F9-84C1-A262274F6D9F}"/>
              </a:ext>
            </a:extLst>
          </p:cNvPr>
          <p:cNvSpPr>
            <a:spLocks xmlns:a="http://schemas.openxmlformats.org/drawingml/2006/main" noGrp="1"/>
          </p:cNvSpPr>
          <p:nvPr/>
        </p:nvSpPr>
        <p:spPr>
          <a:xfrm xmlns:a="http://schemas.openxmlformats.org/drawingml/2006/main">
            <a:off x="3829050" y="5048250"/>
            <a:ext cx="19812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Identical</a:t>
            </a:r>
          </a:p>
        </p:txBody>
      </p:sp>
      <p:sp>
        <p:nvSpPr>
          <p:cNvPr id="40" name="v-2-3">
            <a:extLst xmlns:a="http://schemas.openxmlformats.org/drawingml/2006/main">
              <a:ext uri="{FF2B5EF4-FFF2-40B4-BE49-F238E27FC236}">
                <a16:creationId xmlns:a16="http://schemas.microsoft.com/office/drawing/2014/main" id="{BC2C82C5-90F3-4EBB-ADDD-A9C4D8AFB9EE}"/>
              </a:ext>
            </a:extLst>
          </p:cNvPr>
          <p:cNvSpPr>
            <a:spLocks xmlns:a="http://schemas.openxmlformats.org/drawingml/2006/main" noGrp="1"/>
          </p:cNvSpPr>
          <p:nvPr/>
        </p:nvSpPr>
        <p:spPr>
          <a:xfrm xmlns:a="http://schemas.openxmlformats.org/drawingml/2006/main">
            <a:off x="6000750" y="5048250"/>
            <a:ext cx="14478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0.0 s</a:t>
            </a:r>
          </a:p>
        </p:txBody>
      </p:sp>
      <p:sp>
        <p:nvSpPr>
          <p:cNvPr id="41" name="v-2-4">
            <a:extLst xmlns:a="http://schemas.openxmlformats.org/drawingml/2006/main">
              <a:ext uri="{FF2B5EF4-FFF2-40B4-BE49-F238E27FC236}">
                <a16:creationId xmlns:a16="http://schemas.microsoft.com/office/drawing/2014/main" id="{760C8367-BC64-4402-B173-AFAF2D00244F}"/>
              </a:ext>
            </a:extLst>
          </p:cNvPr>
          <p:cNvSpPr>
            <a:spLocks xmlns:a="http://schemas.openxmlformats.org/drawingml/2006/main" noGrp="1"/>
          </p:cNvSpPr>
          <p:nvPr/>
        </p:nvSpPr>
        <p:spPr>
          <a:xfrm xmlns:a="http://schemas.openxmlformats.org/drawingml/2006/main">
            <a:off x="7639050" y="5048250"/>
            <a:ext cx="16002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0.0 kHz</a:t>
            </a:r>
          </a:p>
        </p:txBody>
      </p:sp>
      <p:sp>
        <p:nvSpPr>
          <p:cNvPr id="42" name="v-2-5">
            <a:extLst xmlns:a="http://schemas.openxmlformats.org/drawingml/2006/main">
              <a:ext uri="{FF2B5EF4-FFF2-40B4-BE49-F238E27FC236}">
                <a16:creationId xmlns:a16="http://schemas.microsoft.com/office/drawing/2014/main" id="{4F43B895-64C5-4C2D-BD42-165382811341}"/>
              </a:ext>
            </a:extLst>
          </p:cNvPr>
          <p:cNvSpPr>
            <a:spLocks xmlns:a="http://schemas.openxmlformats.org/drawingml/2006/main" noGrp="1"/>
          </p:cNvSpPr>
          <p:nvPr/>
        </p:nvSpPr>
        <p:spPr>
          <a:xfrm xmlns:a="http://schemas.openxmlformats.org/drawingml/2006/main">
            <a:off x="9429750" y="5048250"/>
            <a:ext cx="22860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111111"/>
                </a:solidFill>
                <a:latin typeface="Helvetica Neue"/>
                <a:ea typeface="Helvetica Neue"/>
                <a:cs typeface="Helvetica Neue"/>
              </a:defRPr>
            </a:pPr>
            <a:r>
              <a:t>5.68×10⁻¹³</a:t>
            </a:r>
          </a:p>
        </p:txBody>
      </p:sp>
      <p:sp>
        <p:nvSpPr>
          <p:cNvPr id="43" name="validation-claim">
            <a:extLst xmlns:a="http://schemas.openxmlformats.org/drawingml/2006/main">
              <a:ext uri="{FF2B5EF4-FFF2-40B4-BE49-F238E27FC236}">
                <a16:creationId xmlns:a16="http://schemas.microsoft.com/office/drawing/2014/main" id="{4F444798-B7C5-4269-855C-3DBD58B04700}"/>
              </a:ext>
            </a:extLst>
          </p:cNvPr>
          <p:cNvSpPr>
            <a:spLocks xmlns:a="http://schemas.openxmlformats.org/drawingml/2006/main" noGrp="1"/>
          </p:cNvSpPr>
          <p:nvPr/>
        </p:nvSpPr>
        <p:spPr>
          <a:xfrm xmlns:a="http://schemas.openxmlformats.org/drawingml/2006/main">
            <a:off x="9525000" y="1962150"/>
            <a:ext cx="2038350" cy="1066800"/>
          </a:xfrm>
          <a:prstGeom xmlns:a="http://schemas.openxmlformats.org/drawingml/2006/main" prst="rect">
            <a:avLst/>
          </a:prstGeom>
        </p:spPr>
        <p:txBody>
          <a:bodyPr xmlns:a="http://schemas.openxmlformats.org/drawingml/2006/main" wrap="square" lIns="0" tIns="0" rIns="0" bIns="0" anchor="b">
            <a:normAutofit/>
          </a:bodyPr>
          <a:lstStyle xmlns:a="http://schemas.openxmlformats.org/drawingml/2006/main"/>
          <a:p xmlns:a="http://schemas.openxmlformats.org/drawingml/2006/main">
            <a:pPr algn="r">
              <a:buNone/>
              <a:defRPr sz="1725" b="1">
                <a:solidFill>
                  <a:srgbClr val="2457A6"/>
                </a:solidFill>
                <a:latin typeface="Helvetica Neue"/>
                <a:ea typeface="Helvetica Neue"/>
                <a:cs typeface="Helvetica Neue"/>
              </a:defRPr>
            </a:pPr>
            <a:r>
              <a:t>All numeric rows match MATLAB within tolerance.</a:t>
            </a:r>
          </a:p>
        </p:txBody>
      </p:sp>
      <p:sp>
        <p:nvSpPr>
          <p:cNvPr id="44" name="source-9">
            <a:extLst xmlns:a="http://schemas.openxmlformats.org/drawingml/2006/main">
              <a:ext uri="{FF2B5EF4-FFF2-40B4-BE49-F238E27FC236}">
                <a16:creationId xmlns:a16="http://schemas.microsoft.com/office/drawing/2014/main" id="{C7A0EADC-D454-4B66-B8F9-B6D56856FD22}"/>
              </a:ext>
            </a:extLst>
          </p:cNvPr>
          <p:cNvSpPr>
            <a:spLocks xmlns:a="http://schemas.openxmlformats.org/drawingml/2006/main" noGrp="1"/>
          </p:cNvSpPr>
          <p:nvPr/>
        </p:nvSpPr>
        <p:spPr>
          <a:xfrm xmlns:a="http://schemas.openxmlformats.org/drawingml/2006/main">
            <a:off x="400050" y="6419850"/>
            <a:ext cx="1028700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a:solidFill>
                  <a:srgbClr val="5B6470"/>
                </a:solidFill>
                <a:latin typeface="Helvetica Neue"/>
                <a:ea typeface="Helvetica Neue"/>
                <a:cs typeface="Helvetica Neue"/>
              </a:defRPr>
            </a:pPr>
            <a:r>
              <a:t>Source: Legacy T01 three-language comparison summary</a:t>
            </a:r>
          </a:p>
        </p:txBody>
      </p:sp>
      <p:sp>
        <p:nvSpPr>
          <p:cNvPr id="45" name="slide-number-9">
            <a:extLst xmlns:a="http://schemas.openxmlformats.org/drawingml/2006/main">
              <a:ext uri="{FF2B5EF4-FFF2-40B4-BE49-F238E27FC236}">
                <a16:creationId xmlns:a16="http://schemas.microsoft.com/office/drawing/2014/main" id="{D6E3B06E-FAFA-4185-A524-9EA6471A7306}"/>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9</a:t>
            </a:r>
          </a:p>
        </p:txBody>
      </p:sp>
    </p:spTree>
    <p:extLst>
      <p:ext uri="{BB962C8B-B14F-4D97-AF65-F5344CB8AC3E}">
        <p14:creationId xmlns:p14="http://schemas.microsoft.com/office/powerpoint/2010/main" val="17792188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itle-10">
            <a:extLst xmlns:a="http://schemas.openxmlformats.org/drawingml/2006/main">
              <a:ext uri="{FF2B5EF4-FFF2-40B4-BE49-F238E27FC236}">
                <a16:creationId xmlns:a16="http://schemas.microsoft.com/office/drawing/2014/main" id="{27338601-72BA-41EB-8DE5-C14BCB584C28}"/>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fontScale="92593"/>
          </a:bodyPr>
          <a:lstStyle xmlns:a="http://schemas.openxmlformats.org/drawingml/2006/main"/>
          <a:p xmlns:a="http://schemas.openxmlformats.org/drawingml/2006/main">
            <a:pPr algn="l">
              <a:buNone/>
              <a:defRPr sz="3375" b="1">
                <a:solidFill>
                  <a:srgbClr val="111111"/>
                </a:solidFill>
                <a:latin typeface="Helvetica Neue"/>
                <a:ea typeface="Helvetica Neue"/>
                <a:cs typeface="Helvetica Neue"/>
              </a:defRPr>
            </a:pPr>
            <a:r>
              <a:t>Adaptive threshold isolates selection; Top-3 stays descriptive</a:t>
            </a:r>
          </a:p>
        </p:txBody>
      </p:sp>
      <p:sp>
        <p:nvSpPr>
          <p:cNvPr id="2" name="title-rule-10">
            <a:extLst xmlns:a="http://schemas.openxmlformats.org/drawingml/2006/main">
              <a:ext uri="{FF2B5EF4-FFF2-40B4-BE49-F238E27FC236}">
                <a16:creationId xmlns:a16="http://schemas.microsoft.com/office/drawing/2014/main" id="{DEB205F7-7D2F-476E-9402-D505C5A2D8F5}"/>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legacy-column">
            <a:extLst xmlns:a="http://schemas.openxmlformats.org/drawingml/2006/main">
              <a:ext uri="{FF2B5EF4-FFF2-40B4-BE49-F238E27FC236}">
                <a16:creationId xmlns:a16="http://schemas.microsoft.com/office/drawing/2014/main" id="{BBA265DC-4E8A-429F-9680-9912B2D2EE5D}"/>
              </a:ext>
            </a:extLst>
          </p:cNvPr>
          <p:cNvSpPr>
            <a:spLocks xmlns:a="http://schemas.openxmlformats.org/drawingml/2006/main" noGrp="1"/>
          </p:cNvSpPr>
          <p:nvPr/>
        </p:nvSpPr>
        <p:spPr>
          <a:xfrm xmlns:a="http://schemas.openxmlformats.org/drawingml/2006/main">
            <a:off x="400050" y="1809750"/>
            <a:ext cx="4953000" cy="31432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4" name="legacy-col-title">
            <a:extLst xmlns:a="http://schemas.openxmlformats.org/drawingml/2006/main">
              <a:ext uri="{FF2B5EF4-FFF2-40B4-BE49-F238E27FC236}">
                <a16:creationId xmlns:a16="http://schemas.microsoft.com/office/drawing/2014/main" id="{392FEA84-7E4E-498E-8B14-3E0B5BAEC9E1}"/>
              </a:ext>
            </a:extLst>
          </p:cNvPr>
          <p:cNvSpPr>
            <a:spLocks xmlns:a="http://schemas.openxmlformats.org/drawingml/2006/main" noGrp="1"/>
          </p:cNvSpPr>
          <p:nvPr/>
        </p:nvSpPr>
        <p:spPr>
          <a:xfrm xmlns:a="http://schemas.openxmlformats.org/drawingml/2006/main">
            <a:off x="685800" y="2076450"/>
            <a:ext cx="4286250" cy="381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111111"/>
                </a:solidFill>
                <a:latin typeface="Helvetica Neue"/>
                <a:ea typeface="Helvetica Neue"/>
                <a:cs typeface="Helvetica Neue"/>
              </a:defRPr>
            </a:pPr>
            <a:r>
              <a:t>Legacy selection</a:t>
            </a:r>
          </a:p>
        </p:txBody>
      </p:sp>
      <p:sp>
        <p:nvSpPr>
          <p:cNvPr id="5" name="legacy-col-body">
            <a:extLst xmlns:a="http://schemas.openxmlformats.org/drawingml/2006/main">
              <a:ext uri="{FF2B5EF4-FFF2-40B4-BE49-F238E27FC236}">
                <a16:creationId xmlns:a16="http://schemas.microsoft.com/office/drawing/2014/main" id="{E2784F05-5188-418C-AB09-0999EC72EE77}"/>
              </a:ext>
            </a:extLst>
          </p:cNvPr>
          <p:cNvSpPr>
            <a:spLocks xmlns:a="http://schemas.openxmlformats.org/drawingml/2006/main" noGrp="1"/>
          </p:cNvSpPr>
          <p:nvPr/>
        </p:nvSpPr>
        <p:spPr>
          <a:xfrm xmlns:a="http://schemas.openxmlformats.org/drawingml/2006/main">
            <a:off x="685800" y="2781300"/>
            <a:ext cx="4191000" cy="16192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0">
                <a:solidFill>
                  <a:srgbClr val="111111"/>
                </a:solidFill>
                <a:latin typeface="Helvetica Neue"/>
                <a:ea typeface="Helvetica Neue"/>
                <a:cs typeface="Helvetica Neue"/>
              </a:defRPr>
            </a:pPr>
            <a:r>
              <a:t>First-file centring and extrema
Fixed RMS threshold = 0.1
Same rule propagated across the group
Top-1 FFT peak</a:t>
            </a:r>
          </a:p>
        </p:txBody>
      </p:sp>
      <p:sp>
        <p:nvSpPr>
          <p:cNvPr id="6" name="adaptive-column">
            <a:extLst xmlns:a="http://schemas.openxmlformats.org/drawingml/2006/main">
              <a:ext uri="{FF2B5EF4-FFF2-40B4-BE49-F238E27FC236}">
                <a16:creationId xmlns:a16="http://schemas.microsoft.com/office/drawing/2014/main" id="{8E043E6F-68D0-46AA-98A4-4DC49137BDC6}"/>
              </a:ext>
            </a:extLst>
          </p:cNvPr>
          <p:cNvSpPr>
            <a:spLocks xmlns:a="http://schemas.openxmlformats.org/drawingml/2006/main" noGrp="1"/>
          </p:cNvSpPr>
          <p:nvPr/>
        </p:nvSpPr>
        <p:spPr>
          <a:xfrm xmlns:a="http://schemas.openxmlformats.org/drawingml/2006/main">
            <a:off x="5695950" y="1809750"/>
            <a:ext cx="6096000" cy="3143250"/>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7" name="adaptive-col-title">
            <a:extLst xmlns:a="http://schemas.openxmlformats.org/drawingml/2006/main">
              <a:ext uri="{FF2B5EF4-FFF2-40B4-BE49-F238E27FC236}">
                <a16:creationId xmlns:a16="http://schemas.microsoft.com/office/drawing/2014/main" id="{EBCB31D0-F29D-4D8A-9718-5094B5D580BC}"/>
              </a:ext>
            </a:extLst>
          </p:cNvPr>
          <p:cNvSpPr>
            <a:spLocks xmlns:a="http://schemas.openxmlformats.org/drawingml/2006/main" noGrp="1"/>
          </p:cNvSpPr>
          <p:nvPr/>
        </p:nvSpPr>
        <p:spPr>
          <a:xfrm xmlns:a="http://schemas.openxmlformats.org/drawingml/2006/main">
            <a:off x="5981700" y="2076450"/>
            <a:ext cx="5429250" cy="381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2457A6"/>
                </a:solidFill>
                <a:latin typeface="Helvetica Neue"/>
                <a:ea typeface="Helvetica Neue"/>
                <a:cs typeface="Helvetica Neue"/>
              </a:defRPr>
            </a:pPr>
            <a:r>
              <a:t>Adaptive selection</a:t>
            </a:r>
          </a:p>
        </p:txBody>
      </p:sp>
      <p:sp>
        <p:nvSpPr>
          <p:cNvPr id="8" name="adaptive-col-body">
            <a:extLst xmlns:a="http://schemas.openxmlformats.org/drawingml/2006/main">
              <a:ext uri="{FF2B5EF4-FFF2-40B4-BE49-F238E27FC236}">
                <a16:creationId xmlns:a16="http://schemas.microsoft.com/office/drawing/2014/main" id="{742D06C0-8C7D-4759-B980-02B6294F6BD8}"/>
              </a:ext>
            </a:extLst>
          </p:cNvPr>
          <p:cNvSpPr>
            <a:spLocks xmlns:a="http://schemas.openxmlformats.org/drawingml/2006/main" noGrp="1"/>
          </p:cNvSpPr>
          <p:nvPr/>
        </p:nvSpPr>
        <p:spPr>
          <a:xfrm xmlns:a="http://schemas.openxmlformats.org/drawingml/2006/main">
            <a:off x="5981700" y="2781300"/>
            <a:ext cx="5334000" cy="16192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0">
                <a:solidFill>
                  <a:srgbClr val="111111"/>
                </a:solidFill>
                <a:latin typeface="Helvetica Neue"/>
                <a:ea typeface="Helvetica Neue"/>
                <a:cs typeface="Helvetica Neue"/>
              </a:defRPr>
            </a:pPr>
            <a:r>
              <a:t>Per-file signal centring
Threshold = median + 8 × 1.4826 × MAD
Same 200-sample framing and FFT baseline
Optional Top-3 peaks, separated by ≥20 kHz</a:t>
            </a:r>
          </a:p>
        </p:txBody>
      </p:sp>
      <p:sp>
        <p:nvSpPr>
          <p:cNvPr id="9" name="adaptive-control">
            <a:extLst xmlns:a="http://schemas.openxmlformats.org/drawingml/2006/main">
              <a:ext uri="{FF2B5EF4-FFF2-40B4-BE49-F238E27FC236}">
                <a16:creationId xmlns:a16="http://schemas.microsoft.com/office/drawing/2014/main" id="{E5B05D42-AA4C-4233-B83F-0070854BD15C}"/>
              </a:ext>
            </a:extLst>
          </p:cNvPr>
          <p:cNvSpPr>
            <a:spLocks xmlns:a="http://schemas.openxmlformats.org/drawingml/2006/main" noGrp="1"/>
          </p:cNvSpPr>
          <p:nvPr/>
        </p:nvSpPr>
        <p:spPr>
          <a:xfrm xmlns:a="http://schemas.openxmlformats.org/drawingml/2006/main">
            <a:off x="685800" y="5353050"/>
            <a:ext cx="9810750" cy="457200"/>
          </a:xfrm>
          <a:prstGeom xmlns:a="http://schemas.openxmlformats.org/drawingml/2006/main" prst="rect">
            <a:avLst/>
          </a:prstGeom>
        </p:spPr>
        <p:txBody>
          <a:bodyPr xmlns:a="http://schemas.openxmlformats.org/drawingml/2006/main" wrap="square" lIns="0" tIns="0" rIns="0" bIns="0" anchor="t">
            <a:normAutofit fontScale="92500"/>
          </a:bodyPr>
          <a:lstStyle xmlns:a="http://schemas.openxmlformats.org/drawingml/2006/main"/>
          <a:p xmlns:a="http://schemas.openxmlformats.org/drawingml/2006/main">
            <a:pPr algn="l">
              <a:buNone/>
              <a:defRPr sz="1950" b="1">
                <a:solidFill>
                  <a:srgbClr val="2457A6"/>
                </a:solidFill>
                <a:latin typeface="Helvetica Neue"/>
                <a:ea typeface="Helvetica Neue"/>
                <a:cs typeface="Helvetica Neue"/>
              </a:defRPr>
            </a:pPr>
            <a:r>
              <a:t>Controlled comparison: selection changes; the baseline spectral calculation does not.</a:t>
            </a:r>
          </a:p>
        </p:txBody>
      </p:sp>
      <p:sp>
        <p:nvSpPr>
          <p:cNvPr id="10" name="top3-boundary">
            <a:extLst xmlns:a="http://schemas.openxmlformats.org/drawingml/2006/main">
              <a:ext uri="{FF2B5EF4-FFF2-40B4-BE49-F238E27FC236}">
                <a16:creationId xmlns:a16="http://schemas.microsoft.com/office/drawing/2014/main" id="{A80BBD18-7A44-403A-A1CF-551607A90353}"/>
              </a:ext>
            </a:extLst>
          </p:cNvPr>
          <p:cNvSpPr>
            <a:spLocks xmlns:a="http://schemas.openxmlformats.org/drawingml/2006/main" noGrp="1"/>
          </p:cNvSpPr>
          <p:nvPr/>
        </p:nvSpPr>
        <p:spPr>
          <a:xfrm xmlns:a="http://schemas.openxmlformats.org/drawingml/2006/main">
            <a:off x="7810500" y="5810250"/>
            <a:ext cx="360045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r">
              <a:buNone/>
            </a:pPr>
            <a:r>
              <a:rPr sz="1800" b="1">
                <a:solidFill>
                  <a:srgbClr val="B85C1E"/>
                </a:solidFill>
                <a:latin typeface="Helvetica Neue"/>
                <a:ea typeface="Helvetica Neue"/>
                <a:cs typeface="Helvetica Neue"/>
              </a:rPr>
              <a:t>Top-3 · secondary descriptive</a:t>
            </a:r>
          </a:p>
        </p:txBody>
      </p:sp>
      <p:sp>
        <p:nvSpPr>
          <p:cNvPr id="11" name="source-10">
            <a:extLst xmlns:a="http://schemas.openxmlformats.org/drawingml/2006/main">
              <a:ext uri="{FF2B5EF4-FFF2-40B4-BE49-F238E27FC236}">
                <a16:creationId xmlns:a16="http://schemas.microsoft.com/office/drawing/2014/main" id="{B80CE977-837D-4A5A-890D-337F459FC586}"/>
              </a:ext>
            </a:extLst>
          </p:cNvPr>
          <p:cNvSpPr>
            <a:spLocks xmlns:a="http://schemas.openxmlformats.org/drawingml/2006/main" noGrp="1"/>
          </p:cNvSpPr>
          <p:nvPr/>
        </p:nvSpPr>
        <p:spPr>
          <a:xfrm xmlns:a="http://schemas.openxmlformats.org/drawingml/2006/main">
            <a:off x="533400" y="6324600"/>
            <a:ext cx="101536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buNone/>
            </a:pPr>
            <a:r>
              <a:rPr sz="1200">
                <a:solidFill>
                  <a:srgbClr val="5B6470"/>
                </a:solidFill>
                <a:latin typeface="Helvetica Neue"/>
                <a:ea typeface="Helvetica Neue"/>
                <a:cs typeface="Helvetica Neue"/>
              </a:rPr>
              <a:t>Sources: Adaptive comparison summary and scientific report</a:t>
            </a:r>
          </a:p>
        </p:txBody>
      </p:sp>
      <p:sp>
        <p:nvSpPr>
          <p:cNvPr id="12" name="slide-number-10">
            <a:extLst xmlns:a="http://schemas.openxmlformats.org/drawingml/2006/main">
              <a:ext uri="{FF2B5EF4-FFF2-40B4-BE49-F238E27FC236}">
                <a16:creationId xmlns:a16="http://schemas.microsoft.com/office/drawing/2014/main" id="{0DF1EE41-2D83-42CA-BD30-A0ABB7ACEB6F}"/>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10</a:t>
            </a:r>
          </a:p>
        </p:txBody>
      </p:sp>
    </p:spTree>
    <p:extLst>
      <p:ext uri="{BB962C8B-B14F-4D97-AF65-F5344CB8AC3E}">
        <p14:creationId xmlns:p14="http://schemas.microsoft.com/office/powerpoint/2010/main" val="170776164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itle-11">
            <a:extLst xmlns:a="http://schemas.openxmlformats.org/drawingml/2006/main">
              <a:ext uri="{FF2B5EF4-FFF2-40B4-BE49-F238E27FC236}">
                <a16:creationId xmlns:a16="http://schemas.microsoft.com/office/drawing/2014/main" id="{07761280-8662-47D9-8727-D490F44ED359}"/>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fontScale="98014"/>
          </a:bodyPr>
          <a:lstStyle xmlns:a="http://schemas.openxmlformats.org/drawingml/2006/main"/>
          <a:p xmlns:a="http://schemas.openxmlformats.org/drawingml/2006/main">
            <a:pPr algn="l">
              <a:buNone/>
              <a:defRPr sz="3600" b="1">
                <a:solidFill>
                  <a:srgbClr val="111111"/>
                </a:solidFill>
                <a:latin typeface="Helvetica Neue"/>
                <a:ea typeface="Helvetica Neue"/>
                <a:cs typeface="Helvetica Neue"/>
              </a:defRPr>
            </a:pPr>
            <a:r>
              <a:t>Adaptive/Top-3: T01–T09 validated in three languages</a:t>
            </a:r>
          </a:p>
        </p:txBody>
      </p:sp>
      <p:sp>
        <p:nvSpPr>
          <p:cNvPr id="2" name="title-rule-11">
            <a:extLst xmlns:a="http://schemas.openxmlformats.org/drawingml/2006/main">
              <a:ext uri="{FF2B5EF4-FFF2-40B4-BE49-F238E27FC236}">
                <a16:creationId xmlns:a16="http://schemas.microsoft.com/office/drawing/2014/main" id="{A773C67A-7910-4CE5-A0D3-245514ABFCD9}"/>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dataset-image-frame">
            <a:extLst xmlns:a="http://schemas.openxmlformats.org/drawingml/2006/main">
              <a:ext uri="{FF2B5EF4-FFF2-40B4-BE49-F238E27FC236}">
                <a16:creationId xmlns:a16="http://schemas.microsoft.com/office/drawing/2014/main" id="{39C76715-1B8F-491D-B467-300DDFDE7F44}"/>
              </a:ext>
            </a:extLst>
          </p:cNvPr>
          <p:cNvSpPr>
            <a:spLocks xmlns:a="http://schemas.openxmlformats.org/drawingml/2006/main" noGrp="1"/>
          </p:cNvSpPr>
          <p:nvPr/>
        </p:nvSpPr>
        <p:spPr>
          <a:xfrm xmlns:a="http://schemas.openxmlformats.org/drawingml/2006/main">
            <a:off x="400050" y="1733550"/>
            <a:ext cx="7239000" cy="4095750"/>
          </a:xfrm>
          <a:prstGeom xmlns:a="http://schemas.openxmlformats.org/drawingml/2006/main" prst="rect">
            <a:avLst/>
          </a:prstGeom>
          <a:solidFill xmlns:a="http://schemas.openxmlformats.org/drawingml/2006/main">
            <a:srgbClr val="FAFAFA"/>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groups-panel">
            <a:extLst xmlns:a="http://schemas.openxmlformats.org/drawingml/2006/main">
              <a:ext uri="{FF2B5EF4-FFF2-40B4-BE49-F238E27FC236}">
                <a16:creationId xmlns:a16="http://schemas.microsoft.com/office/drawing/2014/main" id="{F66D114D-5C2D-499D-AF83-8875B8C79E94}"/>
              </a:ext>
            </a:extLst>
          </p:cNvPr>
          <p:cNvSpPr>
            <a:spLocks xmlns:a="http://schemas.openxmlformats.org/drawingml/2006/main" noGrp="1"/>
          </p:cNvSpPr>
          <p:nvPr/>
        </p:nvSpPr>
        <p:spPr>
          <a:xfrm xmlns:a="http://schemas.openxmlformats.org/drawingml/2006/main">
            <a:off x="8020050" y="1790700"/>
            <a:ext cx="3371850" cy="1381125"/>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5" name="groups-accent">
            <a:extLst xmlns:a="http://schemas.openxmlformats.org/drawingml/2006/main">
              <a:ext uri="{FF2B5EF4-FFF2-40B4-BE49-F238E27FC236}">
                <a16:creationId xmlns:a16="http://schemas.microsoft.com/office/drawing/2014/main" id="{2EF688E3-9DEF-4873-93B6-7DA8C5FEEECB}"/>
              </a:ext>
            </a:extLst>
          </p:cNvPr>
          <p:cNvSpPr>
            <a:spLocks xmlns:a="http://schemas.openxmlformats.org/drawingml/2006/main" noGrp="1"/>
          </p:cNvSpPr>
          <p:nvPr/>
        </p:nvSpPr>
        <p:spPr>
          <a:xfrm xmlns:a="http://schemas.openxmlformats.org/drawingml/2006/main">
            <a:off x="8020050" y="1790700"/>
            <a:ext cx="76200" cy="1381125"/>
          </a:xfrm>
          <a:prstGeom xmlns:a="http://schemas.openxmlformats.org/drawingml/2006/main" prst="rect">
            <a:avLst/>
          </a:prstGeom>
          <a:solidFill xmlns:a="http://schemas.openxmlformats.org/drawingml/2006/main">
            <a:srgbClr val="2457A6"/>
          </a:solidFill>
          <a:ln xmlns:a="http://schemas.openxmlformats.org/drawingml/2006/main" w="0">
            <a:solidFill>
              <a:srgbClr val="2457A6"/>
            </a:solidFill>
            <a:prstDash val="solid"/>
          </a:ln>
        </p:spPr>
        <p:txBody>
          <a:bodyPr xmlns:a="http://schemas.openxmlformats.org/drawingml/2006/main"/>
          <a:lstStyle xmlns:a="http://schemas.openxmlformats.org/drawingml/2006/main"/>
          <a:p xmlns:a="http://schemas.openxmlformats.org/drawingml/2006/main"/>
        </p:txBody>
      </p:sp>
      <p:sp>
        <p:nvSpPr>
          <p:cNvPr id="6" name="groups-value">
            <a:extLst xmlns:a="http://schemas.openxmlformats.org/drawingml/2006/main">
              <a:ext uri="{FF2B5EF4-FFF2-40B4-BE49-F238E27FC236}">
                <a16:creationId xmlns:a16="http://schemas.microsoft.com/office/drawing/2014/main" id="{0EAED1C9-8BD4-423B-BE50-BD165DE3B28C}"/>
              </a:ext>
            </a:extLst>
          </p:cNvPr>
          <p:cNvSpPr>
            <a:spLocks xmlns:a="http://schemas.openxmlformats.org/drawingml/2006/main" noGrp="1"/>
          </p:cNvSpPr>
          <p:nvPr/>
        </p:nvSpPr>
        <p:spPr>
          <a:xfrm xmlns:a="http://schemas.openxmlformats.org/drawingml/2006/main">
            <a:off x="8248650" y="2000250"/>
            <a:ext cx="2990850" cy="552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000" b="1">
                <a:solidFill>
                  <a:srgbClr val="2457A6"/>
                </a:solidFill>
                <a:latin typeface="Helvetica Neue"/>
                <a:ea typeface="Helvetica Neue"/>
                <a:cs typeface="Helvetica Neue"/>
              </a:defRPr>
            </a:pPr>
            <a:r>
              <a:t>11.37M</a:t>
            </a:r>
          </a:p>
        </p:txBody>
      </p:sp>
      <p:sp>
        <p:nvSpPr>
          <p:cNvPr id="7" name="groups-label">
            <a:extLst xmlns:a="http://schemas.openxmlformats.org/drawingml/2006/main">
              <a:ext uri="{FF2B5EF4-FFF2-40B4-BE49-F238E27FC236}">
                <a16:creationId xmlns:a16="http://schemas.microsoft.com/office/drawing/2014/main" id="{05A1AF09-07E2-45C4-A192-E33AE4012CBB}"/>
              </a:ext>
            </a:extLst>
          </p:cNvPr>
          <p:cNvSpPr>
            <a:spLocks xmlns:a="http://schemas.openxmlformats.org/drawingml/2006/main" noGrp="1"/>
          </p:cNvSpPr>
          <p:nvPr/>
        </p:nvSpPr>
        <p:spPr>
          <a:xfrm xmlns:a="http://schemas.openxmlformats.org/drawingml/2006/main">
            <a:off x="8248650" y="2628900"/>
            <a:ext cx="2971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Legacy logical frames</a:t>
            </a:r>
          </a:p>
        </p:txBody>
      </p:sp>
      <p:sp>
        <p:nvSpPr>
          <p:cNvPr id="8" name="files-panel">
            <a:extLst xmlns:a="http://schemas.openxmlformats.org/drawingml/2006/main">
              <a:ext uri="{FF2B5EF4-FFF2-40B4-BE49-F238E27FC236}">
                <a16:creationId xmlns:a16="http://schemas.microsoft.com/office/drawing/2014/main" id="{06C80238-02B3-4EBF-9D45-DE3BEB15DF2E}"/>
              </a:ext>
            </a:extLst>
          </p:cNvPr>
          <p:cNvSpPr>
            <a:spLocks xmlns:a="http://schemas.openxmlformats.org/drawingml/2006/main" noGrp="1"/>
          </p:cNvSpPr>
          <p:nvPr/>
        </p:nvSpPr>
        <p:spPr>
          <a:xfrm xmlns:a="http://schemas.openxmlformats.org/drawingml/2006/main">
            <a:off x="8020050" y="3352800"/>
            <a:ext cx="3371850" cy="1381125"/>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9" name="files-accent">
            <a:extLst xmlns:a="http://schemas.openxmlformats.org/drawingml/2006/main">
              <a:ext uri="{FF2B5EF4-FFF2-40B4-BE49-F238E27FC236}">
                <a16:creationId xmlns:a16="http://schemas.microsoft.com/office/drawing/2014/main" id="{89821F1D-A5C3-47A6-B920-A60314843D73}"/>
              </a:ext>
            </a:extLst>
          </p:cNvPr>
          <p:cNvSpPr>
            <a:spLocks xmlns:a="http://schemas.openxmlformats.org/drawingml/2006/main" noGrp="1"/>
          </p:cNvSpPr>
          <p:nvPr/>
        </p:nvSpPr>
        <p:spPr>
          <a:xfrm xmlns:a="http://schemas.openxmlformats.org/drawingml/2006/main">
            <a:off x="8020050" y="3352800"/>
            <a:ext cx="76200" cy="1381125"/>
          </a:xfrm>
          <a:prstGeom xmlns:a="http://schemas.openxmlformats.org/drawingml/2006/main" prst="rect">
            <a:avLst/>
          </a:prstGeom>
          <a:solidFill xmlns:a="http://schemas.openxmlformats.org/drawingml/2006/main">
            <a:srgbClr val="2457A6"/>
          </a:solidFill>
          <a:ln xmlns:a="http://schemas.openxmlformats.org/drawingml/2006/main" w="0">
            <a:solidFill>
              <a:srgbClr val="2457A6"/>
            </a:solidFill>
            <a:prstDash val="solid"/>
          </a:ln>
        </p:spPr>
        <p:txBody>
          <a:bodyPr xmlns:a="http://schemas.openxmlformats.org/drawingml/2006/main"/>
          <a:lstStyle xmlns:a="http://schemas.openxmlformats.org/drawingml/2006/main"/>
          <a:p xmlns:a="http://schemas.openxmlformats.org/drawingml/2006/main"/>
        </p:txBody>
      </p:sp>
      <p:sp>
        <p:nvSpPr>
          <p:cNvPr id="10" name="files-value">
            <a:extLst xmlns:a="http://schemas.openxmlformats.org/drawingml/2006/main">
              <a:ext uri="{FF2B5EF4-FFF2-40B4-BE49-F238E27FC236}">
                <a16:creationId xmlns:a16="http://schemas.microsoft.com/office/drawing/2014/main" id="{70521593-CDBF-4FBE-A12A-F36D76593F86}"/>
              </a:ext>
            </a:extLst>
          </p:cNvPr>
          <p:cNvSpPr>
            <a:spLocks xmlns:a="http://schemas.openxmlformats.org/drawingml/2006/main" noGrp="1"/>
          </p:cNvSpPr>
          <p:nvPr/>
        </p:nvSpPr>
        <p:spPr>
          <a:xfrm xmlns:a="http://schemas.openxmlformats.org/drawingml/2006/main">
            <a:off x="8248650" y="3562350"/>
            <a:ext cx="2990850" cy="552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000" b="1">
                <a:solidFill>
                  <a:srgbClr val="2457A6"/>
                </a:solidFill>
                <a:latin typeface="Helvetica Neue"/>
                <a:ea typeface="Helvetica Neue"/>
                <a:cs typeface="Helvetica Neue"/>
              </a:defRPr>
            </a:pPr>
            <a:r>
              <a:t>377</a:t>
            </a:r>
          </a:p>
        </p:txBody>
      </p:sp>
      <p:sp>
        <p:nvSpPr>
          <p:cNvPr id="11" name="files-label">
            <a:extLst xmlns:a="http://schemas.openxmlformats.org/drawingml/2006/main">
              <a:ext uri="{FF2B5EF4-FFF2-40B4-BE49-F238E27FC236}">
                <a16:creationId xmlns:a16="http://schemas.microsoft.com/office/drawing/2014/main" id="{895028F5-67D2-4C6F-BCE3-0964B63733CE}"/>
              </a:ext>
            </a:extLst>
          </p:cNvPr>
          <p:cNvSpPr>
            <a:spLocks xmlns:a="http://schemas.openxmlformats.org/drawingml/2006/main" noGrp="1"/>
          </p:cNvSpPr>
          <p:nvPr/>
        </p:nvSpPr>
        <p:spPr>
          <a:xfrm xmlns:a="http://schemas.openxmlformats.org/drawingml/2006/main">
            <a:off x="8248650" y="4191000"/>
            <a:ext cx="2971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MAT waveform files</a:t>
            </a:r>
          </a:p>
        </p:txBody>
      </p:sp>
      <p:sp>
        <p:nvSpPr>
          <p:cNvPr id="12" name="windows-panel">
            <a:extLst xmlns:a="http://schemas.openxmlformats.org/drawingml/2006/main">
              <a:ext uri="{FF2B5EF4-FFF2-40B4-BE49-F238E27FC236}">
                <a16:creationId xmlns:a16="http://schemas.microsoft.com/office/drawing/2014/main" id="{77E078AF-2409-4E24-90BA-7DADBB20CAB9}"/>
              </a:ext>
            </a:extLst>
          </p:cNvPr>
          <p:cNvSpPr>
            <a:spLocks xmlns:a="http://schemas.openxmlformats.org/drawingml/2006/main" noGrp="1"/>
          </p:cNvSpPr>
          <p:nvPr/>
        </p:nvSpPr>
        <p:spPr>
          <a:xfrm xmlns:a="http://schemas.openxmlformats.org/drawingml/2006/main">
            <a:off x="8020050" y="4914900"/>
            <a:ext cx="3371850" cy="1381125"/>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13" name="windows-accent">
            <a:extLst xmlns:a="http://schemas.openxmlformats.org/drawingml/2006/main">
              <a:ext uri="{FF2B5EF4-FFF2-40B4-BE49-F238E27FC236}">
                <a16:creationId xmlns:a16="http://schemas.microsoft.com/office/drawing/2014/main" id="{533DB303-469C-4CAE-9226-232F5FDC61E4}"/>
              </a:ext>
            </a:extLst>
          </p:cNvPr>
          <p:cNvSpPr>
            <a:spLocks xmlns:a="http://schemas.openxmlformats.org/drawingml/2006/main" noGrp="1"/>
          </p:cNvSpPr>
          <p:nvPr/>
        </p:nvSpPr>
        <p:spPr>
          <a:xfrm xmlns:a="http://schemas.openxmlformats.org/drawingml/2006/main">
            <a:off x="8020050" y="4914900"/>
            <a:ext cx="76200" cy="1381125"/>
          </a:xfrm>
          <a:prstGeom xmlns:a="http://schemas.openxmlformats.org/drawingml/2006/main" prst="rect">
            <a:avLst/>
          </a:prstGeom>
          <a:solidFill xmlns:a="http://schemas.openxmlformats.org/drawingml/2006/main">
            <a:srgbClr val="2457A6"/>
          </a:solidFill>
          <a:ln xmlns:a="http://schemas.openxmlformats.org/drawingml/2006/main" w="0">
            <a:solidFill>
              <a:srgbClr val="2457A6"/>
            </a:solidFill>
            <a:prstDash val="solid"/>
          </a:ln>
        </p:spPr>
        <p:txBody>
          <a:bodyPr xmlns:a="http://schemas.openxmlformats.org/drawingml/2006/main"/>
          <a:lstStyle xmlns:a="http://schemas.openxmlformats.org/drawingml/2006/main"/>
          <a:p xmlns:a="http://schemas.openxmlformats.org/drawingml/2006/main"/>
        </p:txBody>
      </p:sp>
      <p:sp>
        <p:nvSpPr>
          <p:cNvPr id="14" name="windows-value">
            <a:extLst xmlns:a="http://schemas.openxmlformats.org/drawingml/2006/main">
              <a:ext uri="{FF2B5EF4-FFF2-40B4-BE49-F238E27FC236}">
                <a16:creationId xmlns:a16="http://schemas.microsoft.com/office/drawing/2014/main" id="{DD8BF995-FD47-43C8-814F-8784D50F8BDD}"/>
              </a:ext>
            </a:extLst>
          </p:cNvPr>
          <p:cNvSpPr>
            <a:spLocks xmlns:a="http://schemas.openxmlformats.org/drawingml/2006/main" noGrp="1"/>
          </p:cNvSpPr>
          <p:nvPr/>
        </p:nvSpPr>
        <p:spPr>
          <a:xfrm xmlns:a="http://schemas.openxmlformats.org/drawingml/2006/main">
            <a:off x="8248650" y="5124450"/>
            <a:ext cx="2990850" cy="552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000" b="1">
                <a:solidFill>
                  <a:srgbClr val="2457A6"/>
                </a:solidFill>
                <a:latin typeface="Helvetica Neue"/>
                <a:ea typeface="Helvetica Neue"/>
                <a:cs typeface="Helvetica Neue"/>
              </a:defRPr>
            </a:pPr>
            <a:r>
              <a:t>9.47M</a:t>
            </a:r>
          </a:p>
        </p:txBody>
      </p:sp>
      <p:sp>
        <p:nvSpPr>
          <p:cNvPr id="15" name="windows-label">
            <a:extLst xmlns:a="http://schemas.openxmlformats.org/drawingml/2006/main">
              <a:ext uri="{FF2B5EF4-FFF2-40B4-BE49-F238E27FC236}">
                <a16:creationId xmlns:a16="http://schemas.microsoft.com/office/drawing/2014/main" id="{BA6DFF3B-4941-41BE-BD4D-5AC61173C6CD}"/>
              </a:ext>
            </a:extLst>
          </p:cNvPr>
          <p:cNvSpPr>
            <a:spLocks xmlns:a="http://schemas.openxmlformats.org/drawingml/2006/main" noGrp="1"/>
          </p:cNvSpPr>
          <p:nvPr/>
        </p:nvSpPr>
        <p:spPr>
          <a:xfrm xmlns:a="http://schemas.openxmlformats.org/drawingml/2006/main">
            <a:off x="8248650" y="5753100"/>
            <a:ext cx="2971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Adaptive complete windows</a:t>
            </a:r>
          </a:p>
        </p:txBody>
      </p:sp>
      <p:sp>
        <p:nvSpPr>
          <p:cNvPr id="16" name="dataset-caption">
            <a:extLst xmlns:a="http://schemas.openxmlformats.org/drawingml/2006/main">
              <a:ext uri="{FF2B5EF4-FFF2-40B4-BE49-F238E27FC236}">
                <a16:creationId xmlns:a16="http://schemas.microsoft.com/office/drawing/2014/main" id="{D4EA96FA-55BA-43F7-B264-F5688CFD1E17}"/>
              </a:ext>
            </a:extLst>
          </p:cNvPr>
          <p:cNvSpPr>
            <a:spLocks xmlns:a="http://schemas.openxmlformats.org/drawingml/2006/main" noGrp="1"/>
          </p:cNvSpPr>
          <p:nvPr/>
        </p:nvSpPr>
        <p:spPr>
          <a:xfrm xmlns:a="http://schemas.openxmlformats.org/drawingml/2006/main">
            <a:off x="590550" y="5905500"/>
            <a:ext cx="6667500" cy="2476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5B6470"/>
                </a:solidFill>
                <a:latin typeface="Helvetica Neue"/>
                <a:ea typeface="Helvetica Neue"/>
                <a:cs typeface="Helvetica Neue"/>
              </a:defRPr>
            </a:pPr>
            <a:r>
              <a:t>Representative T01 adaptive Top-1 frequency output</a:t>
            </a:r>
          </a:p>
        </p:txBody>
      </p:sp>
      <p:sp>
        <p:nvSpPr>
          <p:cNvPr id="17" name="source-11">
            <a:extLst xmlns:a="http://schemas.openxmlformats.org/drawingml/2006/main">
              <a:ext uri="{FF2B5EF4-FFF2-40B4-BE49-F238E27FC236}">
                <a16:creationId xmlns:a16="http://schemas.microsoft.com/office/drawing/2014/main" id="{711A0930-92CF-4E46-9B73-CB49FB243519}"/>
              </a:ext>
            </a:extLst>
          </p:cNvPr>
          <p:cNvSpPr>
            <a:spLocks xmlns:a="http://schemas.openxmlformats.org/drawingml/2006/main" noGrp="1"/>
          </p:cNvSpPr>
          <p:nvPr/>
        </p:nvSpPr>
        <p:spPr>
          <a:xfrm xmlns:a="http://schemas.openxmlformats.org/drawingml/2006/main">
            <a:off x="400050" y="6419850"/>
            <a:ext cx="1028700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a:solidFill>
                  <a:srgbClr val="5B6470"/>
                </a:solidFill>
                <a:latin typeface="Helvetica Neue"/>
                <a:ea typeface="Helvetica Neue"/>
                <a:cs typeface="Helvetica Neue"/>
              </a:defRPr>
            </a:pPr>
            <a:r>
              <a:t>Sources: Legacy framing and Adaptive aggregate summaries</a:t>
            </a:r>
          </a:p>
        </p:txBody>
      </p:sp>
      <p:sp>
        <p:nvSpPr>
          <p:cNvPr id="18" name="slide-number-11">
            <a:extLst xmlns:a="http://schemas.openxmlformats.org/drawingml/2006/main">
              <a:ext uri="{FF2B5EF4-FFF2-40B4-BE49-F238E27FC236}">
                <a16:creationId xmlns:a16="http://schemas.microsoft.com/office/drawing/2014/main" id="{C83AF96A-394D-4F6D-8BBF-53A7BB7CAF2D}"/>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11</a:t>
            </a:r>
          </a:p>
        </p:txBody>
      </p:sp>
      <p:pic>
        <p:nvPicPr>
          <p:cNvPr id="39" name="图片 37"/>
          <p:cNvPicPr>
            <a:picLocks xmlns:a="http://schemas.openxmlformats.org/drawingml/2006/main" noChangeAspect="1"/>
          </p:cNvPicPr>
          <p:nvPr/>
        </p:nvPicPr>
        <p:blipFill>
          <a:blip xmlns:r="http://schemas.openxmlformats.org/officeDocument/2006/relationships" xmlns:a="http://schemas.openxmlformats.org/drawingml/2006/main" r:embed="R66ce99ab7d164ae5"/>
          <a:stretch xmlns:a="http://schemas.openxmlformats.org/drawingml/2006/main"/>
        </p:blipFill>
        <p:spPr>
          <a:xfrm xmlns:a="http://schemas.openxmlformats.org/drawingml/2006/main">
            <a:off x="649817" y="1905000"/>
            <a:ext cx="6739467" cy="3790950"/>
          </a:xfrm>
          <a:prstGeom xmlns:a="http://schemas.openxmlformats.org/drawingml/2006/main" prst="rect">
            <a:avLst/>
          </a:prstGeom>
        </p:spPr>
      </p:pic>
    </p:spTree>
    <p:extLst>
      <p:ext uri="{BB962C8B-B14F-4D97-AF65-F5344CB8AC3E}">
        <p14:creationId xmlns:p14="http://schemas.microsoft.com/office/powerpoint/2010/main" val="202861335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itle-12">
            <a:extLst xmlns:a="http://schemas.openxmlformats.org/drawingml/2006/main">
              <a:ext uri="{FF2B5EF4-FFF2-40B4-BE49-F238E27FC236}">
                <a16:creationId xmlns:a16="http://schemas.microsoft.com/office/drawing/2014/main" id="{604E3875-3F4F-4963-A11D-67042A9E7760}"/>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fontScale="94697"/>
          </a:bodyPr>
          <a:lstStyle xmlns:a="http://schemas.openxmlformats.org/drawingml/2006/main"/>
          <a:p xmlns:a="http://schemas.openxmlformats.org/drawingml/2006/main">
            <a:pPr algn="l">
              <a:buNone/>
              <a:defRPr sz="3300" b="1">
                <a:solidFill>
                  <a:srgbClr val="111111"/>
                </a:solidFill>
                <a:latin typeface="Helvetica Neue"/>
                <a:ea typeface="Helvetica Neue"/>
                <a:cs typeface="Helvetica Neue"/>
              </a:defRPr>
            </a:pPr>
            <a:r>
              <a:t>Adaptive selects 32.16× as many windows—
Top-3 remains a descriptive extension</a:t>
            </a:r>
          </a:p>
        </p:txBody>
      </p:sp>
      <p:sp>
        <p:nvSpPr>
          <p:cNvPr id="2" name="title-rule-12">
            <a:extLst xmlns:a="http://schemas.openxmlformats.org/drawingml/2006/main">
              <a:ext uri="{FF2B5EF4-FFF2-40B4-BE49-F238E27FC236}">
                <a16:creationId xmlns:a16="http://schemas.microsoft.com/office/drawing/2014/main" id="{ACE218F2-5801-4438-B02E-A814FD2BF828}"/>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chart-background">
            <a:extLst xmlns:a="http://schemas.openxmlformats.org/drawingml/2006/main">
              <a:ext uri="{FF2B5EF4-FFF2-40B4-BE49-F238E27FC236}">
                <a16:creationId xmlns:a16="http://schemas.microsoft.com/office/drawing/2014/main" id="{641910D1-C9A2-4026-9564-4795BCA151BE}"/>
              </a:ext>
            </a:extLst>
          </p:cNvPr>
          <p:cNvSpPr>
            <a:spLocks xmlns:a="http://schemas.openxmlformats.org/drawingml/2006/main" noGrp="1"/>
          </p:cNvSpPr>
          <p:nvPr/>
        </p:nvSpPr>
        <p:spPr>
          <a:xfrm xmlns:a="http://schemas.openxmlformats.org/drawingml/2006/main">
            <a:off x="400050" y="1714500"/>
            <a:ext cx="6858000" cy="4210050"/>
          </a:xfrm>
          <a:prstGeom xmlns:a="http://schemas.openxmlformats.org/drawingml/2006/main" prst="rect">
            <a:avLst/>
          </a:prstGeom>
          <a:solidFill xmlns:a="http://schemas.openxmlformats.org/drawingml/2006/main">
            <a:srgbClr val="FAFAFA"/>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legacy-total-panel">
            <a:extLst xmlns:a="http://schemas.openxmlformats.org/drawingml/2006/main">
              <a:ext uri="{FF2B5EF4-FFF2-40B4-BE49-F238E27FC236}">
                <a16:creationId xmlns:a16="http://schemas.microsoft.com/office/drawing/2014/main" id="{D59DA6AC-ED3C-40F9-9A7B-77EDBF0578D9}"/>
              </a:ext>
            </a:extLst>
          </p:cNvPr>
          <p:cNvSpPr>
            <a:spLocks xmlns:a="http://schemas.openxmlformats.org/drawingml/2006/main" noGrp="1"/>
          </p:cNvSpPr>
          <p:nvPr/>
        </p:nvSpPr>
        <p:spPr>
          <a:xfrm xmlns:a="http://schemas.openxmlformats.org/drawingml/2006/main">
            <a:off x="7620000" y="1752600"/>
            <a:ext cx="3771900" cy="1381125"/>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5" name="legacy-total-accent">
            <a:extLst xmlns:a="http://schemas.openxmlformats.org/drawingml/2006/main">
              <a:ext uri="{FF2B5EF4-FFF2-40B4-BE49-F238E27FC236}">
                <a16:creationId xmlns:a16="http://schemas.microsoft.com/office/drawing/2014/main" id="{CEB74EB2-7C64-4282-8522-82C831EB17AE}"/>
              </a:ext>
            </a:extLst>
          </p:cNvPr>
          <p:cNvSpPr>
            <a:spLocks xmlns:a="http://schemas.openxmlformats.org/drawingml/2006/main" noGrp="1"/>
          </p:cNvSpPr>
          <p:nvPr/>
        </p:nvSpPr>
        <p:spPr>
          <a:xfrm xmlns:a="http://schemas.openxmlformats.org/drawingml/2006/main">
            <a:off x="7620000" y="1752600"/>
            <a:ext cx="76200" cy="1381125"/>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6" name="legacy-total-value">
            <a:extLst xmlns:a="http://schemas.openxmlformats.org/drawingml/2006/main">
              <a:ext uri="{FF2B5EF4-FFF2-40B4-BE49-F238E27FC236}">
                <a16:creationId xmlns:a16="http://schemas.microsoft.com/office/drawing/2014/main" id="{8BB20FF2-0FAF-49B5-A8FC-FD0F7DC61FCD}"/>
              </a:ext>
            </a:extLst>
          </p:cNvPr>
          <p:cNvSpPr>
            <a:spLocks xmlns:a="http://schemas.openxmlformats.org/drawingml/2006/main" noGrp="1"/>
          </p:cNvSpPr>
          <p:nvPr/>
        </p:nvSpPr>
        <p:spPr>
          <a:xfrm xmlns:a="http://schemas.openxmlformats.org/drawingml/2006/main">
            <a:off x="7848600" y="1962150"/>
            <a:ext cx="3390900" cy="552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000" b="1">
                <a:solidFill>
                  <a:srgbClr val="111111"/>
                </a:solidFill>
                <a:latin typeface="Helvetica Neue"/>
                <a:ea typeface="Helvetica Neue"/>
                <a:cs typeface="Helvetica Neue"/>
              </a:defRPr>
            </a:pPr>
            <a:r>
              <a:t>16,240</a:t>
            </a:r>
          </a:p>
        </p:txBody>
      </p:sp>
      <p:sp>
        <p:nvSpPr>
          <p:cNvPr id="7" name="legacy-total-label">
            <a:extLst xmlns:a="http://schemas.openxmlformats.org/drawingml/2006/main">
              <a:ext uri="{FF2B5EF4-FFF2-40B4-BE49-F238E27FC236}">
                <a16:creationId xmlns:a16="http://schemas.microsoft.com/office/drawing/2014/main" id="{87C53466-E5FB-4895-957E-8DC693B3B829}"/>
              </a:ext>
            </a:extLst>
          </p:cNvPr>
          <p:cNvSpPr>
            <a:spLocks xmlns:a="http://schemas.openxmlformats.org/drawingml/2006/main" noGrp="1"/>
          </p:cNvSpPr>
          <p:nvPr/>
        </p:nvSpPr>
        <p:spPr>
          <a:xfrm xmlns:a="http://schemas.openxmlformats.org/drawingml/2006/main">
            <a:off x="7848600" y="2590800"/>
            <a:ext cx="33718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Legacy selected windows</a:t>
            </a:r>
          </a:p>
        </p:txBody>
      </p:sp>
      <p:sp>
        <p:nvSpPr>
          <p:cNvPr id="8" name="adaptive-total-panel">
            <a:extLst xmlns:a="http://schemas.openxmlformats.org/drawingml/2006/main">
              <a:ext uri="{FF2B5EF4-FFF2-40B4-BE49-F238E27FC236}">
                <a16:creationId xmlns:a16="http://schemas.microsoft.com/office/drawing/2014/main" id="{906C19AB-294F-49E9-ACBA-05FF3CA95CC2}"/>
              </a:ext>
            </a:extLst>
          </p:cNvPr>
          <p:cNvSpPr>
            <a:spLocks xmlns:a="http://schemas.openxmlformats.org/drawingml/2006/main" noGrp="1"/>
          </p:cNvSpPr>
          <p:nvPr/>
        </p:nvSpPr>
        <p:spPr>
          <a:xfrm xmlns:a="http://schemas.openxmlformats.org/drawingml/2006/main">
            <a:off x="7620000" y="3333750"/>
            <a:ext cx="3771900" cy="1381125"/>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9" name="adaptive-total-accent">
            <a:extLst xmlns:a="http://schemas.openxmlformats.org/drawingml/2006/main">
              <a:ext uri="{FF2B5EF4-FFF2-40B4-BE49-F238E27FC236}">
                <a16:creationId xmlns:a16="http://schemas.microsoft.com/office/drawing/2014/main" id="{E5651E4F-4A56-4E08-B1B9-0A4DBECC66D5}"/>
              </a:ext>
            </a:extLst>
          </p:cNvPr>
          <p:cNvSpPr>
            <a:spLocks xmlns:a="http://schemas.openxmlformats.org/drawingml/2006/main" noGrp="1"/>
          </p:cNvSpPr>
          <p:nvPr/>
        </p:nvSpPr>
        <p:spPr>
          <a:xfrm xmlns:a="http://schemas.openxmlformats.org/drawingml/2006/main">
            <a:off x="7620000" y="3333750"/>
            <a:ext cx="76200" cy="1381125"/>
          </a:xfrm>
          <a:prstGeom xmlns:a="http://schemas.openxmlformats.org/drawingml/2006/main" prst="rect">
            <a:avLst/>
          </a:prstGeom>
          <a:solidFill xmlns:a="http://schemas.openxmlformats.org/drawingml/2006/main">
            <a:srgbClr val="2457A6"/>
          </a:solidFill>
          <a:ln xmlns:a="http://schemas.openxmlformats.org/drawingml/2006/main" w="0">
            <a:solidFill>
              <a:srgbClr val="2457A6"/>
            </a:solidFill>
            <a:prstDash val="solid"/>
          </a:ln>
        </p:spPr>
        <p:txBody>
          <a:bodyPr xmlns:a="http://schemas.openxmlformats.org/drawingml/2006/main"/>
          <a:lstStyle xmlns:a="http://schemas.openxmlformats.org/drawingml/2006/main"/>
          <a:p xmlns:a="http://schemas.openxmlformats.org/drawingml/2006/main"/>
        </p:txBody>
      </p:sp>
      <p:sp>
        <p:nvSpPr>
          <p:cNvPr id="10" name="adaptive-total-value">
            <a:extLst xmlns:a="http://schemas.openxmlformats.org/drawingml/2006/main">
              <a:ext uri="{FF2B5EF4-FFF2-40B4-BE49-F238E27FC236}">
                <a16:creationId xmlns:a16="http://schemas.microsoft.com/office/drawing/2014/main" id="{8BF7A48F-4AE8-4EB5-9D92-A07DA0992888}"/>
              </a:ext>
            </a:extLst>
          </p:cNvPr>
          <p:cNvSpPr>
            <a:spLocks xmlns:a="http://schemas.openxmlformats.org/drawingml/2006/main" noGrp="1"/>
          </p:cNvSpPr>
          <p:nvPr/>
        </p:nvSpPr>
        <p:spPr>
          <a:xfrm xmlns:a="http://schemas.openxmlformats.org/drawingml/2006/main">
            <a:off x="7848600" y="3543300"/>
            <a:ext cx="3390900" cy="552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000" b="1">
                <a:solidFill>
                  <a:srgbClr val="2457A6"/>
                </a:solidFill>
                <a:latin typeface="Helvetica Neue"/>
                <a:ea typeface="Helvetica Neue"/>
                <a:cs typeface="Helvetica Neue"/>
              </a:defRPr>
            </a:pPr>
            <a:r>
              <a:t>522,216</a:t>
            </a:r>
          </a:p>
        </p:txBody>
      </p:sp>
      <p:sp>
        <p:nvSpPr>
          <p:cNvPr id="11" name="adaptive-total-label">
            <a:extLst xmlns:a="http://schemas.openxmlformats.org/drawingml/2006/main">
              <a:ext uri="{FF2B5EF4-FFF2-40B4-BE49-F238E27FC236}">
                <a16:creationId xmlns:a16="http://schemas.microsoft.com/office/drawing/2014/main" id="{4644DBDC-B796-45F8-8AD9-DDD13D903076}"/>
              </a:ext>
            </a:extLst>
          </p:cNvPr>
          <p:cNvSpPr>
            <a:spLocks xmlns:a="http://schemas.openxmlformats.org/drawingml/2006/main" noGrp="1"/>
          </p:cNvSpPr>
          <p:nvPr/>
        </p:nvSpPr>
        <p:spPr>
          <a:xfrm xmlns:a="http://schemas.openxmlformats.org/drawingml/2006/main">
            <a:off x="7848600" y="4171950"/>
            <a:ext cx="33718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Adaptive selected events</a:t>
            </a:r>
          </a:p>
        </p:txBody>
      </p:sp>
      <p:sp>
        <p:nvSpPr>
          <p:cNvPr id="12" name="matched-total-panel">
            <a:extLst xmlns:a="http://schemas.openxmlformats.org/drawingml/2006/main">
              <a:ext uri="{FF2B5EF4-FFF2-40B4-BE49-F238E27FC236}">
                <a16:creationId xmlns:a16="http://schemas.microsoft.com/office/drawing/2014/main" id="{8BADB9EF-19EE-4D43-BC49-FEA345EB43F1}"/>
              </a:ext>
            </a:extLst>
          </p:cNvPr>
          <p:cNvSpPr>
            <a:spLocks xmlns:a="http://schemas.openxmlformats.org/drawingml/2006/main" noGrp="1"/>
          </p:cNvSpPr>
          <p:nvPr/>
        </p:nvSpPr>
        <p:spPr>
          <a:xfrm xmlns:a="http://schemas.openxmlformats.org/drawingml/2006/main">
            <a:off x="7620000" y="4914900"/>
            <a:ext cx="3771900" cy="1381125"/>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13" name="matched-total-accent">
            <a:extLst xmlns:a="http://schemas.openxmlformats.org/drawingml/2006/main">
              <a:ext uri="{FF2B5EF4-FFF2-40B4-BE49-F238E27FC236}">
                <a16:creationId xmlns:a16="http://schemas.microsoft.com/office/drawing/2014/main" id="{12277584-4337-4170-BCB4-932A615A2B10}"/>
              </a:ext>
            </a:extLst>
          </p:cNvPr>
          <p:cNvSpPr>
            <a:spLocks xmlns:a="http://schemas.openxmlformats.org/drawingml/2006/main" noGrp="1"/>
          </p:cNvSpPr>
          <p:nvPr/>
        </p:nvSpPr>
        <p:spPr>
          <a:xfrm xmlns:a="http://schemas.openxmlformats.org/drawingml/2006/main">
            <a:off x="7620000" y="4914900"/>
            <a:ext cx="76200" cy="1381125"/>
          </a:xfrm>
          <a:prstGeom xmlns:a="http://schemas.openxmlformats.org/drawingml/2006/main" prst="rect">
            <a:avLst/>
          </a:prstGeom>
          <a:solidFill xmlns:a="http://schemas.openxmlformats.org/drawingml/2006/main">
            <a:srgbClr val="2457A6"/>
          </a:solidFill>
          <a:ln xmlns:a="http://schemas.openxmlformats.org/drawingml/2006/main" w="0">
            <a:solidFill>
              <a:srgbClr val="2457A6"/>
            </a:solidFill>
            <a:prstDash val="solid"/>
          </a:ln>
        </p:spPr>
        <p:txBody>
          <a:bodyPr xmlns:a="http://schemas.openxmlformats.org/drawingml/2006/main"/>
          <a:lstStyle xmlns:a="http://schemas.openxmlformats.org/drawingml/2006/main"/>
          <a:p xmlns:a="http://schemas.openxmlformats.org/drawingml/2006/main"/>
        </p:txBody>
      </p:sp>
      <p:sp>
        <p:nvSpPr>
          <p:cNvPr id="14" name="matched-total-value">
            <a:extLst xmlns:a="http://schemas.openxmlformats.org/drawingml/2006/main">
              <a:ext uri="{FF2B5EF4-FFF2-40B4-BE49-F238E27FC236}">
                <a16:creationId xmlns:a16="http://schemas.microsoft.com/office/drawing/2014/main" id="{1B115254-EAD7-4622-BE4E-A9B869CD8014}"/>
              </a:ext>
            </a:extLst>
          </p:cNvPr>
          <p:cNvSpPr>
            <a:spLocks xmlns:a="http://schemas.openxmlformats.org/drawingml/2006/main" noGrp="1"/>
          </p:cNvSpPr>
          <p:nvPr/>
        </p:nvSpPr>
        <p:spPr>
          <a:xfrm xmlns:a="http://schemas.openxmlformats.org/drawingml/2006/main">
            <a:off x="7848600" y="5124450"/>
            <a:ext cx="3390900" cy="552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000" b="1">
                <a:solidFill>
                  <a:srgbClr val="2457A6"/>
                </a:solidFill>
                <a:latin typeface="Helvetica Neue"/>
                <a:ea typeface="Helvetica Neue"/>
                <a:cs typeface="Helvetica Neue"/>
              </a:defRPr>
            </a:pPr>
            <a:r>
              <a:t>1,566,634</a:t>
            </a:r>
          </a:p>
        </p:txBody>
      </p:sp>
      <p:sp>
        <p:nvSpPr>
          <p:cNvPr id="15" name="matched-total-label">
            <a:extLst xmlns:a="http://schemas.openxmlformats.org/drawingml/2006/main">
              <a:ext uri="{FF2B5EF4-FFF2-40B4-BE49-F238E27FC236}">
                <a16:creationId xmlns:a16="http://schemas.microsoft.com/office/drawing/2014/main" id="{402B043D-DF96-4717-81FC-D6B1DD5CA53F}"/>
              </a:ext>
            </a:extLst>
          </p:cNvPr>
          <p:cNvSpPr>
            <a:spLocks xmlns:a="http://schemas.openxmlformats.org/drawingml/2006/main" noGrp="1"/>
          </p:cNvSpPr>
          <p:nvPr/>
        </p:nvSpPr>
        <p:spPr>
          <a:xfrm xmlns:a="http://schemas.openxmlformats.org/drawingml/2006/main">
            <a:off x="7848600" y="5753100"/>
            <a:ext cx="33718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Adaptive Top-3 rows</a:t>
            </a:r>
          </a:p>
        </p:txBody>
      </p:sp>
      <p:sp>
        <p:nvSpPr>
          <p:cNvPr id="16" name="chart-label">
            <a:extLst xmlns:a="http://schemas.openxmlformats.org/drawingml/2006/main">
              <a:ext uri="{FF2B5EF4-FFF2-40B4-BE49-F238E27FC236}">
                <a16:creationId xmlns:a16="http://schemas.microsoft.com/office/drawing/2014/main" id="{CAA3ED32-5821-4A1D-91A8-EBB74414C69B}"/>
              </a:ext>
            </a:extLst>
          </p:cNvPr>
          <p:cNvSpPr>
            <a:spLocks xmlns:a="http://schemas.openxmlformats.org/drawingml/2006/main" noGrp="1"/>
          </p:cNvSpPr>
          <p:nvPr/>
        </p:nvSpPr>
        <p:spPr>
          <a:xfrm xmlns:a="http://schemas.openxmlformats.org/drawingml/2006/main">
            <a:off x="685800" y="1866900"/>
            <a:ext cx="59055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111111"/>
                </a:solidFill>
                <a:latin typeface="Helvetica Neue"/>
                <a:ea typeface="Helvetica Neue"/>
                <a:cs typeface="Helvetica Neue"/>
              </a:defRPr>
            </a:pPr>
            <a:r>
              <a:t>Selected-window count ratio by group</a:t>
            </a:r>
          </a:p>
        </p:txBody>
      </p:sp>
      <p:sp>
        <p:nvSpPr>
          <p:cNvPr id="17" name="source-12">
            <a:extLst xmlns:a="http://schemas.openxmlformats.org/drawingml/2006/main">
              <a:ext uri="{FF2B5EF4-FFF2-40B4-BE49-F238E27FC236}">
                <a16:creationId xmlns:a16="http://schemas.microsoft.com/office/drawing/2014/main" id="{91C71298-EBE1-4A02-B6F0-09F6E5E9080B}"/>
              </a:ext>
            </a:extLst>
          </p:cNvPr>
          <p:cNvSpPr>
            <a:spLocks xmlns:a="http://schemas.openxmlformats.org/drawingml/2006/main" noGrp="1"/>
          </p:cNvSpPr>
          <p:nvPr/>
        </p:nvSpPr>
        <p:spPr>
          <a:xfrm xmlns:a="http://schemas.openxmlformats.org/drawingml/2006/main">
            <a:off x="1333500" y="6324600"/>
            <a:ext cx="93535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buNone/>
            </a:pPr>
            <a:r>
              <a:rPr sz="1200">
                <a:solidFill>
                  <a:srgbClr val="5B6470"/>
                </a:solidFill>
                <a:latin typeface="Helvetica Neue"/>
                <a:ea typeface="Helvetica Neue"/>
                <a:cs typeface="Helvetica Neue"/>
              </a:rPr>
              <a:t>Sources: Legacy/Adaptive framing summary and aggregate results</a:t>
            </a:r>
          </a:p>
        </p:txBody>
      </p:sp>
      <p:sp>
        <p:nvSpPr>
          <p:cNvPr id="18" name="slide-number-12">
            <a:extLst xmlns:a="http://schemas.openxmlformats.org/drawingml/2006/main">
              <a:ext uri="{FF2B5EF4-FFF2-40B4-BE49-F238E27FC236}">
                <a16:creationId xmlns:a16="http://schemas.microsoft.com/office/drawing/2014/main" id="{75AD1FDC-4166-4393-84AC-EC6CEBFDD74E}"/>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12</a:t>
            </a:r>
          </a:p>
        </p:txBody>
      </p:sp>
      <p:graphicFrame>
        <p:nvGraphicFramePr>
          <p:cNvPr id="39" name="Chart"/>
          <p:cNvGraphicFramePr/>
          <p:nvPr/>
        </p:nvGraphicFramePr>
        <p:xfrm>
          <a:off xmlns:a="http://schemas.openxmlformats.org/drawingml/2006/main" x="685800" y="2286000"/>
          <a:ext xmlns:a="http://schemas.openxmlformats.org/drawingml/2006/main" cx="6191250" cy="3333750"/>
        </p:xfrm>
        <a:graphic xmlns:a="http://schemas.openxmlformats.org/drawingml/2006/main">
          <a:graphicData uri="http://schemas.openxmlformats.org/drawingml/2006/chart">
            <c:chart xmlns:r="http://schemas.openxmlformats.org/officeDocument/2006/relationships" xmlns:c="http://schemas.openxmlformats.org/drawingml/2006/chart" r:id="R32ec34fa07864fa2"/>
          </a:graphicData>
        </a:graphic>
      </p:graphicFrame>
    </p:spTree>
    <p:extLst>
      <p:ext uri="{BB962C8B-B14F-4D97-AF65-F5344CB8AC3E}">
        <p14:creationId xmlns:p14="http://schemas.microsoft.com/office/powerpoint/2010/main" val="162490111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itle-13">
            <a:extLst xmlns:a="http://schemas.openxmlformats.org/drawingml/2006/main">
              <a:ext uri="{FF2B5EF4-FFF2-40B4-BE49-F238E27FC236}">
                <a16:creationId xmlns:a16="http://schemas.microsoft.com/office/drawing/2014/main" id="{6C834832-441A-4D6F-9A24-EB05C9400C93}"/>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fontScale="86806"/>
          </a:bodyPr>
          <a:lstStyle xmlns:a="http://schemas.openxmlformats.org/drawingml/2006/main"/>
          <a:p xmlns:a="http://schemas.openxmlformats.org/drawingml/2006/main">
            <a:pPr algn="l">
              <a:buNone/>
              <a:defRPr sz="3600" b="1">
                <a:solidFill>
                  <a:srgbClr val="111111"/>
                </a:solidFill>
                <a:latin typeface="Helvetica Neue"/>
                <a:ea typeface="Helvetica Neue"/>
                <a:cs typeface="Helvetica Neue"/>
              </a:defRPr>
            </a:pPr>
            <a:r>
              <a:t>Numerical closure is complete; interpretation remains bounded</a:t>
            </a:r>
          </a:p>
        </p:txBody>
      </p:sp>
      <p:sp>
        <p:nvSpPr>
          <p:cNvPr id="2" name="title-rule-13">
            <a:extLst xmlns:a="http://schemas.openxmlformats.org/drawingml/2006/main">
              <a:ext uri="{FF2B5EF4-FFF2-40B4-BE49-F238E27FC236}">
                <a16:creationId xmlns:a16="http://schemas.microsoft.com/office/drawing/2014/main" id="{DAAF69F3-3FAF-4E54-A4D2-7546A77A1972}"/>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proven-panel">
            <a:extLst xmlns:a="http://schemas.openxmlformats.org/drawingml/2006/main">
              <a:ext uri="{FF2B5EF4-FFF2-40B4-BE49-F238E27FC236}">
                <a16:creationId xmlns:a16="http://schemas.microsoft.com/office/drawing/2014/main" id="{B4C9A1E3-1BCD-4BAC-B176-B0A4124CFA46}"/>
              </a:ext>
            </a:extLst>
          </p:cNvPr>
          <p:cNvSpPr>
            <a:spLocks xmlns:a="http://schemas.openxmlformats.org/drawingml/2006/main" noGrp="1"/>
          </p:cNvSpPr>
          <p:nvPr/>
        </p:nvSpPr>
        <p:spPr>
          <a:xfrm xmlns:a="http://schemas.openxmlformats.org/drawingml/2006/main">
            <a:off x="400050" y="1809750"/>
            <a:ext cx="3524250" cy="3714750"/>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4" name="proven-title">
            <a:extLst xmlns:a="http://schemas.openxmlformats.org/drawingml/2006/main">
              <a:ext uri="{FF2B5EF4-FFF2-40B4-BE49-F238E27FC236}">
                <a16:creationId xmlns:a16="http://schemas.microsoft.com/office/drawing/2014/main" id="{4DCB05DD-D8CC-4A26-89B3-0DC0796B7455}"/>
              </a:ext>
            </a:extLst>
          </p:cNvPr>
          <p:cNvSpPr>
            <a:spLocks xmlns:a="http://schemas.openxmlformats.org/drawingml/2006/main" noGrp="1"/>
          </p:cNvSpPr>
          <p:nvPr/>
        </p:nvSpPr>
        <p:spPr>
          <a:xfrm xmlns:a="http://schemas.openxmlformats.org/drawingml/2006/main">
            <a:off x="666750" y="2095500"/>
            <a:ext cx="2952750" cy="400050"/>
          </a:xfrm>
          <a:prstGeom xmlns:a="http://schemas.openxmlformats.org/drawingml/2006/main" prst="rect">
            <a:avLst/>
          </a:prstGeom>
        </p:spPr>
        <p:txBody>
          <a:bodyPr xmlns:a="http://schemas.openxmlformats.org/drawingml/2006/main" wrap="square" lIns="0" tIns="0" rIns="0" bIns="0" anchor="t">
            <a:normAutofit fontScale="93640"/>
          </a:bodyPr>
          <a:lstStyle xmlns:a="http://schemas.openxmlformats.org/drawingml/2006/main"/>
          <a:p xmlns:a="http://schemas.openxmlformats.org/drawingml/2006/main">
            <a:pPr algn="l">
              <a:buNone/>
              <a:defRPr sz="2175" b="1">
                <a:solidFill>
                  <a:srgbClr val="2457A6"/>
                </a:solidFill>
                <a:latin typeface="Helvetica Neue"/>
                <a:ea typeface="Helvetica Neue"/>
                <a:cs typeface="Helvetica Neue"/>
              </a:defRPr>
            </a:pPr>
            <a:r>
              <a:t>Numerically established</a:t>
            </a:r>
          </a:p>
        </p:txBody>
      </p:sp>
      <p:sp>
        <p:nvSpPr>
          <p:cNvPr id="5" name="proven-body">
            <a:extLst xmlns:a="http://schemas.openxmlformats.org/drawingml/2006/main">
              <a:ext uri="{FF2B5EF4-FFF2-40B4-BE49-F238E27FC236}">
                <a16:creationId xmlns:a16="http://schemas.microsoft.com/office/drawing/2014/main" id="{2EF9BC7E-CF29-4E21-A78D-83F644372039}"/>
              </a:ext>
            </a:extLst>
          </p:cNvPr>
          <p:cNvSpPr>
            <a:spLocks xmlns:a="http://schemas.openxmlformats.org/drawingml/2006/main" noGrp="1"/>
          </p:cNvSpPr>
          <p:nvPr/>
        </p:nvSpPr>
        <p:spPr>
          <a:xfrm xmlns:a="http://schemas.openxmlformats.org/drawingml/2006/main">
            <a:off x="666750" y="2781300"/>
            <a:ext cx="2914650" cy="2095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111111"/>
                </a:solidFill>
                <a:latin typeface="Helvetica Neue"/>
                <a:ea typeface="Helvetica Neue"/>
                <a:cs typeface="Helvetica Neue"/>
              </a:defRPr>
            </a:pPr>
            <a:r>
              <a:t>• Adaptive retains all 16,240 legacy windows
• Adaptive/Top-3 agrees across T01–T09
• 413 morphology-screen cases completed
• Top-3 rule is stable across sensitivity checks</a:t>
            </a:r>
          </a:p>
        </p:txBody>
      </p:sp>
      <p:sp>
        <p:nvSpPr>
          <p:cNvPr id="6" name="unproven-panel">
            <a:extLst xmlns:a="http://schemas.openxmlformats.org/drawingml/2006/main">
              <a:ext uri="{FF2B5EF4-FFF2-40B4-BE49-F238E27FC236}">
                <a16:creationId xmlns:a16="http://schemas.microsoft.com/office/drawing/2014/main" id="{2AFE4A40-9975-47DC-8FAA-FFC164B666F1}"/>
              </a:ext>
            </a:extLst>
          </p:cNvPr>
          <p:cNvSpPr>
            <a:spLocks xmlns:a="http://schemas.openxmlformats.org/drawingml/2006/main" noGrp="1"/>
          </p:cNvSpPr>
          <p:nvPr/>
        </p:nvSpPr>
        <p:spPr>
          <a:xfrm xmlns:a="http://schemas.openxmlformats.org/drawingml/2006/main">
            <a:off x="4324350" y="1809750"/>
            <a:ext cx="3524250" cy="3714750"/>
          </a:xfrm>
          <a:prstGeom xmlns:a="http://schemas.openxmlformats.org/drawingml/2006/main" prst="rect">
            <a:avLst/>
          </a:prstGeom>
          <a:solidFill xmlns:a="http://schemas.openxmlformats.org/drawingml/2006/main">
            <a:srgbClr val="F8EEE8"/>
          </a:solidFill>
          <a:ln xmlns:a="http://schemas.openxmlformats.org/drawingml/2006/main" w="0">
            <a:solidFill>
              <a:srgbClr val="F8EEE8"/>
            </a:solidFill>
            <a:prstDash val="solid"/>
          </a:ln>
        </p:spPr>
        <p:txBody>
          <a:bodyPr xmlns:a="http://schemas.openxmlformats.org/drawingml/2006/main"/>
          <a:lstStyle xmlns:a="http://schemas.openxmlformats.org/drawingml/2006/main"/>
          <a:p xmlns:a="http://schemas.openxmlformats.org/drawingml/2006/main"/>
        </p:txBody>
      </p:sp>
      <p:sp>
        <p:nvSpPr>
          <p:cNvPr id="7" name="unproven-title">
            <a:extLst xmlns:a="http://schemas.openxmlformats.org/drawingml/2006/main">
              <a:ext uri="{FF2B5EF4-FFF2-40B4-BE49-F238E27FC236}">
                <a16:creationId xmlns:a16="http://schemas.microsoft.com/office/drawing/2014/main" id="{4DA1D849-826E-429D-AACB-05C9E06A6F57}"/>
              </a:ext>
            </a:extLst>
          </p:cNvPr>
          <p:cNvSpPr>
            <a:spLocks xmlns:a="http://schemas.openxmlformats.org/drawingml/2006/main" noGrp="1"/>
          </p:cNvSpPr>
          <p:nvPr/>
        </p:nvSpPr>
        <p:spPr>
          <a:xfrm xmlns:a="http://schemas.openxmlformats.org/drawingml/2006/main">
            <a:off x="4591050" y="2095500"/>
            <a:ext cx="29527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1">
                <a:solidFill>
                  <a:srgbClr val="B85C1E"/>
                </a:solidFill>
                <a:latin typeface="Helvetica Neue"/>
                <a:ea typeface="Helvetica Neue"/>
                <a:cs typeface="Helvetica Neue"/>
              </a:defRPr>
            </a:pPr>
            <a:r>
              <a:t>Not claimed</a:t>
            </a:r>
          </a:p>
        </p:txBody>
      </p:sp>
      <p:sp>
        <p:nvSpPr>
          <p:cNvPr id="8" name="unproven-body">
            <a:extLst xmlns:a="http://schemas.openxmlformats.org/drawingml/2006/main">
              <a:ext uri="{FF2B5EF4-FFF2-40B4-BE49-F238E27FC236}">
                <a16:creationId xmlns:a16="http://schemas.microsoft.com/office/drawing/2014/main" id="{523B58BB-7A10-4E82-9F3A-97ACD4B0A7A3}"/>
              </a:ext>
            </a:extLst>
          </p:cNvPr>
          <p:cNvSpPr>
            <a:spLocks xmlns:a="http://schemas.openxmlformats.org/drawingml/2006/main" noGrp="1"/>
          </p:cNvSpPr>
          <p:nvPr/>
        </p:nvSpPr>
        <p:spPr>
          <a:xfrm xmlns:a="http://schemas.openxmlformats.org/drawingml/2006/main">
            <a:off x="4591050" y="2781300"/>
            <a:ext cx="2914650" cy="2095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111111"/>
                </a:solidFill>
                <a:latin typeface="Helvetica Neue"/>
                <a:ea typeface="Helvetica Neue"/>
                <a:cs typeface="Helvetica Neue"/>
              </a:defRPr>
            </a:pPr>
            <a:r>
              <a:t>• Adaptive-only windows are damage events
• CT07 maps to any T01–T09 specimen
• Review was expert or manually blinded
• Damage-classification accuracy improved</a:t>
            </a:r>
          </a:p>
        </p:txBody>
      </p:sp>
      <p:sp>
        <p:nvSpPr>
          <p:cNvPr id="9" name="implication-panel">
            <a:extLst xmlns:a="http://schemas.openxmlformats.org/drawingml/2006/main">
              <a:ext uri="{FF2B5EF4-FFF2-40B4-BE49-F238E27FC236}">
                <a16:creationId xmlns:a16="http://schemas.microsoft.com/office/drawing/2014/main" id="{EE11C4C5-A163-4567-A248-060FE6C7DADE}"/>
              </a:ext>
            </a:extLst>
          </p:cNvPr>
          <p:cNvSpPr>
            <a:spLocks xmlns:a="http://schemas.openxmlformats.org/drawingml/2006/main" noGrp="1"/>
          </p:cNvSpPr>
          <p:nvPr/>
        </p:nvSpPr>
        <p:spPr>
          <a:xfrm xmlns:a="http://schemas.openxmlformats.org/drawingml/2006/main">
            <a:off x="8248650" y="1809750"/>
            <a:ext cx="3543300" cy="3714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10" name="implication-title">
            <a:extLst xmlns:a="http://schemas.openxmlformats.org/drawingml/2006/main">
              <a:ext uri="{FF2B5EF4-FFF2-40B4-BE49-F238E27FC236}">
                <a16:creationId xmlns:a16="http://schemas.microsoft.com/office/drawing/2014/main" id="{9EFFA7D4-CE6C-44B4-A6BC-38C086F3156F}"/>
              </a:ext>
            </a:extLst>
          </p:cNvPr>
          <p:cNvSpPr>
            <a:spLocks xmlns:a="http://schemas.openxmlformats.org/drawingml/2006/main" noGrp="1"/>
          </p:cNvSpPr>
          <p:nvPr/>
        </p:nvSpPr>
        <p:spPr>
          <a:xfrm xmlns:a="http://schemas.openxmlformats.org/drawingml/2006/main">
            <a:off x="8515350" y="2095500"/>
            <a:ext cx="30099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1">
                <a:solidFill>
                  <a:srgbClr val="111111"/>
                </a:solidFill>
                <a:latin typeface="Helvetica Neue"/>
                <a:ea typeface="Helvetica Neue"/>
                <a:cs typeface="Helvetica Neue"/>
              </a:defRPr>
            </a:pPr>
            <a:r>
              <a:t>Mapping result</a:t>
            </a:r>
          </a:p>
        </p:txBody>
      </p:sp>
      <p:sp>
        <p:nvSpPr>
          <p:cNvPr id="11" name="implication-body">
            <a:extLst xmlns:a="http://schemas.openxmlformats.org/drawingml/2006/main">
              <a:ext uri="{FF2B5EF4-FFF2-40B4-BE49-F238E27FC236}">
                <a16:creationId xmlns:a16="http://schemas.microsoft.com/office/drawing/2014/main" id="{B5232E82-BBB6-47B2-981B-9D3B4D9C7306}"/>
              </a:ext>
            </a:extLst>
          </p:cNvPr>
          <p:cNvSpPr>
            <a:spLocks xmlns:a="http://schemas.openxmlformats.org/drawingml/2006/main" noGrp="1"/>
          </p:cNvSpPr>
          <p:nvPr/>
        </p:nvSpPr>
        <p:spPr>
          <a:xfrm xmlns:a="http://schemas.openxmlformats.org/drawingml/2006/main">
            <a:off x="8515350" y="2781300"/>
            <a:ext cx="2952750" cy="1714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a:solidFill>
                  <a:srgbClr val="111111"/>
                </a:solidFill>
                <a:latin typeface="Helvetica Neue"/>
                <a:ea typeface="Helvetica Neue"/>
                <a:cs typeface="Helvetica Neue"/>
              </a:defRPr>
            </a:pPr>
            <a:r>
              <a:t>All nine waveform-to-CT candidates remain unresolved. No load, stress, yield or crack-stage conclusion is reported.</a:t>
            </a:r>
          </a:p>
        </p:txBody>
      </p:sp>
      <p:sp>
        <p:nvSpPr>
          <p:cNvPr id="12" name="implication-bottom">
            <a:extLst xmlns:a="http://schemas.openxmlformats.org/drawingml/2006/main">
              <a:ext uri="{FF2B5EF4-FFF2-40B4-BE49-F238E27FC236}">
                <a16:creationId xmlns:a16="http://schemas.microsoft.com/office/drawing/2014/main" id="{DCEE77AA-1BF7-41D1-8AF6-334D50F9C47C}"/>
              </a:ext>
            </a:extLst>
          </p:cNvPr>
          <p:cNvSpPr>
            <a:spLocks xmlns:a="http://schemas.openxmlformats.org/drawingml/2006/main" noGrp="1"/>
          </p:cNvSpPr>
          <p:nvPr/>
        </p:nvSpPr>
        <p:spPr>
          <a:xfrm xmlns:a="http://schemas.openxmlformats.org/drawingml/2006/main">
            <a:off x="8515350" y="4743450"/>
            <a:ext cx="2952750" cy="552450"/>
          </a:xfrm>
          <a:prstGeom xmlns:a="http://schemas.openxmlformats.org/drawingml/2006/main" prst="rect">
            <a:avLst/>
          </a:prstGeom>
        </p:spPr>
        <p:txBody>
          <a:bodyPr xmlns:a="http://schemas.openxmlformats.org/drawingml/2006/main" wrap="square" lIns="0" tIns="0" rIns="0" bIns="0" anchor="t">
            <a:normAutofit fontScale="96711"/>
          </a:bodyPr>
          <a:lstStyle xmlns:a="http://schemas.openxmlformats.org/drawingml/2006/main"/>
          <a:p xmlns:a="http://schemas.openxmlformats.org/drawingml/2006/main">
            <a:pPr algn="l">
              <a:buNone/>
              <a:defRPr sz="1650" b="1">
                <a:solidFill>
                  <a:srgbClr val="2457A6"/>
                </a:solidFill>
                <a:latin typeface="Helvetica Neue"/>
                <a:ea typeface="Helvetica Neue"/>
                <a:cs typeface="Helvetica Neue"/>
              </a:defRPr>
            </a:pPr>
            <a:r>
              <a:t>Top-3 is secondary descriptive spectral information.</a:t>
            </a:r>
          </a:p>
        </p:txBody>
      </p:sp>
      <p:sp>
        <p:nvSpPr>
          <p:cNvPr id="13" name="source-13">
            <a:extLst xmlns:a="http://schemas.openxmlformats.org/drawingml/2006/main">
              <a:ext uri="{FF2B5EF4-FFF2-40B4-BE49-F238E27FC236}">
                <a16:creationId xmlns:a16="http://schemas.microsoft.com/office/drawing/2014/main" id="{71E1C0F4-B9BA-4751-8E19-D94B829C5DBC}"/>
              </a:ext>
            </a:extLst>
          </p:cNvPr>
          <p:cNvSpPr>
            <a:spLocks xmlns:a="http://schemas.openxmlformats.org/drawingml/2006/main" noGrp="1"/>
          </p:cNvSpPr>
          <p:nvPr/>
        </p:nvSpPr>
        <p:spPr>
          <a:xfrm xmlns:a="http://schemas.openxmlformats.org/drawingml/2006/main">
            <a:off x="400050" y="6419850"/>
            <a:ext cx="1028700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a:solidFill>
                  <a:srgbClr val="5B6470"/>
                </a:solidFill>
                <a:latin typeface="Helvetica Neue"/>
                <a:ea typeface="Helvetica Neue"/>
                <a:cs typeface="Helvetica Neue"/>
              </a:defRPr>
            </a:pPr>
            <a:r>
              <a:t>Sources: morphology screen, alignment summary and Top-3 summary</a:t>
            </a:r>
          </a:p>
        </p:txBody>
      </p:sp>
      <p:sp>
        <p:nvSpPr>
          <p:cNvPr id="14" name="slide-number-13">
            <a:extLst xmlns:a="http://schemas.openxmlformats.org/drawingml/2006/main">
              <a:ext uri="{FF2B5EF4-FFF2-40B4-BE49-F238E27FC236}">
                <a16:creationId xmlns:a16="http://schemas.microsoft.com/office/drawing/2014/main" id="{79CA8E6F-12AC-4361-9282-78573C759796}"/>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13</a:t>
            </a:r>
          </a:p>
        </p:txBody>
      </p:sp>
    </p:spTree>
    <p:extLst>
      <p:ext uri="{BB962C8B-B14F-4D97-AF65-F5344CB8AC3E}">
        <p14:creationId xmlns:p14="http://schemas.microsoft.com/office/powerpoint/2010/main" val="179427530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itle-14">
            <a:extLst xmlns:a="http://schemas.openxmlformats.org/drawingml/2006/main">
              <a:ext uri="{FF2B5EF4-FFF2-40B4-BE49-F238E27FC236}">
                <a16:creationId xmlns:a16="http://schemas.microsoft.com/office/drawing/2014/main" id="{5F87F44C-B018-4A58-B550-E264C75E7FA9}"/>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fontScale="100000"/>
          </a:bodyPr>
          <a:lstStyle xmlns:a="http://schemas.openxmlformats.org/drawingml/2006/main"/>
          <a:p xmlns:a="http://schemas.openxmlformats.org/drawingml/2006/main">
            <a:pPr algn="l">
              <a:buNone/>
              <a:defRPr sz="3300" b="1">
                <a:solidFill>
                  <a:srgbClr val="111111"/>
                </a:solidFill>
                <a:latin typeface="Helvetica Neue"/>
                <a:ea typeface="Helvetica Neue"/>
                <a:cs typeface="Helvetica Neue"/>
              </a:defRPr>
            </a:pPr>
            <a:r>
              <a:t>DTA adds bounded steel-related workflow applicability</a:t>
            </a:r>
          </a:p>
        </p:txBody>
      </p:sp>
      <p:sp>
        <p:nvSpPr>
          <p:cNvPr id="2" name="title-rule-14">
            <a:extLst xmlns:a="http://schemas.openxmlformats.org/drawingml/2006/main">
              <a:ext uri="{FF2B5EF4-FFF2-40B4-BE49-F238E27FC236}">
                <a16:creationId xmlns:a16="http://schemas.microsoft.com/office/drawing/2014/main" id="{C295A066-321C-4AE8-8401-E60E6A5D36BF}"/>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strengths-panel">
            <a:extLst xmlns:a="http://schemas.openxmlformats.org/drawingml/2006/main">
              <a:ext uri="{FF2B5EF4-FFF2-40B4-BE49-F238E27FC236}">
                <a16:creationId xmlns:a16="http://schemas.microsoft.com/office/drawing/2014/main" id="{E87B1A2D-BCD7-491F-BF1F-456C70F784CB}"/>
              </a:ext>
            </a:extLst>
          </p:cNvPr>
          <p:cNvSpPr>
            <a:spLocks xmlns:a="http://schemas.openxmlformats.org/drawingml/2006/main" noGrp="1"/>
          </p:cNvSpPr>
          <p:nvPr/>
        </p:nvSpPr>
        <p:spPr>
          <a:xfrm xmlns:a="http://schemas.openxmlformats.org/drawingml/2006/main">
            <a:off x="400050" y="1752600"/>
            <a:ext cx="5410200" cy="3962400"/>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4" name="strengths-title">
            <a:extLst xmlns:a="http://schemas.openxmlformats.org/drawingml/2006/main">
              <a:ext uri="{FF2B5EF4-FFF2-40B4-BE49-F238E27FC236}">
                <a16:creationId xmlns:a16="http://schemas.microsoft.com/office/drawing/2014/main" id="{0862556C-250B-48D2-8A81-983053851592}"/>
              </a:ext>
            </a:extLst>
          </p:cNvPr>
          <p:cNvSpPr>
            <a:spLocks xmlns:a="http://schemas.openxmlformats.org/drawingml/2006/main" noGrp="1"/>
          </p:cNvSpPr>
          <p:nvPr/>
        </p:nvSpPr>
        <p:spPr>
          <a:xfrm xmlns:a="http://schemas.openxmlformats.org/drawingml/2006/main">
            <a:off x="685800" y="2038350"/>
            <a:ext cx="48577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1">
                <a:solidFill>
                  <a:srgbClr val="2457A6"/>
                </a:solidFill>
                <a:latin typeface="Helvetica Neue"/>
                <a:ea typeface="Helvetica Neue"/>
                <a:cs typeface="Helvetica Neue"/>
              </a:defRPr>
            </a:pPr>
            <a:r>
              <a:t>Validated fixture result</a:t>
            </a:r>
          </a:p>
        </p:txBody>
      </p:sp>
      <p:sp>
        <p:nvSpPr>
          <p:cNvPr id="5" name="strengths-body">
            <a:extLst xmlns:a="http://schemas.openxmlformats.org/drawingml/2006/main">
              <a:ext uri="{FF2B5EF4-FFF2-40B4-BE49-F238E27FC236}">
                <a16:creationId xmlns:a16="http://schemas.microsoft.com/office/drawing/2014/main" id="{3DA02EDD-7B18-46BD-8782-C4A0910ED665}"/>
              </a:ext>
            </a:extLst>
          </p:cNvPr>
          <p:cNvSpPr>
            <a:spLocks xmlns:a="http://schemas.openxmlformats.org/drawingml/2006/main" noGrp="1"/>
          </p:cNvSpPr>
          <p:nvPr/>
        </p:nvSpPr>
        <p:spPr>
          <a:xfrm xmlns:a="http://schemas.openxmlformats.org/drawingml/2006/main">
            <a:off x="685800" y="2800350"/>
            <a:ext cx="4762500" cy="23812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a:solidFill>
                  <a:srgbClr val="111111"/>
                </a:solidFill>
                <a:latin typeface="Helvetica Neue"/>
                <a:ea typeface="Helvetica Neue"/>
                <a:cs typeface="Helvetica Neue"/>
              </a:defRPr>
            </a:pPr>
            <a:r>
              <a:t>Public AEWin/Mistras DTA fixture
8 hit records parsed
8 waveform records parsed
Julia test suite: 56 / 56
Symmetric missing / extra: 0</a:t>
            </a:r>
          </a:p>
        </p:txBody>
      </p:sp>
      <p:sp>
        <p:nvSpPr>
          <p:cNvPr id="6" name="risks-panel">
            <a:extLst xmlns:a="http://schemas.openxmlformats.org/drawingml/2006/main">
              <a:ext uri="{FF2B5EF4-FFF2-40B4-BE49-F238E27FC236}">
                <a16:creationId xmlns:a16="http://schemas.microsoft.com/office/drawing/2014/main" id="{CCC78E0C-D8A4-431B-92EE-CBC96B8A22A6}"/>
              </a:ext>
            </a:extLst>
          </p:cNvPr>
          <p:cNvSpPr>
            <a:spLocks xmlns:a="http://schemas.openxmlformats.org/drawingml/2006/main" noGrp="1"/>
          </p:cNvSpPr>
          <p:nvPr/>
        </p:nvSpPr>
        <p:spPr>
          <a:xfrm xmlns:a="http://schemas.openxmlformats.org/drawingml/2006/main">
            <a:off x="6153150" y="1752600"/>
            <a:ext cx="5638800" cy="3962400"/>
          </a:xfrm>
          <a:prstGeom xmlns:a="http://schemas.openxmlformats.org/drawingml/2006/main" prst="rect">
            <a:avLst/>
          </a:prstGeom>
          <a:solidFill xmlns:a="http://schemas.openxmlformats.org/drawingml/2006/main">
            <a:srgbClr val="F8EEE8"/>
          </a:solidFill>
          <a:ln xmlns:a="http://schemas.openxmlformats.org/drawingml/2006/main" w="0">
            <a:solidFill>
              <a:srgbClr val="F8EEE8"/>
            </a:solidFill>
            <a:prstDash val="solid"/>
          </a:ln>
        </p:spPr>
        <p:txBody>
          <a:bodyPr xmlns:a="http://schemas.openxmlformats.org/drawingml/2006/main"/>
          <a:lstStyle xmlns:a="http://schemas.openxmlformats.org/drawingml/2006/main"/>
          <a:p xmlns:a="http://schemas.openxmlformats.org/drawingml/2006/main"/>
        </p:txBody>
      </p:sp>
      <p:sp>
        <p:nvSpPr>
          <p:cNvPr id="7" name="risks-title">
            <a:extLst xmlns:a="http://schemas.openxmlformats.org/drawingml/2006/main">
              <a:ext uri="{FF2B5EF4-FFF2-40B4-BE49-F238E27FC236}">
                <a16:creationId xmlns:a16="http://schemas.microsoft.com/office/drawing/2014/main" id="{A2A9CB75-E2AA-43AD-8497-DAB3A5A1D55B}"/>
              </a:ext>
            </a:extLst>
          </p:cNvPr>
          <p:cNvSpPr>
            <a:spLocks xmlns:a="http://schemas.openxmlformats.org/drawingml/2006/main" noGrp="1"/>
          </p:cNvSpPr>
          <p:nvPr/>
        </p:nvSpPr>
        <p:spPr>
          <a:xfrm xmlns:a="http://schemas.openxmlformats.org/drawingml/2006/main">
            <a:off x="6438900" y="2038350"/>
            <a:ext cx="5048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1">
                <a:solidFill>
                  <a:srgbClr val="B85C1E"/>
                </a:solidFill>
                <a:latin typeface="Helvetica Neue"/>
                <a:ea typeface="Helvetica Neue"/>
                <a:cs typeface="Helvetica Neue"/>
              </a:defRPr>
            </a:pPr>
            <a:r>
              <a:t>Claim boundary</a:t>
            </a:r>
          </a:p>
        </p:txBody>
      </p:sp>
      <p:sp>
        <p:nvSpPr>
          <p:cNvPr id="8" name="risks-body">
            <a:extLst xmlns:a="http://schemas.openxmlformats.org/drawingml/2006/main">
              <a:ext uri="{FF2B5EF4-FFF2-40B4-BE49-F238E27FC236}">
                <a16:creationId xmlns:a16="http://schemas.microsoft.com/office/drawing/2014/main" id="{2F3D4964-593F-47CC-96B4-BB2845706459}"/>
              </a:ext>
            </a:extLst>
          </p:cNvPr>
          <p:cNvSpPr>
            <a:spLocks xmlns:a="http://schemas.openxmlformats.org/drawingml/2006/main" noGrp="1"/>
          </p:cNvSpPr>
          <p:nvPr/>
        </p:nvSpPr>
        <p:spPr>
          <a:xfrm xmlns:a="http://schemas.openxmlformats.org/drawingml/2006/main">
            <a:off x="6438900" y="2800350"/>
            <a:ext cx="4953000" cy="23812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a:solidFill>
                  <a:srgbClr val="111111"/>
                </a:solidFill>
                <a:latin typeface="Helvetica Neue"/>
                <a:ea typeface="Helvetica Neue"/>
                <a:cs typeface="Helvetica Neue"/>
              </a:defRPr>
            </a:pPr>
            <a:r>
              <a:t>Python fixture is the sole numerical oracle
Only the tested DTA variant is supported
MATLAB-source candidate remained a failed path
No WFS or complete Mistras compatibility
No steel crack-detection validation</a:t>
            </a:r>
          </a:p>
        </p:txBody>
      </p:sp>
      <p:sp>
        <p:nvSpPr>
          <p:cNvPr id="9" name="risk-decision">
            <a:extLst xmlns:a="http://schemas.openxmlformats.org/drawingml/2006/main">
              <a:ext uri="{FF2B5EF4-FFF2-40B4-BE49-F238E27FC236}">
                <a16:creationId xmlns:a16="http://schemas.microsoft.com/office/drawing/2014/main" id="{22D5CAD5-B555-4FAF-8784-3A273FCAB626}"/>
              </a:ext>
            </a:extLst>
          </p:cNvPr>
          <p:cNvSpPr>
            <a:spLocks xmlns:a="http://schemas.openxmlformats.org/drawingml/2006/main" noGrp="1"/>
          </p:cNvSpPr>
          <p:nvPr/>
        </p:nvSpPr>
        <p:spPr>
          <a:xfrm xmlns:a="http://schemas.openxmlformats.org/drawingml/2006/main">
            <a:off x="685800" y="5905500"/>
            <a:ext cx="10191750" cy="342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111111"/>
                </a:solidFill>
                <a:latin typeface="Helvetica Neue"/>
                <a:ea typeface="Helvetica Neue"/>
                <a:cs typeface="Helvetica Neue"/>
              </a:defRPr>
            </a:pPr>
            <a:r>
              <a:t>Evidence level: format/workflow applicability—not experimental steel validation.</a:t>
            </a:r>
          </a:p>
        </p:txBody>
      </p:sp>
      <p:sp>
        <p:nvSpPr>
          <p:cNvPr id="10" name="source-14">
            <a:extLst xmlns:a="http://schemas.openxmlformats.org/drawingml/2006/main">
              <a:ext uri="{FF2B5EF4-FFF2-40B4-BE49-F238E27FC236}">
                <a16:creationId xmlns:a16="http://schemas.microsoft.com/office/drawing/2014/main" id="{50EB86B4-32BF-4AFC-9254-E38DB6EFA2C9}"/>
              </a:ext>
            </a:extLst>
          </p:cNvPr>
          <p:cNvSpPr>
            <a:spLocks xmlns:a="http://schemas.openxmlformats.org/drawingml/2006/main" noGrp="1"/>
          </p:cNvSpPr>
          <p:nvPr/>
        </p:nvSpPr>
        <p:spPr>
          <a:xfrm xmlns:a="http://schemas.openxmlformats.org/drawingml/2006/main">
            <a:off x="400050" y="6419850"/>
            <a:ext cx="1028700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a:solidFill>
                  <a:srgbClr val="5B6470"/>
                </a:solidFill>
                <a:latin typeface="Helvetica Neue"/>
                <a:ea typeface="Helvetica Neue"/>
                <a:cs typeface="Helvetica Neue"/>
              </a:defRPr>
            </a:pPr>
            <a:r>
              <a:t>Sources: DTA final validation, comparison summary and manifest</a:t>
            </a:r>
          </a:p>
        </p:txBody>
      </p:sp>
      <p:sp>
        <p:nvSpPr>
          <p:cNvPr id="11" name="slide-number-14">
            <a:extLst xmlns:a="http://schemas.openxmlformats.org/drawingml/2006/main">
              <a:ext uri="{FF2B5EF4-FFF2-40B4-BE49-F238E27FC236}">
                <a16:creationId xmlns:a16="http://schemas.microsoft.com/office/drawing/2014/main" id="{BBE65D73-BDEB-4037-A8D6-25E0B378C4CF}"/>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14</a:t>
            </a:r>
          </a:p>
        </p:txBody>
      </p:sp>
    </p:spTree>
    <p:extLst>
      <p:ext uri="{BB962C8B-B14F-4D97-AF65-F5344CB8AC3E}">
        <p14:creationId xmlns:p14="http://schemas.microsoft.com/office/powerpoint/2010/main" val="57680468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itle-15">
            <a:extLst xmlns:a="http://schemas.openxmlformats.org/drawingml/2006/main">
              <a:ext uri="{FF2B5EF4-FFF2-40B4-BE49-F238E27FC236}">
                <a16:creationId xmlns:a16="http://schemas.microsoft.com/office/drawing/2014/main" id="{D5B2D644-3F93-4FE8-95B0-F35B5B5E91F9}"/>
              </a:ext>
            </a:extLst>
          </p:cNvPr>
          <p:cNvSpPr>
            <a:spLocks xmlns:a="http://schemas.openxmlformats.org/drawingml/2006/main" noGrp="1"/>
          </p:cNvSpPr>
          <p:nvPr/>
        </p:nvSpPr>
        <p:spPr>
          <a:xfrm xmlns:a="http://schemas.openxmlformats.org/drawingml/2006/main">
            <a:off x="400050" y="323850"/>
            <a:ext cx="11391900" cy="952500"/>
          </a:xfrm>
          <a:prstGeom xmlns:a="http://schemas.openxmlformats.org/drawingml/2006/main" prst="rect">
            <a:avLst/>
          </a:prstGeom>
        </p:spPr>
        <p:txBody>
          <a:bodyPr xmlns:a="http://schemas.openxmlformats.org/drawingml/2006/main" wrap="square" lIns="0" tIns="0" rIns="0" bIns="0" anchor="b">
            <a:normAutofit fontScale="87909"/>
          </a:bodyPr>
          <a:lstStyle xmlns:a="http://schemas.openxmlformats.org/drawingml/2006/main"/>
          <a:p xmlns:a="http://schemas.openxmlformats.org/drawingml/2006/main">
            <a:pPr algn="l">
              <a:buNone/>
              <a:defRPr sz="3600" b="1">
                <a:solidFill>
                  <a:srgbClr val="111111"/>
                </a:solidFill>
                <a:latin typeface="Helvetica Neue"/>
                <a:ea typeface="Helvetica Neue"/>
                <a:cs typeface="Helvetica Neue"/>
              </a:defRPr>
            </a:pPr>
            <a:r>
              <a:t>The evidence chain is closed; thesis integration comes next</a:t>
            </a:r>
          </a:p>
        </p:txBody>
      </p:sp>
      <p:sp>
        <p:nvSpPr>
          <p:cNvPr id="2" name="title-rule-15">
            <a:extLst xmlns:a="http://schemas.openxmlformats.org/drawingml/2006/main">
              <a:ext uri="{FF2B5EF4-FFF2-40B4-BE49-F238E27FC236}">
                <a16:creationId xmlns:a16="http://schemas.microsoft.com/office/drawing/2014/main" id="{E71FEDFB-8D57-44C4-AD46-1EFE590EE3C7}"/>
              </a:ext>
            </a:extLst>
          </p:cNvPr>
          <p:cNvSpPr>
            <a:spLocks xmlns:a="http://schemas.openxmlformats.org/drawingml/2006/main" noGrp="1"/>
          </p:cNvSpPr>
          <p:nvPr/>
        </p:nvSpPr>
        <p:spPr>
          <a:xfrm xmlns:a="http://schemas.openxmlformats.org/drawingml/2006/main">
            <a:off x="400050" y="1352550"/>
            <a:ext cx="11391900" cy="19050"/>
          </a:xfrm>
          <a:prstGeom xmlns:a="http://schemas.openxmlformats.org/drawingml/2006/main" prst="rect">
            <a:avLst/>
          </a:prstGeom>
          <a:solidFill xmlns:a="http://schemas.openxmlformats.org/drawingml/2006/main">
            <a:srgbClr val="111111"/>
          </a:solidFill>
          <a:ln xmlns:a="http://schemas.openxmlformats.org/drawingml/2006/main" w="0">
            <a:solidFill>
              <a:srgbClr val="111111"/>
            </a:solidFill>
            <a:prstDash val="solid"/>
          </a:ln>
        </p:spPr>
        <p:txBody>
          <a:bodyPr xmlns:a="http://schemas.openxmlformats.org/drawingml/2006/main"/>
          <a:lstStyle xmlns:a="http://schemas.openxmlformats.org/drawingml/2006/main"/>
          <a:p xmlns:a="http://schemas.openxmlformats.org/drawingml/2006/main"/>
        </p:txBody>
      </p:sp>
      <p:sp>
        <p:nvSpPr>
          <p:cNvPr id="3" name="conclusion-lead">
            <a:extLst xmlns:a="http://schemas.openxmlformats.org/drawingml/2006/main">
              <a:ext uri="{FF2B5EF4-FFF2-40B4-BE49-F238E27FC236}">
                <a16:creationId xmlns:a16="http://schemas.microsoft.com/office/drawing/2014/main" id="{E651EA62-BCDF-4CAC-8DFC-3B3D2BFE94DA}"/>
              </a:ext>
            </a:extLst>
          </p:cNvPr>
          <p:cNvSpPr>
            <a:spLocks xmlns:a="http://schemas.openxmlformats.org/drawingml/2006/main" noGrp="1"/>
          </p:cNvSpPr>
          <p:nvPr/>
        </p:nvSpPr>
        <p:spPr>
          <a:xfrm xmlns:a="http://schemas.openxmlformats.org/drawingml/2006/main">
            <a:off x="400050" y="1733550"/>
            <a:ext cx="106680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457A6"/>
                </a:solidFill>
                <a:latin typeface="Helvetica Neue"/>
                <a:ea typeface="Helvetica Neue"/>
                <a:cs typeface="Helvetica Neue"/>
              </a:defRPr>
            </a:pPr>
            <a:r>
              <a:t>Evidence-closure milestone</a:t>
            </a:r>
          </a:p>
        </p:txBody>
      </p:sp>
      <p:sp>
        <p:nvSpPr>
          <p:cNvPr id="4" name="conclusion-statement">
            <a:extLst xmlns:a="http://schemas.openxmlformats.org/drawingml/2006/main">
              <a:ext uri="{FF2B5EF4-FFF2-40B4-BE49-F238E27FC236}">
                <a16:creationId xmlns:a16="http://schemas.microsoft.com/office/drawing/2014/main" id="{7D40D6F8-701B-4785-8FA1-BB9C45BE0B8D}"/>
              </a:ext>
            </a:extLst>
          </p:cNvPr>
          <p:cNvSpPr>
            <a:spLocks xmlns:a="http://schemas.openxmlformats.org/drawingml/2006/main" noGrp="1"/>
          </p:cNvSpPr>
          <p:nvPr/>
        </p:nvSpPr>
        <p:spPr>
          <a:xfrm xmlns:a="http://schemas.openxmlformats.org/drawingml/2006/main">
            <a:off x="400050" y="2266950"/>
            <a:ext cx="10763250" cy="933450"/>
          </a:xfrm>
          <a:prstGeom xmlns:a="http://schemas.openxmlformats.org/drawingml/2006/main" prst="rect">
            <a:avLst/>
          </a:prstGeom>
        </p:spPr>
        <p:txBody>
          <a:bodyPr xmlns:a="http://schemas.openxmlformats.org/drawingml/2006/main" wrap="square" lIns="0" tIns="0" rIns="0" bIns="0" anchor="t">
            <a:normAutofit fontScale="100000" lnSpcReduction="10000"/>
          </a:bodyPr>
          <a:lstStyle xmlns:a="http://schemas.openxmlformats.org/drawingml/2006/main"/>
          <a:p xmlns:a="http://schemas.openxmlformats.org/drawingml/2006/main">
            <a:pPr algn="l">
              <a:buNone/>
              <a:defRPr sz="2250" b="1">
                <a:solidFill>
                  <a:srgbClr val="111111"/>
                </a:solidFill>
                <a:latin typeface="Helvetica Neue"/>
                <a:ea typeface="Helvetica Neue"/>
                <a:cs typeface="Helvetica Neue"/>
              </a:defRPr>
            </a:pPr>
            <a:r>
              <a:t>CT07 lineage, Legacy T01, Adaptive/Top-3 T01–T09 and the bounded DTA case now have explicit numerical evidence and defensible claim limits.</a:t>
            </a:r>
          </a:p>
        </p:txBody>
      </p:sp>
      <p:sp>
        <p:nvSpPr>
          <p:cNvPr id="5" name="next-1">
            <a:extLst xmlns:a="http://schemas.openxmlformats.org/drawingml/2006/main">
              <a:ext uri="{FF2B5EF4-FFF2-40B4-BE49-F238E27FC236}">
                <a16:creationId xmlns:a16="http://schemas.microsoft.com/office/drawing/2014/main" id="{A8A40F02-015B-4E13-8114-C6E5B1E9EDF7}"/>
              </a:ext>
            </a:extLst>
          </p:cNvPr>
          <p:cNvSpPr>
            <a:spLocks xmlns:a="http://schemas.openxmlformats.org/drawingml/2006/main" noGrp="1"/>
          </p:cNvSpPr>
          <p:nvPr/>
        </p:nvSpPr>
        <p:spPr>
          <a:xfrm xmlns:a="http://schemas.openxmlformats.org/drawingml/2006/main">
            <a:off x="400050" y="3714750"/>
            <a:ext cx="3486150" cy="1809750"/>
          </a:xfrm>
          <a:prstGeom xmlns:a="http://schemas.openxmlformats.org/drawingml/2006/main" prst="rect">
            <a:avLst/>
          </a:prstGeom>
          <a:solidFill xmlns:a="http://schemas.openxmlformats.org/drawingml/2006/main">
            <a:srgbClr val="EAF1FA"/>
          </a:solidFill>
          <a:ln xmlns:a="http://schemas.openxmlformats.org/drawingml/2006/main" w="0">
            <a:solidFill>
              <a:srgbClr val="EAF1FA"/>
            </a:solidFill>
            <a:prstDash val="solid"/>
          </a:ln>
        </p:spPr>
        <p:txBody>
          <a:bodyPr xmlns:a="http://schemas.openxmlformats.org/drawingml/2006/main"/>
          <a:lstStyle xmlns:a="http://schemas.openxmlformats.org/drawingml/2006/main"/>
          <a:p xmlns:a="http://schemas.openxmlformats.org/drawingml/2006/main"/>
        </p:txBody>
      </p:sp>
      <p:sp>
        <p:nvSpPr>
          <p:cNvPr id="6" name="next-1-num">
            <a:extLst xmlns:a="http://schemas.openxmlformats.org/drawingml/2006/main">
              <a:ext uri="{FF2B5EF4-FFF2-40B4-BE49-F238E27FC236}">
                <a16:creationId xmlns:a16="http://schemas.microsoft.com/office/drawing/2014/main" id="{12F9258B-10B5-45D7-8379-EC5FA7ADF19E}"/>
              </a:ext>
            </a:extLst>
          </p:cNvPr>
          <p:cNvSpPr>
            <a:spLocks xmlns:a="http://schemas.openxmlformats.org/drawingml/2006/main" noGrp="1"/>
          </p:cNvSpPr>
          <p:nvPr/>
        </p:nvSpPr>
        <p:spPr>
          <a:xfrm xmlns:a="http://schemas.openxmlformats.org/drawingml/2006/main">
            <a:off x="647700" y="3943350"/>
            <a:ext cx="514350" cy="342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00" b="1">
                <a:solidFill>
                  <a:srgbClr val="2457A6"/>
                </a:solidFill>
                <a:latin typeface="Helvetica Neue"/>
                <a:ea typeface="Helvetica Neue"/>
                <a:cs typeface="Helvetica Neue"/>
              </a:defRPr>
            </a:pPr>
            <a:r>
              <a:t>01</a:t>
            </a:r>
          </a:p>
        </p:txBody>
      </p:sp>
      <p:sp>
        <p:nvSpPr>
          <p:cNvPr id="7" name="next-1-title">
            <a:extLst xmlns:a="http://schemas.openxmlformats.org/drawingml/2006/main">
              <a:ext uri="{FF2B5EF4-FFF2-40B4-BE49-F238E27FC236}">
                <a16:creationId xmlns:a16="http://schemas.microsoft.com/office/drawing/2014/main" id="{96AB5832-C1BB-4F62-A04F-DAD8B77E91DC}"/>
              </a:ext>
            </a:extLst>
          </p:cNvPr>
          <p:cNvSpPr>
            <a:spLocks xmlns:a="http://schemas.openxmlformats.org/drawingml/2006/main" noGrp="1"/>
          </p:cNvSpPr>
          <p:nvPr/>
        </p:nvSpPr>
        <p:spPr>
          <a:xfrm xmlns:a="http://schemas.openxmlformats.org/drawingml/2006/main">
            <a:off x="647700" y="4438650"/>
            <a:ext cx="2857500" cy="342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111111"/>
                </a:solidFill>
                <a:latin typeface="Helvetica Neue"/>
                <a:ea typeface="Helvetica Neue"/>
                <a:cs typeface="Helvetica Neue"/>
              </a:defRPr>
            </a:pPr>
            <a:r>
              <a:t>Documentation closed</a:t>
            </a:r>
          </a:p>
        </p:txBody>
      </p:sp>
      <p:sp>
        <p:nvSpPr>
          <p:cNvPr id="8" name="next-1-body">
            <a:extLst xmlns:a="http://schemas.openxmlformats.org/drawingml/2006/main">
              <a:ext uri="{FF2B5EF4-FFF2-40B4-BE49-F238E27FC236}">
                <a16:creationId xmlns:a16="http://schemas.microsoft.com/office/drawing/2014/main" id="{467B2100-92B1-4D1B-B473-A79CC2A005F8}"/>
              </a:ext>
            </a:extLst>
          </p:cNvPr>
          <p:cNvSpPr>
            <a:spLocks xmlns:a="http://schemas.openxmlformats.org/drawingml/2006/main" noGrp="1"/>
          </p:cNvSpPr>
          <p:nvPr/>
        </p:nvSpPr>
        <p:spPr>
          <a:xfrm xmlns:a="http://schemas.openxmlformats.org/drawingml/2006/main">
            <a:off x="647700" y="4914900"/>
            <a:ext cx="2857500" cy="514350"/>
          </a:xfrm>
          <a:prstGeom xmlns:a="http://schemas.openxmlformats.org/drawingml/2006/main" prst="rect">
            <a:avLst/>
          </a:prstGeom>
        </p:spPr>
        <p:txBody>
          <a:bodyPr xmlns:a="http://schemas.openxmlformats.org/drawingml/2006/main" wrap="square" lIns="0" tIns="0" rIns="0" bIns="0" anchor="t">
            <a:normAutofit fontScale="100000" lnSpcReduction="20000"/>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Canonical references and stale wording are complete.</a:t>
            </a:r>
          </a:p>
        </p:txBody>
      </p:sp>
      <p:sp>
        <p:nvSpPr>
          <p:cNvPr id="9" name="next-2">
            <a:extLst xmlns:a="http://schemas.openxmlformats.org/drawingml/2006/main">
              <a:ext uri="{FF2B5EF4-FFF2-40B4-BE49-F238E27FC236}">
                <a16:creationId xmlns:a16="http://schemas.microsoft.com/office/drawing/2014/main" id="{4A8F41C2-1D1F-4173-87E0-424E952BD3CB}"/>
              </a:ext>
            </a:extLst>
          </p:cNvPr>
          <p:cNvSpPr>
            <a:spLocks xmlns:a="http://schemas.openxmlformats.org/drawingml/2006/main" noGrp="1"/>
          </p:cNvSpPr>
          <p:nvPr/>
        </p:nvSpPr>
        <p:spPr>
          <a:xfrm xmlns:a="http://schemas.openxmlformats.org/drawingml/2006/main">
            <a:off x="4133850" y="3714750"/>
            <a:ext cx="3486150" cy="1809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10" name="next-2-num">
            <a:extLst xmlns:a="http://schemas.openxmlformats.org/drawingml/2006/main">
              <a:ext uri="{FF2B5EF4-FFF2-40B4-BE49-F238E27FC236}">
                <a16:creationId xmlns:a16="http://schemas.microsoft.com/office/drawing/2014/main" id="{82754B2D-8F6C-42DD-B8CD-42D1BC6AC25A}"/>
              </a:ext>
            </a:extLst>
          </p:cNvPr>
          <p:cNvSpPr>
            <a:spLocks xmlns:a="http://schemas.openxmlformats.org/drawingml/2006/main" noGrp="1"/>
          </p:cNvSpPr>
          <p:nvPr/>
        </p:nvSpPr>
        <p:spPr>
          <a:xfrm xmlns:a="http://schemas.openxmlformats.org/drawingml/2006/main">
            <a:off x="4381500" y="3943350"/>
            <a:ext cx="514350" cy="342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00" b="1">
                <a:solidFill>
                  <a:srgbClr val="2457A6"/>
                </a:solidFill>
                <a:latin typeface="Helvetica Neue"/>
                <a:ea typeface="Helvetica Neue"/>
                <a:cs typeface="Helvetica Neue"/>
              </a:defRPr>
            </a:pPr>
            <a:r>
              <a:t>02</a:t>
            </a:r>
          </a:p>
        </p:txBody>
      </p:sp>
      <p:sp>
        <p:nvSpPr>
          <p:cNvPr id="11" name="next-2-title">
            <a:extLst xmlns:a="http://schemas.openxmlformats.org/drawingml/2006/main">
              <a:ext uri="{FF2B5EF4-FFF2-40B4-BE49-F238E27FC236}">
                <a16:creationId xmlns:a16="http://schemas.microsoft.com/office/drawing/2014/main" id="{DEE5214D-5AA6-43EE-AF98-7060E7981798}"/>
              </a:ext>
            </a:extLst>
          </p:cNvPr>
          <p:cNvSpPr>
            <a:spLocks xmlns:a="http://schemas.openxmlformats.org/drawingml/2006/main" noGrp="1"/>
          </p:cNvSpPr>
          <p:nvPr/>
        </p:nvSpPr>
        <p:spPr>
          <a:xfrm xmlns:a="http://schemas.openxmlformats.org/drawingml/2006/main">
            <a:off x="4381500" y="4438650"/>
            <a:ext cx="2857500" cy="342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111111"/>
                </a:solidFill>
                <a:latin typeface="Helvetica Neue"/>
                <a:ea typeface="Helvetica Neue"/>
                <a:cs typeface="Helvetica Neue"/>
              </a:defRPr>
            </a:pPr>
            <a:r>
              <a:t>Clean rehearsal passed</a:t>
            </a:r>
          </a:p>
        </p:txBody>
      </p:sp>
      <p:sp>
        <p:nvSpPr>
          <p:cNvPr id="12" name="next-2-body">
            <a:extLst xmlns:a="http://schemas.openxmlformats.org/drawingml/2006/main">
              <a:ext uri="{FF2B5EF4-FFF2-40B4-BE49-F238E27FC236}">
                <a16:creationId xmlns:a16="http://schemas.microsoft.com/office/drawing/2014/main" id="{CAC630A7-B310-4593-B3ED-B969957C0969}"/>
              </a:ext>
            </a:extLst>
          </p:cNvPr>
          <p:cNvSpPr>
            <a:spLocks xmlns:a="http://schemas.openxmlformats.org/drawingml/2006/main" noGrp="1"/>
          </p:cNvSpPr>
          <p:nvPr/>
        </p:nvSpPr>
        <p:spPr>
          <a:xfrm xmlns:a="http://schemas.openxmlformats.org/drawingml/2006/main">
            <a:off x="4381500" y="4914900"/>
            <a:ext cx="2857500" cy="514350"/>
          </a:xfrm>
          <a:prstGeom xmlns:a="http://schemas.openxmlformats.org/drawingml/2006/main" prst="rect">
            <a:avLst/>
          </a:prstGeom>
        </p:spPr>
        <p:txBody>
          <a:bodyPr xmlns:a="http://schemas.openxmlformats.org/drawingml/2006/main" wrap="square" lIns="0" tIns="0" rIns="0" bIns="0" anchor="t">
            <a:normAutofit fontScale="100000" lnSpcReduction="20000"/>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Formal verify passes with frozen evidence hashes.</a:t>
            </a:r>
          </a:p>
        </p:txBody>
      </p:sp>
      <p:sp>
        <p:nvSpPr>
          <p:cNvPr id="13" name="next-3">
            <a:extLst xmlns:a="http://schemas.openxmlformats.org/drawingml/2006/main">
              <a:ext uri="{FF2B5EF4-FFF2-40B4-BE49-F238E27FC236}">
                <a16:creationId xmlns:a16="http://schemas.microsoft.com/office/drawing/2014/main" id="{733B4445-E96E-4577-9CA9-7987E534725D}"/>
              </a:ext>
            </a:extLst>
          </p:cNvPr>
          <p:cNvSpPr>
            <a:spLocks xmlns:a="http://schemas.openxmlformats.org/drawingml/2006/main" noGrp="1"/>
          </p:cNvSpPr>
          <p:nvPr/>
        </p:nvSpPr>
        <p:spPr>
          <a:xfrm xmlns:a="http://schemas.openxmlformats.org/drawingml/2006/main">
            <a:off x="7867650" y="3714750"/>
            <a:ext cx="3924300" cy="1809750"/>
          </a:xfrm>
          <a:prstGeom xmlns:a="http://schemas.openxmlformats.org/drawingml/2006/main" prst="rect">
            <a:avLst/>
          </a:prstGeom>
          <a:solidFill xmlns:a="http://schemas.openxmlformats.org/drawingml/2006/main">
            <a:srgbClr val="F8EEE8"/>
          </a:solidFill>
          <a:ln xmlns:a="http://schemas.openxmlformats.org/drawingml/2006/main" w="0">
            <a:solidFill>
              <a:srgbClr val="F8EEE8"/>
            </a:solidFill>
            <a:prstDash val="solid"/>
          </a:ln>
        </p:spPr>
        <p:txBody>
          <a:bodyPr xmlns:a="http://schemas.openxmlformats.org/drawingml/2006/main"/>
          <a:lstStyle xmlns:a="http://schemas.openxmlformats.org/drawingml/2006/main"/>
          <a:p xmlns:a="http://schemas.openxmlformats.org/drawingml/2006/main"/>
        </p:txBody>
      </p:sp>
      <p:sp>
        <p:nvSpPr>
          <p:cNvPr id="14" name="next-3-num">
            <a:extLst xmlns:a="http://schemas.openxmlformats.org/drawingml/2006/main">
              <a:ext uri="{FF2B5EF4-FFF2-40B4-BE49-F238E27FC236}">
                <a16:creationId xmlns:a16="http://schemas.microsoft.com/office/drawing/2014/main" id="{BCC3AB91-DF07-4006-92F9-3E9F0BFEBDB9}"/>
              </a:ext>
            </a:extLst>
          </p:cNvPr>
          <p:cNvSpPr>
            <a:spLocks xmlns:a="http://schemas.openxmlformats.org/drawingml/2006/main" noGrp="1"/>
          </p:cNvSpPr>
          <p:nvPr/>
        </p:nvSpPr>
        <p:spPr>
          <a:xfrm xmlns:a="http://schemas.openxmlformats.org/drawingml/2006/main">
            <a:off x="8115300" y="3943350"/>
            <a:ext cx="514350" cy="342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00" b="1">
                <a:solidFill>
                  <a:srgbClr val="B85C1E"/>
                </a:solidFill>
                <a:latin typeface="Helvetica Neue"/>
                <a:ea typeface="Helvetica Neue"/>
                <a:cs typeface="Helvetica Neue"/>
              </a:defRPr>
            </a:pPr>
            <a:r>
              <a:t>03</a:t>
            </a:r>
          </a:p>
        </p:txBody>
      </p:sp>
      <p:sp>
        <p:nvSpPr>
          <p:cNvPr id="15" name="next-3-title">
            <a:extLst xmlns:a="http://schemas.openxmlformats.org/drawingml/2006/main">
              <a:ext uri="{FF2B5EF4-FFF2-40B4-BE49-F238E27FC236}">
                <a16:creationId xmlns:a16="http://schemas.microsoft.com/office/drawing/2014/main" id="{8B99EDD8-8838-473B-9458-B17DFDDEB738}"/>
              </a:ext>
            </a:extLst>
          </p:cNvPr>
          <p:cNvSpPr>
            <a:spLocks xmlns:a="http://schemas.openxmlformats.org/drawingml/2006/main" noGrp="1"/>
          </p:cNvSpPr>
          <p:nvPr/>
        </p:nvSpPr>
        <p:spPr>
          <a:xfrm xmlns:a="http://schemas.openxmlformats.org/drawingml/2006/main">
            <a:off x="8115300" y="4438650"/>
            <a:ext cx="3143250" cy="342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111111"/>
                </a:solidFill>
                <a:latin typeface="Helvetica Neue"/>
                <a:ea typeface="Helvetica Neue"/>
                <a:cs typeface="Helvetica Neue"/>
              </a:defRPr>
            </a:pPr>
            <a:r>
              <a:t>Next: thesis integration</a:t>
            </a:r>
          </a:p>
        </p:txBody>
      </p:sp>
      <p:sp>
        <p:nvSpPr>
          <p:cNvPr id="16" name="next-3-body">
            <a:extLst xmlns:a="http://schemas.openxmlformats.org/drawingml/2006/main">
              <a:ext uri="{FF2B5EF4-FFF2-40B4-BE49-F238E27FC236}">
                <a16:creationId xmlns:a16="http://schemas.microsoft.com/office/drawing/2014/main" id="{98826656-3310-48C6-A47A-44DCAECD96CD}"/>
              </a:ext>
            </a:extLst>
          </p:cNvPr>
          <p:cNvSpPr>
            <a:spLocks xmlns:a="http://schemas.openxmlformats.org/drawingml/2006/main" noGrp="1"/>
          </p:cNvSpPr>
          <p:nvPr/>
        </p:nvSpPr>
        <p:spPr>
          <a:xfrm xmlns:a="http://schemas.openxmlformats.org/drawingml/2006/main">
            <a:off x="8115300" y="4914900"/>
            <a:ext cx="3219450" cy="514350"/>
          </a:xfrm>
          <a:prstGeom xmlns:a="http://schemas.openxmlformats.org/drawingml/2006/main" prst="rect">
            <a:avLst/>
          </a:prstGeom>
        </p:spPr>
        <p:txBody>
          <a:bodyPr xmlns:a="http://schemas.openxmlformats.org/drawingml/2006/main" wrap="square" lIns="0" tIns="0" rIns="0" bIns="0" anchor="t">
            <a:normAutofit fontScale="100000" lnSpcReduction="20000"/>
          </a:bodyPr>
          <a:lstStyle xmlns:a="http://schemas.openxmlformats.org/drawingml/2006/main"/>
          <a:p xmlns:a="http://schemas.openxmlformats.org/drawingml/2006/main">
            <a:pPr algn="l">
              <a:buNone/>
              <a:defRPr sz="1500" b="0">
                <a:solidFill>
                  <a:srgbClr val="111111"/>
                </a:solidFill>
                <a:latin typeface="Helvetica Neue"/>
                <a:ea typeface="Helvetica Neue"/>
                <a:cs typeface="Helvetica Neue"/>
              </a:defRPr>
            </a:pPr>
            <a:r>
              <a:t>Write methods, results and limitations; WFS/R260 stay optional.</a:t>
            </a:r>
          </a:p>
        </p:txBody>
      </p:sp>
      <p:sp>
        <p:nvSpPr>
          <p:cNvPr id="17" name="close-line">
            <a:extLst xmlns:a="http://schemas.openxmlformats.org/drawingml/2006/main">
              <a:ext uri="{FF2B5EF4-FFF2-40B4-BE49-F238E27FC236}">
                <a16:creationId xmlns:a16="http://schemas.microsoft.com/office/drawing/2014/main" id="{EC4DF8B3-7050-455C-A4B9-9B58D9B3332A}"/>
              </a:ext>
            </a:extLst>
          </p:cNvPr>
          <p:cNvSpPr>
            <a:spLocks xmlns:a="http://schemas.openxmlformats.org/drawingml/2006/main" noGrp="1"/>
          </p:cNvSpPr>
          <p:nvPr/>
        </p:nvSpPr>
        <p:spPr>
          <a:xfrm xmlns:a="http://schemas.openxmlformats.org/drawingml/2006/main">
            <a:off x="400050" y="5905500"/>
            <a:ext cx="106680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B85C1E"/>
                </a:solidFill>
                <a:latin typeface="Helvetica Neue"/>
                <a:ea typeface="Helvetica Neue"/>
                <a:cs typeface="Helvetica Neue"/>
              </a:defRPr>
            </a:pPr>
            <a:r>
              <a:t>The remaining work is writing—not new algorithm development.</a:t>
            </a:r>
          </a:p>
        </p:txBody>
      </p:sp>
      <p:sp>
        <p:nvSpPr>
          <p:cNvPr id="18" name="source-15">
            <a:extLst xmlns:a="http://schemas.openxmlformats.org/drawingml/2006/main">
              <a:ext uri="{FF2B5EF4-FFF2-40B4-BE49-F238E27FC236}">
                <a16:creationId xmlns:a16="http://schemas.microsoft.com/office/drawing/2014/main" id="{4852FD9E-0A87-429A-A643-DB709A04EE97}"/>
              </a:ext>
            </a:extLst>
          </p:cNvPr>
          <p:cNvSpPr>
            <a:spLocks xmlns:a="http://schemas.openxmlformats.org/drawingml/2006/main" noGrp="1"/>
          </p:cNvSpPr>
          <p:nvPr/>
        </p:nvSpPr>
        <p:spPr>
          <a:xfrm xmlns:a="http://schemas.openxmlformats.org/drawingml/2006/main">
            <a:off x="400050" y="6419850"/>
            <a:ext cx="1028700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a:solidFill>
                  <a:srgbClr val="5B6470"/>
                </a:solidFill>
                <a:latin typeface="Helvetica Neue"/>
                <a:ea typeface="Helvetica Neue"/>
                <a:cs typeface="Helvetica Neue"/>
              </a:defRPr>
            </a:pPr>
            <a:r>
              <a:t>Evidence-closure milestone · 29 July 2026</a:t>
            </a:r>
          </a:p>
        </p:txBody>
      </p:sp>
      <p:sp>
        <p:nvSpPr>
          <p:cNvPr id="19" name="slide-number-15">
            <a:extLst xmlns:a="http://schemas.openxmlformats.org/drawingml/2006/main">
              <a:ext uri="{FF2B5EF4-FFF2-40B4-BE49-F238E27FC236}">
                <a16:creationId xmlns:a16="http://schemas.microsoft.com/office/drawing/2014/main" id="{7CB257E1-0E7E-4C9F-9E52-0D9596ACDF2B}"/>
              </a:ext>
            </a:extLst>
          </p:cNvPr>
          <p:cNvSpPr>
            <a:spLocks xmlns:a="http://schemas.openxmlformats.org/drawingml/2006/main" noGrp="1"/>
          </p:cNvSpPr>
          <p:nvPr/>
        </p:nvSpPr>
        <p:spPr>
          <a:xfrm xmlns:a="http://schemas.openxmlformats.org/drawingml/2006/main">
            <a:off x="11239500" y="6381750"/>
            <a:ext cx="5524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B6470"/>
                </a:solidFill>
                <a:latin typeface="Helvetica Neue"/>
                <a:ea typeface="Helvetica Neue"/>
                <a:cs typeface="Helvetica Neue"/>
              </a:defRPr>
            </a:pPr>
            <a:r>
              <a:t>15</a:t>
            </a:r>
          </a:p>
        </p:txBody>
      </p:sp>
    </p:spTree>
    <p:extLst>
      <p:ext uri="{BB962C8B-B14F-4D97-AF65-F5344CB8AC3E}">
        <p14:creationId xmlns:p14="http://schemas.microsoft.com/office/powerpoint/2010/main" val="5065532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2026-07-29T07:24:08.1780000Z</dcterms:created>
  <dcterms:modified xsi:type="dcterms:W3CDTF">2026-07-29T07:24:08.1780000Z</dcterms:modified>
</coreProperties>
</file>